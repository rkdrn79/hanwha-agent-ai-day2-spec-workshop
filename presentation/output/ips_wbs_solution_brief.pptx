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결론부터 보여줍니다. 초기 재고 100에서 12개를 출고하면 88, 완료 건을 전체 취소하면 다시 100입니다. 이 숫자는 홍보 문구가 아니라 SPEC과 인수 테스트가 고정한 데모 흐름입니다. 다음 장에서는 이 MVP가 무엇을 보호하려는지 설명합니다.
근거: SPEC §7 · AC-08 · AC-11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문제는 화면이 느린 것이 아니라 실패 중 일부만 반영되는 것입니다. 입력·중복·재고·상태를 모두 확인한 뒤 저장소를 마지막에 한 번 호출하면 재고와 이력을 같이 보호할 수 있습니다. 다음 장에서 정상 흐름과 상태 전이를 한 번에 보겠습니다.
근거: SPEC §4–5 · ADR-001 · AC-09/10/12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출고 레코드는 검증을 통과한 뒤에만 생깁니다. 성공한 출고는 COMPLETED, 전체 취소 후에는 CANCELED이며 중간 상태나 부분 취소는 없습니다. 실패는 상태가 아니라 생성 없음입니다. 다음 장에서는 이 원칙을 네 개의 실패 조건으로 확인합니다.
근거: SPEC §3–5 · AC-08/11/12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정상 경로보다 실패 후 불변조건이 더 중요합니다. 0이나 음수, 재고 부족, 중복 번호, 재취소는 모두 저장소 변경 전에 막습니다. 특히 실패한 request_id는 사용 처리하지 않기 때문에 정정 후 재사용할 수 있습니다. 다음 장은 WBS 유형이 결정하는 코드 쌍입니다.
근거: SPEC §4–5 · tests/test_engine.py · tests/test_service.py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이동유형은 임의 코드가 아니라 업무 유형별 출고·취소 쌍입니다. R2-00은 가수주, R2-01은 하자보수, 나머지는 일반 프로젝트로 판정합니다. 취소할 때 다른 유형의 코드를 섞으면 업무 규칙 위반입니다. 다음 장에서 이 규칙을 구현한 경계를 보겠습니다.
근거: SPEC §2·§8 · AC-04/13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Frontend와 Backend는 서로의 구현을 기다리지 않고 API 계약을 공유해 진행했습니다. app.py와 store.py는 제공 파일로 읽기 전용, service.py와 engine.py는 담당 Agent가 나눠 가집니다. tests는 판정 기준이므로 수정하지 않습니다. 다음 장에서 이 구조가 통과한 검증 결과를 보겠습니다.
근거: ARCHITECTURE §1·§4–5 · RFC-001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자동 테스트 23개 전체 통과와 브라우저 스모크가 완료 기준입니다. 브라우저에서는 핵심 흐름, 480픽셀 레이아웃, 콘솔 오류 0건, 초기화 복원을 확인했습니다. 23/23은 절감률 같은 제품 효과가 아니라 검증 결과입니다. 마지막 장에서 다음 변경의 기준선을 정리합니다.
근거: SPEC §7 · CHANGELOG LOOP-04 · tests/test_*.py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발표자료는 제품 계약을 대신하지 않습니다. 범위나 가정이 바뀌면 사람 승인으로 SPEC을 개정하고 관련 tests를 조정한 뒤, 마지막에 PPT를 다시 생성합니다. 실제 SAP, 로그인과 권한, 부분 취소, 운영 DB는 현재 범위 밖입니다.
근거: SPEC §1·§9 · RFC-001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7321"/>
        </a:solidFill>
      </p:bgPr>
    </p:bg>
    <p:spTree>
      <p:nvGrpSpPr>
        <p:cNvPr id="1" name=""/>
        <p:cNvGrpSpPr/>
        <p:nvPr/>
      </p:nvGrpSpPr>
      <p:grpSpPr>
        <a:xfrm>
          <a:off x="0" y="0"/>
          <a:ext cx="0" cy="0"/>
          <a:chOff x="0" y="0"/>
          <a:chExt cx="0" cy="0"/>
        </a:xfrm>
      </p:grpSpPr>
      <p:sp>
        <p:nvSpPr>
          <p:cNvPr id="2" name="Shape 0"/>
          <p:cNvSpPr/>
          <p:nvPr/>
        </p:nvSpPr>
        <p:spPr>
          <a:xfrm>
            <a:off x="7589520" y="0"/>
            <a:ext cx="1554480" cy="5143500"/>
          </a:xfrm>
          <a:prstGeom prst="rect">
            <a:avLst/>
          </a:prstGeom>
          <a:solidFill>
            <a:srgbClr val="F7C38E"/>
          </a:solidFill>
          <a:ln w="7620">
            <a:solidFill>
              <a:srgbClr val="F7C38E"/>
            </a:solidFill>
            <a:prstDash val="solid"/>
          </a:ln>
        </p:spPr>
      </p:sp>
      <p:sp>
        <p:nvSpPr>
          <p:cNvPr id="3" name="Shape 1"/>
          <p:cNvSpPr/>
          <p:nvPr/>
        </p:nvSpPr>
        <p:spPr>
          <a:xfrm rot="5400000">
            <a:off x="5897880" y="3429000"/>
            <a:ext cx="2514600" cy="1554480"/>
          </a:xfrm>
          <a:prstGeom prst="chevron">
            <a:avLst/>
          </a:prstGeom>
          <a:solidFill>
            <a:srgbClr val="F7C38E"/>
          </a:solidFill>
          <a:ln w="12700">
            <a:solidFill>
              <a:srgbClr val="F7C38E"/>
            </a:solidFill>
            <a:prstDash val="solid"/>
          </a:ln>
        </p:spPr>
      </p:sp>
      <p:sp>
        <p:nvSpPr>
          <p:cNvPr id="4" name="Shape 2"/>
          <p:cNvSpPr/>
          <p:nvPr/>
        </p:nvSpPr>
        <p:spPr>
          <a:xfrm rot="5400000">
            <a:off x="7086600" y="201168"/>
            <a:ext cx="1417320" cy="1234440"/>
          </a:xfrm>
          <a:prstGeom prst="chevron">
            <a:avLst/>
          </a:prstGeom>
          <a:solidFill>
            <a:srgbClr val="F37321"/>
          </a:solidFill>
          <a:ln w="12700">
            <a:solidFill>
              <a:srgbClr val="F37321"/>
            </a:solidFill>
            <a:prstDash val="solid"/>
          </a:ln>
        </p:spPr>
      </p:sp>
      <p:sp>
        <p:nvSpPr>
          <p:cNvPr id="5" name="Shape 3"/>
          <p:cNvSpPr/>
          <p:nvPr/>
        </p:nvSpPr>
        <p:spPr>
          <a:xfrm>
            <a:off x="457200" y="201168"/>
            <a:ext cx="1572768" cy="438912"/>
          </a:xfrm>
          <a:prstGeom prst="roundRect">
            <a:avLst>
              <a:gd name="adj" fmla="val 37500"/>
            </a:avLst>
          </a:prstGeom>
          <a:solidFill>
            <a:srgbClr val="F7C38E"/>
          </a:solidFill>
          <a:ln w="7620">
            <a:solidFill>
              <a:srgbClr val="F7C38E"/>
            </a:solidFill>
            <a:prstDash val="solid"/>
          </a:ln>
        </p:spPr>
      </p:sp>
      <p:sp>
        <p:nvSpPr>
          <p:cNvPr id="6" name="Text 4"/>
          <p:cNvSpPr/>
          <p:nvPr/>
        </p:nvSpPr>
        <p:spPr>
          <a:xfrm>
            <a:off x="512064" y="201168"/>
            <a:ext cx="1463040" cy="438912"/>
          </a:xfrm>
          <a:prstGeom prst="rect">
            <a:avLst/>
          </a:prstGeom>
          <a:noFill/>
          <a:ln/>
        </p:spPr>
        <p:txBody>
          <a:bodyPr wrap="square" lIns="0" tIns="0" rIns="0" bIns="0" rtlCol="0" anchor="ctr">
            <a:normAutofit/>
          </a:bodyPr>
          <a:lstStyle/>
          <a:p>
            <a:pPr algn="ctr" indent="0" marL="0">
              <a:buNone/>
            </a:pPr>
            <a:r>
              <a:rPr lang="en-US" sz="1300" b="1" dirty="0">
                <a:solidFill>
                  <a:srgbClr val="6E3B14"/>
                </a:solidFill>
                <a:latin typeface="Arial Unicode MS" pitchFamily="34" charset="0"/>
                <a:ea typeface="Arial Unicode MS" pitchFamily="34" charset="-122"/>
                <a:cs typeface="Arial Unicode MS" pitchFamily="34" charset="-120"/>
              </a:rPr>
              <a:t>AUG. 2026</a:t>
            </a:r>
            <a:endParaRPr lang="en-US" sz="1300" dirty="0"/>
          </a:p>
        </p:txBody>
      </p:sp>
      <p:sp>
        <p:nvSpPr>
          <p:cNvPr id="7" name="Text 5"/>
          <p:cNvSpPr/>
          <p:nvPr/>
        </p:nvSpPr>
        <p:spPr>
          <a:xfrm>
            <a:off x="2267712" y="237744"/>
            <a:ext cx="1051560" cy="329184"/>
          </a:xfrm>
          <a:prstGeom prst="rect">
            <a:avLst/>
          </a:prstGeom>
          <a:noFill/>
          <a:ln/>
        </p:spPr>
        <p:txBody>
          <a:bodyPr wrap="square" lIns="0" tIns="0" rIns="0" bIns="0" rtlCol="0" anchor="ctr">
            <a:normAutofit/>
          </a:bodyPr>
          <a:lstStyle/>
          <a:p>
            <a:pPr algn="l" indent="0" marL="0">
              <a:buNone/>
            </a:pPr>
            <a:r>
              <a:rPr lang="en-US" sz="1250" b="1" dirty="0">
                <a:solidFill>
                  <a:srgbClr val="FFFFFF"/>
                </a:solidFill>
                <a:latin typeface="Arial Unicode MS" pitchFamily="34" charset="0"/>
                <a:ea typeface="Arial Unicode MS" pitchFamily="34" charset="-122"/>
                <a:cs typeface="Arial Unicode MS" pitchFamily="34" charset="-120"/>
              </a:rPr>
              <a:t>AGENT AI</a:t>
            </a:r>
            <a:endParaRPr lang="en-US" sz="1250" dirty="0"/>
          </a:p>
        </p:txBody>
      </p:sp>
      <p:sp>
        <p:nvSpPr>
          <p:cNvPr id="8" name="Text 6"/>
          <p:cNvSpPr/>
          <p:nvPr/>
        </p:nvSpPr>
        <p:spPr>
          <a:xfrm>
            <a:off x="475488" y="1234440"/>
            <a:ext cx="1920240" cy="274320"/>
          </a:xfrm>
          <a:prstGeom prst="rect">
            <a:avLst/>
          </a:prstGeom>
          <a:noFill/>
          <a:ln/>
        </p:spPr>
        <p:txBody>
          <a:bodyPr wrap="square" lIns="0" tIns="0" rIns="0" bIns="0" rtlCol="0" anchor="ctr">
            <a:normAutofit/>
          </a:bodyPr>
          <a:lstStyle/>
          <a:p>
            <a:pPr algn="l" indent="0" marL="0">
              <a:buNone/>
            </a:pPr>
            <a:r>
              <a:rPr lang="en-US" sz="1200" b="1" dirty="0">
                <a:solidFill>
                  <a:srgbClr val="FFF2E6"/>
                </a:solidFill>
                <a:latin typeface="Arial Unicode MS" pitchFamily="34" charset="0"/>
                <a:ea typeface="Arial Unicode MS" pitchFamily="34" charset="-122"/>
                <a:cs typeface="Arial Unicode MS" pitchFamily="34" charset="-120"/>
              </a:rPr>
              <a:t>SOLUTION BRIEF</a:t>
            </a:r>
            <a:endParaRPr lang="en-US" sz="1200" dirty="0"/>
          </a:p>
        </p:txBody>
      </p:sp>
      <p:sp>
        <p:nvSpPr>
          <p:cNvPr id="9" name="Text 7"/>
          <p:cNvSpPr/>
          <p:nvPr/>
        </p:nvSpPr>
        <p:spPr>
          <a:xfrm>
            <a:off x="457200" y="1536192"/>
            <a:ext cx="6446520" cy="749808"/>
          </a:xfrm>
          <a:prstGeom prst="rect">
            <a:avLst/>
          </a:prstGeom>
          <a:noFill/>
          <a:ln/>
        </p:spPr>
        <p:txBody>
          <a:bodyPr wrap="square" lIns="0" tIns="0" rIns="0" bIns="0" rtlCol="0" anchor="ctr">
            <a:normAutofit/>
          </a:bodyPr>
          <a:lstStyle/>
          <a:p>
            <a:pPr algn="l" indent="0" marL="0">
              <a:buNone/>
            </a:pPr>
            <a:r>
              <a:rPr lang="en-US" sz="3100" b="1" dirty="0">
                <a:solidFill>
                  <a:srgbClr val="FFFFFF"/>
                </a:solidFill>
                <a:latin typeface="Arial Unicode MS" pitchFamily="34" charset="0"/>
                <a:ea typeface="Arial Unicode MS" pitchFamily="34" charset="-122"/>
                <a:cs typeface="Arial Unicode MS" pitchFamily="34" charset="-120"/>
              </a:rPr>
              <a:t>IPS WBS 출고·취소 MVP</a:t>
            </a:r>
            <a:endParaRPr lang="en-US" sz="3100" dirty="0"/>
          </a:p>
        </p:txBody>
      </p:sp>
      <p:sp>
        <p:nvSpPr>
          <p:cNvPr id="10" name="Text 8"/>
          <p:cNvSpPr/>
          <p:nvPr/>
        </p:nvSpPr>
        <p:spPr>
          <a:xfrm>
            <a:off x="475488" y="2322576"/>
            <a:ext cx="6217920" cy="384048"/>
          </a:xfrm>
          <a:prstGeom prst="rect">
            <a:avLst/>
          </a:prstGeom>
          <a:noFill/>
          <a:ln/>
        </p:spPr>
        <p:txBody>
          <a:bodyPr wrap="square" lIns="0" tIns="0" rIns="0" bIns="0" rtlCol="0" anchor="ctr">
            <a:normAutofit/>
          </a:bodyPr>
          <a:lstStyle/>
          <a:p>
            <a:pPr algn="l" indent="0" marL="0">
              <a:buNone/>
            </a:pPr>
            <a:r>
              <a:rPr lang="en-US" sz="1550" dirty="0">
                <a:solidFill>
                  <a:srgbClr val="FFFFFF"/>
                </a:solidFill>
                <a:latin typeface="Arial Unicode MS" pitchFamily="34" charset="0"/>
                <a:ea typeface="Arial Unicode MS" pitchFamily="34" charset="-122"/>
                <a:cs typeface="Arial Unicode MS" pitchFamily="34" charset="-120"/>
              </a:rPr>
              <a:t>완성된 solution을 근거 기반 발표자료로 바꾸기</a:t>
            </a:r>
            <a:endParaRPr lang="en-US" sz="1550" dirty="0"/>
          </a:p>
        </p:txBody>
      </p:sp>
      <p:sp>
        <p:nvSpPr>
          <p:cNvPr id="11" name="Text 9"/>
          <p:cNvSpPr/>
          <p:nvPr/>
        </p:nvSpPr>
        <p:spPr>
          <a:xfrm>
            <a:off x="502920" y="3127248"/>
            <a:ext cx="1234440" cy="603504"/>
          </a:xfrm>
          <a:prstGeom prst="rect">
            <a:avLst/>
          </a:prstGeom>
          <a:noFill/>
          <a:ln/>
        </p:spPr>
        <p:txBody>
          <a:bodyPr wrap="square" lIns="0" tIns="0" rIns="0" bIns="0" rtlCol="0" anchor="ctr">
            <a:normAutofit/>
          </a:bodyPr>
          <a:lstStyle/>
          <a:p>
            <a:pPr algn="ctr" indent="0" marL="0">
              <a:buNone/>
            </a:pPr>
            <a:r>
              <a:rPr lang="en-US" sz="3400" b="1" dirty="0">
                <a:solidFill>
                  <a:srgbClr val="FFFFFF"/>
                </a:solidFill>
                <a:latin typeface="Arial Unicode MS" pitchFamily="34" charset="0"/>
                <a:ea typeface="Arial Unicode MS" pitchFamily="34" charset="-122"/>
                <a:cs typeface="Arial Unicode MS" pitchFamily="34" charset="-120"/>
              </a:rPr>
              <a:t>100</a:t>
            </a:r>
            <a:endParaRPr lang="en-US" sz="3400" dirty="0"/>
          </a:p>
        </p:txBody>
      </p:sp>
      <p:sp>
        <p:nvSpPr>
          <p:cNvPr id="12" name="Text 10"/>
          <p:cNvSpPr/>
          <p:nvPr/>
        </p:nvSpPr>
        <p:spPr>
          <a:xfrm>
            <a:off x="502920" y="3712464"/>
            <a:ext cx="1234440" cy="274320"/>
          </a:xfrm>
          <a:prstGeom prst="rect">
            <a:avLst/>
          </a:prstGeom>
          <a:noFill/>
          <a:ln/>
        </p:spPr>
        <p:txBody>
          <a:bodyPr wrap="square" lIns="0" tIns="0" rIns="0" bIns="0" rtlCol="0" anchor="ctr">
            <a:normAutofit/>
          </a:bodyPr>
          <a:lstStyle/>
          <a:p>
            <a:pPr algn="ctr" indent="0" marL="0">
              <a:buNone/>
            </a:pPr>
            <a:r>
              <a:rPr lang="en-US" sz="1050" dirty="0">
                <a:solidFill>
                  <a:srgbClr val="FFF2E6"/>
                </a:solidFill>
                <a:latin typeface="Arial Unicode MS" pitchFamily="34" charset="0"/>
                <a:ea typeface="Arial Unicode MS" pitchFamily="34" charset="-122"/>
                <a:cs typeface="Arial Unicode MS" pitchFamily="34" charset="-120"/>
              </a:rPr>
              <a:t>초기 재고</a:t>
            </a:r>
            <a:endParaRPr lang="en-US" sz="1050" dirty="0"/>
          </a:p>
        </p:txBody>
      </p:sp>
      <p:sp>
        <p:nvSpPr>
          <p:cNvPr id="13" name="Shape 11"/>
          <p:cNvSpPr/>
          <p:nvPr/>
        </p:nvSpPr>
        <p:spPr>
          <a:xfrm>
            <a:off x="1828800" y="3438144"/>
            <a:ext cx="594360" cy="0"/>
          </a:xfrm>
          <a:prstGeom prst="line">
            <a:avLst/>
          </a:prstGeom>
          <a:noFill/>
          <a:ln w="38100">
            <a:solidFill>
              <a:srgbClr val="F7C38E"/>
            </a:solidFill>
            <a:prstDash val="solid"/>
            <a:tailEnd type="triangle"/>
          </a:ln>
        </p:spPr>
      </p:sp>
      <p:sp>
        <p:nvSpPr>
          <p:cNvPr id="14" name="Text 12"/>
          <p:cNvSpPr/>
          <p:nvPr/>
        </p:nvSpPr>
        <p:spPr>
          <a:xfrm>
            <a:off x="2468880" y="3127248"/>
            <a:ext cx="1234440" cy="603504"/>
          </a:xfrm>
          <a:prstGeom prst="rect">
            <a:avLst/>
          </a:prstGeom>
          <a:noFill/>
          <a:ln/>
        </p:spPr>
        <p:txBody>
          <a:bodyPr wrap="square" lIns="0" tIns="0" rIns="0" bIns="0" rtlCol="0" anchor="ctr">
            <a:normAutofit/>
          </a:bodyPr>
          <a:lstStyle/>
          <a:p>
            <a:pPr algn="ctr" indent="0" marL="0">
              <a:buNone/>
            </a:pPr>
            <a:r>
              <a:rPr lang="en-US" sz="3400" b="1" dirty="0">
                <a:solidFill>
                  <a:srgbClr val="FFFFFF"/>
                </a:solidFill>
                <a:latin typeface="Arial Unicode MS" pitchFamily="34" charset="0"/>
                <a:ea typeface="Arial Unicode MS" pitchFamily="34" charset="-122"/>
                <a:cs typeface="Arial Unicode MS" pitchFamily="34" charset="-120"/>
              </a:rPr>
              <a:t>88</a:t>
            </a:r>
            <a:endParaRPr lang="en-US" sz="3400" dirty="0"/>
          </a:p>
        </p:txBody>
      </p:sp>
      <p:sp>
        <p:nvSpPr>
          <p:cNvPr id="15" name="Text 13"/>
          <p:cNvSpPr/>
          <p:nvPr/>
        </p:nvSpPr>
        <p:spPr>
          <a:xfrm>
            <a:off x="2468880" y="3712464"/>
            <a:ext cx="1234440" cy="274320"/>
          </a:xfrm>
          <a:prstGeom prst="rect">
            <a:avLst/>
          </a:prstGeom>
          <a:noFill/>
          <a:ln/>
        </p:spPr>
        <p:txBody>
          <a:bodyPr wrap="square" lIns="0" tIns="0" rIns="0" bIns="0" rtlCol="0" anchor="ctr">
            <a:normAutofit/>
          </a:bodyPr>
          <a:lstStyle/>
          <a:p>
            <a:pPr algn="ctr" indent="0" marL="0">
              <a:buNone/>
            </a:pPr>
            <a:r>
              <a:rPr lang="en-US" sz="1050" dirty="0">
                <a:solidFill>
                  <a:srgbClr val="FFF2E6"/>
                </a:solidFill>
                <a:latin typeface="Arial Unicode MS" pitchFamily="34" charset="0"/>
                <a:ea typeface="Arial Unicode MS" pitchFamily="34" charset="-122"/>
                <a:cs typeface="Arial Unicode MS" pitchFamily="34" charset="-120"/>
              </a:rPr>
              <a:t>12 출고</a:t>
            </a:r>
            <a:endParaRPr lang="en-US" sz="1050" dirty="0"/>
          </a:p>
        </p:txBody>
      </p:sp>
      <p:sp>
        <p:nvSpPr>
          <p:cNvPr id="16" name="Shape 14"/>
          <p:cNvSpPr/>
          <p:nvPr/>
        </p:nvSpPr>
        <p:spPr>
          <a:xfrm>
            <a:off x="3794760" y="3438144"/>
            <a:ext cx="594360" cy="0"/>
          </a:xfrm>
          <a:prstGeom prst="line">
            <a:avLst/>
          </a:prstGeom>
          <a:noFill/>
          <a:ln w="38100">
            <a:solidFill>
              <a:srgbClr val="F7C38E"/>
            </a:solidFill>
            <a:prstDash val="solid"/>
            <a:tailEnd type="triangle"/>
          </a:ln>
        </p:spPr>
      </p:sp>
      <p:sp>
        <p:nvSpPr>
          <p:cNvPr id="17" name="Text 15"/>
          <p:cNvSpPr/>
          <p:nvPr/>
        </p:nvSpPr>
        <p:spPr>
          <a:xfrm>
            <a:off x="4434840" y="3127248"/>
            <a:ext cx="1234440" cy="603504"/>
          </a:xfrm>
          <a:prstGeom prst="rect">
            <a:avLst/>
          </a:prstGeom>
          <a:noFill/>
          <a:ln/>
        </p:spPr>
        <p:txBody>
          <a:bodyPr wrap="square" lIns="0" tIns="0" rIns="0" bIns="0" rtlCol="0" anchor="ctr">
            <a:normAutofit/>
          </a:bodyPr>
          <a:lstStyle/>
          <a:p>
            <a:pPr algn="ctr" indent="0" marL="0">
              <a:buNone/>
            </a:pPr>
            <a:r>
              <a:rPr lang="en-US" sz="3400" b="1" dirty="0">
                <a:solidFill>
                  <a:srgbClr val="FFFFFF"/>
                </a:solidFill>
                <a:latin typeface="Arial Unicode MS" pitchFamily="34" charset="0"/>
                <a:ea typeface="Arial Unicode MS" pitchFamily="34" charset="-122"/>
                <a:cs typeface="Arial Unicode MS" pitchFamily="34" charset="-120"/>
              </a:rPr>
              <a:t>100</a:t>
            </a:r>
            <a:endParaRPr lang="en-US" sz="3400" dirty="0"/>
          </a:p>
        </p:txBody>
      </p:sp>
      <p:sp>
        <p:nvSpPr>
          <p:cNvPr id="18" name="Text 16"/>
          <p:cNvSpPr/>
          <p:nvPr/>
        </p:nvSpPr>
        <p:spPr>
          <a:xfrm>
            <a:off x="4434840" y="3712464"/>
            <a:ext cx="1234440" cy="274320"/>
          </a:xfrm>
          <a:prstGeom prst="rect">
            <a:avLst/>
          </a:prstGeom>
          <a:noFill/>
          <a:ln/>
        </p:spPr>
        <p:txBody>
          <a:bodyPr wrap="square" lIns="0" tIns="0" rIns="0" bIns="0" rtlCol="0" anchor="ctr">
            <a:normAutofit/>
          </a:bodyPr>
          <a:lstStyle/>
          <a:p>
            <a:pPr algn="ctr" indent="0" marL="0">
              <a:buNone/>
            </a:pPr>
            <a:r>
              <a:rPr lang="en-US" sz="1050" dirty="0">
                <a:solidFill>
                  <a:srgbClr val="FFF2E6"/>
                </a:solidFill>
                <a:latin typeface="Arial Unicode MS" pitchFamily="34" charset="0"/>
                <a:ea typeface="Arial Unicode MS" pitchFamily="34" charset="-122"/>
                <a:cs typeface="Arial Unicode MS" pitchFamily="34" charset="-120"/>
              </a:rPr>
              <a:t>전체 취소</a:t>
            </a:r>
            <a:endParaRPr lang="en-US" sz="1050" dirty="0"/>
          </a:p>
        </p:txBody>
      </p:sp>
      <p:sp>
        <p:nvSpPr>
          <p:cNvPr id="19" name="Text 17"/>
          <p:cNvSpPr/>
          <p:nvPr/>
        </p:nvSpPr>
        <p:spPr>
          <a:xfrm>
            <a:off x="493776" y="4617720"/>
            <a:ext cx="3840480" cy="219456"/>
          </a:xfrm>
          <a:prstGeom prst="rect">
            <a:avLst/>
          </a:prstGeom>
          <a:noFill/>
          <a:ln/>
        </p:spPr>
        <p:txBody>
          <a:bodyPr wrap="square" lIns="0" tIns="0" rIns="0" bIns="0" rtlCol="0" anchor="ctr">
            <a:normAutofit/>
          </a:bodyPr>
          <a:lstStyle/>
          <a:p>
            <a:pPr algn="l" indent="0" marL="0">
              <a:buNone/>
            </a:pPr>
            <a:r>
              <a:rPr lang="en-US" sz="900" dirty="0">
                <a:solidFill>
                  <a:srgbClr val="FFF2E6"/>
                </a:solidFill>
                <a:latin typeface="Arial Unicode MS" pitchFamily="34" charset="0"/>
                <a:ea typeface="Arial Unicode MS" pitchFamily="34" charset="-122"/>
                <a:cs typeface="Arial Unicode MS" pitchFamily="34" charset="-120"/>
              </a:rPr>
              <a:t>SPEC §7 · AC-08 · AC-11</a:t>
            </a:r>
            <a:endParaRPr lang="en-US" sz="900" dirty="0"/>
          </a:p>
        </p:txBody>
      </p:sp>
      <p:sp>
        <p:nvSpPr>
          <p:cNvPr id="20" name="Text 18"/>
          <p:cNvSpPr/>
          <p:nvPr/>
        </p:nvSpPr>
        <p:spPr>
          <a:xfrm>
            <a:off x="6510528" y="4617720"/>
            <a:ext cx="1024128" cy="219456"/>
          </a:xfrm>
          <a:prstGeom prst="rect">
            <a:avLst/>
          </a:prstGeom>
          <a:noFill/>
          <a:ln/>
        </p:spPr>
        <p:txBody>
          <a:bodyPr wrap="square" lIns="0" tIns="0" rIns="0" bIns="0" rtlCol="0" anchor="ctr">
            <a:normAutofit/>
          </a:bodyPr>
          <a:lstStyle/>
          <a:p>
            <a:pPr algn="r" indent="0" marL="0">
              <a:buNone/>
            </a:pPr>
            <a:r>
              <a:rPr lang="en-US" sz="900" dirty="0">
                <a:solidFill>
                  <a:srgbClr val="FFFFFF"/>
                </a:solidFill>
                <a:latin typeface="Arial Unicode MS" pitchFamily="34" charset="0"/>
                <a:ea typeface="Arial Unicode MS" pitchFamily="34" charset="-122"/>
                <a:cs typeface="Arial Unicode MS" pitchFamily="34" charset="-120"/>
              </a:rPr>
              <a:t>Agent AI for Work</a:t>
            </a:r>
            <a:endParaRPr lang="en-US" sz="900" dirty="0"/>
          </a:p>
        </p:txBody>
      </p:sp>
      <p:sp>
        <p:nvSpPr>
          <p:cNvPr id="21" name="Text 19"/>
          <p:cNvSpPr/>
          <p:nvPr/>
        </p:nvSpPr>
        <p:spPr>
          <a:xfrm>
            <a:off x="8485632" y="4617720"/>
            <a:ext cx="219456" cy="219456"/>
          </a:xfrm>
          <a:prstGeom prst="rect">
            <a:avLst/>
          </a:prstGeom>
          <a:noFill/>
          <a:ln/>
        </p:spPr>
        <p:txBody>
          <a:bodyPr wrap="square" lIns="0" tIns="0" rIns="0" bIns="0" rtlCol="0" anchor="ctr">
            <a:normAutofit/>
          </a:bodyPr>
          <a:lstStyle/>
          <a:p>
            <a:pPr algn="r" indent="0" marL="0">
              <a:buNone/>
            </a:pPr>
            <a:r>
              <a:rPr lang="en-US" sz="900" b="1" dirty="0">
                <a:solidFill>
                  <a:srgbClr val="D95514"/>
                </a:solidFill>
                <a:latin typeface="Arial Unicode MS" pitchFamily="34" charset="0"/>
                <a:ea typeface="Arial Unicode MS" pitchFamily="34" charset="-122"/>
                <a:cs typeface="Arial Unicode M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F37321"/>
          </a:solidFill>
          <a:ln w="7620">
            <a:solidFill>
              <a:srgbClr val="F37321"/>
            </a:solidFill>
            <a:prstDash val="solid"/>
          </a:ln>
        </p:spPr>
      </p:sp>
      <p:sp>
        <p:nvSpPr>
          <p:cNvPr id="3" name="Text 1"/>
          <p:cNvSpPr/>
          <p:nvPr/>
        </p:nvSpPr>
        <p:spPr>
          <a:xfrm>
            <a:off x="438912" y="73152"/>
            <a:ext cx="1234440" cy="384048"/>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rial Unicode MS" pitchFamily="34" charset="0"/>
                <a:ea typeface="Arial Unicode MS" pitchFamily="34" charset="-122"/>
                <a:cs typeface="Arial Unicode MS" pitchFamily="34" charset="-120"/>
              </a:rPr>
              <a:t>01 | 문제와 결정</a:t>
            </a:r>
            <a:endParaRPr lang="en-US" sz="1200" dirty="0"/>
          </a:p>
        </p:txBody>
      </p:sp>
      <p:sp>
        <p:nvSpPr>
          <p:cNvPr id="4" name="Text 2"/>
          <p:cNvSpPr/>
          <p:nvPr/>
        </p:nvSpPr>
        <p:spPr>
          <a:xfrm>
            <a:off x="1755648" y="64008"/>
            <a:ext cx="6931152" cy="402336"/>
          </a:xfrm>
          <a:prstGeom prst="rect">
            <a:avLst/>
          </a:prstGeom>
          <a:noFill/>
          <a:ln/>
        </p:spPr>
        <p:txBody>
          <a:bodyPr wrap="square" lIns="0" tIns="0" rIns="0" bIns="0" rtlCol="0" anchor="ctr">
            <a:normAutofit/>
          </a:bodyPr>
          <a:lstStyle/>
          <a:p>
            <a:pPr algn="l" indent="0" marL="0">
              <a:buNone/>
            </a:pPr>
            <a:r>
              <a:rPr lang="en-US" sz="2000" b="1" dirty="0">
                <a:solidFill>
                  <a:srgbClr val="FFFFFF"/>
                </a:solidFill>
                <a:latin typeface="Arial Unicode MS" pitchFamily="34" charset="0"/>
                <a:ea typeface="Arial Unicode MS" pitchFamily="34" charset="-122"/>
                <a:cs typeface="Arial Unicode MS" pitchFamily="34" charset="-120"/>
              </a:rPr>
              <a:t>속도가 아니라, 실패 후 재고가 그대로인가가 핵심입니다</a:t>
            </a:r>
            <a:endParaRPr lang="en-US" sz="2000" dirty="0"/>
          </a:p>
        </p:txBody>
      </p:sp>
      <p:sp>
        <p:nvSpPr>
          <p:cNvPr id="5" name="Text 3"/>
          <p:cNvSpPr/>
          <p:nvPr/>
        </p:nvSpPr>
        <p:spPr>
          <a:xfrm>
            <a:off x="548640" y="850392"/>
            <a:ext cx="3474720" cy="329184"/>
          </a:xfrm>
          <a:prstGeom prst="rect">
            <a:avLst/>
          </a:prstGeom>
          <a:noFill/>
          <a:ln/>
        </p:spPr>
        <p:txBody>
          <a:bodyPr wrap="square" lIns="0" tIns="0" rIns="0" bIns="0" rtlCol="0" anchor="ctr">
            <a:normAutofit/>
          </a:bodyPr>
          <a:lstStyle/>
          <a:p>
            <a:pPr algn="l" indent="0" marL="0">
              <a:buNone/>
            </a:pPr>
            <a:r>
              <a:rPr lang="en-US" sz="1800" b="1" dirty="0">
                <a:solidFill>
                  <a:srgbClr val="DC3A32"/>
                </a:solidFill>
                <a:latin typeface="Arial Unicode MS" pitchFamily="34" charset="0"/>
                <a:ea typeface="Arial Unicode MS" pitchFamily="34" charset="-122"/>
                <a:cs typeface="Arial Unicode MS" pitchFamily="34" charset="-120"/>
              </a:rPr>
              <a:t>분리된 확인</a:t>
            </a:r>
            <a:endParaRPr lang="en-US" sz="1800" dirty="0"/>
          </a:p>
        </p:txBody>
      </p:sp>
      <p:sp>
        <p:nvSpPr>
          <p:cNvPr id="6" name="Text 4"/>
          <p:cNvSpPr/>
          <p:nvPr/>
        </p:nvSpPr>
        <p:spPr>
          <a:xfrm>
            <a:off x="4754880" y="850392"/>
            <a:ext cx="3749040" cy="329184"/>
          </a:xfrm>
          <a:prstGeom prst="rect">
            <a:avLst/>
          </a:prstGeom>
          <a:noFill/>
          <a:ln/>
        </p:spPr>
        <p:txBody>
          <a:bodyPr wrap="square" lIns="0" tIns="0" rIns="0" bIns="0" rtlCol="0" anchor="ctr">
            <a:normAutofit/>
          </a:bodyPr>
          <a:lstStyle/>
          <a:p>
            <a:pPr algn="l" indent="0" marL="0">
              <a:buNone/>
            </a:pPr>
            <a:r>
              <a:rPr lang="en-US" sz="1800" b="1" dirty="0">
                <a:solidFill>
                  <a:srgbClr val="123C88"/>
                </a:solidFill>
                <a:latin typeface="Arial Unicode MS" pitchFamily="34" charset="0"/>
                <a:ea typeface="Arial Unicode MS" pitchFamily="34" charset="-122"/>
                <a:cs typeface="Arial Unicode MS" pitchFamily="34" charset="-120"/>
              </a:rPr>
              <a:t>검증 후 1회 변경</a:t>
            </a:r>
            <a:endParaRPr lang="en-US" sz="1800" dirty="0"/>
          </a:p>
        </p:txBody>
      </p:sp>
      <p:sp>
        <p:nvSpPr>
          <p:cNvPr id="7" name="Shape 5"/>
          <p:cNvSpPr/>
          <p:nvPr/>
        </p:nvSpPr>
        <p:spPr>
          <a:xfrm>
            <a:off x="4407408" y="868680"/>
            <a:ext cx="0" cy="3127248"/>
          </a:xfrm>
          <a:prstGeom prst="line">
            <a:avLst/>
          </a:prstGeom>
          <a:noFill/>
          <a:ln w="12700">
            <a:solidFill>
              <a:srgbClr val="D8DEE8"/>
            </a:solidFill>
            <a:prstDash val="solid"/>
          </a:ln>
        </p:spPr>
      </p:sp>
      <p:sp>
        <p:nvSpPr>
          <p:cNvPr id="8" name="Shape 6"/>
          <p:cNvSpPr/>
          <p:nvPr/>
        </p:nvSpPr>
        <p:spPr>
          <a:xfrm>
            <a:off x="658368" y="1417320"/>
            <a:ext cx="1572768" cy="438912"/>
          </a:xfrm>
          <a:prstGeom prst="roundRect">
            <a:avLst>
              <a:gd name="adj" fmla="val 20833"/>
            </a:avLst>
          </a:prstGeom>
          <a:solidFill>
            <a:srgbClr val="F7F8FA"/>
          </a:solidFill>
          <a:ln w="15240">
            <a:solidFill>
              <a:srgbClr val="D8DEE8"/>
            </a:solidFill>
            <a:prstDash val="solid"/>
          </a:ln>
        </p:spPr>
      </p:sp>
      <p:sp>
        <p:nvSpPr>
          <p:cNvPr id="9" name="Text 7"/>
          <p:cNvSpPr/>
          <p:nvPr/>
        </p:nvSpPr>
        <p:spPr>
          <a:xfrm>
            <a:off x="749808" y="1417320"/>
            <a:ext cx="1389888" cy="438912"/>
          </a:xfrm>
          <a:prstGeom prst="rect">
            <a:avLst/>
          </a:prstGeom>
          <a:noFill/>
          <a:ln/>
        </p:spPr>
        <p:txBody>
          <a:bodyPr wrap="square" lIns="0" tIns="0" rIns="0" bIns="0" rtlCol="0" anchor="ctr">
            <a:normAutofit/>
          </a:bodyPr>
          <a:lstStyle/>
          <a:p>
            <a:pPr algn="ctr" indent="0" marL="0">
              <a:buNone/>
            </a:pPr>
            <a:r>
              <a:rPr lang="en-US" sz="1300" b="1" dirty="0">
                <a:solidFill>
                  <a:srgbClr val="1F2937"/>
                </a:solidFill>
                <a:latin typeface="Arial Unicode MS" pitchFamily="34" charset="0"/>
                <a:ea typeface="Arial Unicode MS" pitchFamily="34" charset="-122"/>
                <a:cs typeface="Arial Unicode MS" pitchFamily="34" charset="-120"/>
              </a:rPr>
              <a:t>입력 확인</a:t>
            </a:r>
            <a:endParaRPr lang="en-US" sz="1300" dirty="0"/>
          </a:p>
        </p:txBody>
      </p:sp>
      <p:sp>
        <p:nvSpPr>
          <p:cNvPr id="10" name="Shape 8"/>
          <p:cNvSpPr/>
          <p:nvPr/>
        </p:nvSpPr>
        <p:spPr>
          <a:xfrm>
            <a:off x="1444752" y="1874520"/>
            <a:ext cx="0" cy="164592"/>
          </a:xfrm>
          <a:prstGeom prst="line">
            <a:avLst/>
          </a:prstGeom>
          <a:noFill/>
          <a:ln w="22860">
            <a:solidFill>
              <a:srgbClr val="DC3A32"/>
            </a:solidFill>
            <a:prstDash val="solid"/>
            <a:tailEnd type="triangle"/>
          </a:ln>
        </p:spPr>
      </p:sp>
      <p:sp>
        <p:nvSpPr>
          <p:cNvPr id="11" name="Shape 9"/>
          <p:cNvSpPr/>
          <p:nvPr/>
        </p:nvSpPr>
        <p:spPr>
          <a:xfrm>
            <a:off x="658368" y="2057400"/>
            <a:ext cx="1572768" cy="438912"/>
          </a:xfrm>
          <a:prstGeom prst="roundRect">
            <a:avLst>
              <a:gd name="adj" fmla="val 20833"/>
            </a:avLst>
          </a:prstGeom>
          <a:solidFill>
            <a:srgbClr val="F7F8FA"/>
          </a:solidFill>
          <a:ln w="15240">
            <a:solidFill>
              <a:srgbClr val="D8DEE8"/>
            </a:solidFill>
            <a:prstDash val="solid"/>
          </a:ln>
        </p:spPr>
      </p:sp>
      <p:sp>
        <p:nvSpPr>
          <p:cNvPr id="12" name="Text 10"/>
          <p:cNvSpPr/>
          <p:nvPr/>
        </p:nvSpPr>
        <p:spPr>
          <a:xfrm>
            <a:off x="749808" y="2057400"/>
            <a:ext cx="1389888" cy="438912"/>
          </a:xfrm>
          <a:prstGeom prst="rect">
            <a:avLst/>
          </a:prstGeom>
          <a:noFill/>
          <a:ln/>
        </p:spPr>
        <p:txBody>
          <a:bodyPr wrap="square" lIns="0" tIns="0" rIns="0" bIns="0" rtlCol="0" anchor="ctr">
            <a:normAutofit/>
          </a:bodyPr>
          <a:lstStyle/>
          <a:p>
            <a:pPr algn="ctr" indent="0" marL="0">
              <a:buNone/>
            </a:pPr>
            <a:r>
              <a:rPr lang="en-US" sz="1300" b="1" dirty="0">
                <a:solidFill>
                  <a:srgbClr val="1F2937"/>
                </a:solidFill>
                <a:latin typeface="Arial Unicode MS" pitchFamily="34" charset="0"/>
                <a:ea typeface="Arial Unicode MS" pitchFamily="34" charset="-122"/>
                <a:cs typeface="Arial Unicode MS" pitchFamily="34" charset="-120"/>
              </a:rPr>
              <a:t>재고 차감</a:t>
            </a:r>
            <a:endParaRPr lang="en-US" sz="1300" dirty="0"/>
          </a:p>
        </p:txBody>
      </p:sp>
      <p:sp>
        <p:nvSpPr>
          <p:cNvPr id="13" name="Shape 11"/>
          <p:cNvSpPr/>
          <p:nvPr/>
        </p:nvSpPr>
        <p:spPr>
          <a:xfrm>
            <a:off x="1444752" y="2514600"/>
            <a:ext cx="0" cy="164592"/>
          </a:xfrm>
          <a:prstGeom prst="line">
            <a:avLst/>
          </a:prstGeom>
          <a:noFill/>
          <a:ln w="22860">
            <a:solidFill>
              <a:srgbClr val="DC3A32"/>
            </a:solidFill>
            <a:prstDash val="solid"/>
            <a:tailEnd type="triangle"/>
          </a:ln>
        </p:spPr>
      </p:sp>
      <p:sp>
        <p:nvSpPr>
          <p:cNvPr id="14" name="Shape 12"/>
          <p:cNvSpPr/>
          <p:nvPr/>
        </p:nvSpPr>
        <p:spPr>
          <a:xfrm>
            <a:off x="658368" y="2697480"/>
            <a:ext cx="1572768" cy="438912"/>
          </a:xfrm>
          <a:prstGeom prst="roundRect">
            <a:avLst>
              <a:gd name="adj" fmla="val 20833"/>
            </a:avLst>
          </a:prstGeom>
          <a:solidFill>
            <a:srgbClr val="F7F8FA"/>
          </a:solidFill>
          <a:ln w="15240">
            <a:solidFill>
              <a:srgbClr val="D8DEE8"/>
            </a:solidFill>
            <a:prstDash val="solid"/>
          </a:ln>
        </p:spPr>
      </p:sp>
      <p:sp>
        <p:nvSpPr>
          <p:cNvPr id="15" name="Text 13"/>
          <p:cNvSpPr/>
          <p:nvPr/>
        </p:nvSpPr>
        <p:spPr>
          <a:xfrm>
            <a:off x="749808" y="2697480"/>
            <a:ext cx="1389888" cy="438912"/>
          </a:xfrm>
          <a:prstGeom prst="rect">
            <a:avLst/>
          </a:prstGeom>
          <a:noFill/>
          <a:ln/>
        </p:spPr>
        <p:txBody>
          <a:bodyPr wrap="square" lIns="0" tIns="0" rIns="0" bIns="0" rtlCol="0" anchor="ctr">
            <a:normAutofit/>
          </a:bodyPr>
          <a:lstStyle/>
          <a:p>
            <a:pPr algn="ctr" indent="0" marL="0">
              <a:buNone/>
            </a:pPr>
            <a:r>
              <a:rPr lang="en-US" sz="1300" b="1" dirty="0">
                <a:solidFill>
                  <a:srgbClr val="1F2937"/>
                </a:solidFill>
                <a:latin typeface="Arial Unicode MS" pitchFamily="34" charset="0"/>
                <a:ea typeface="Arial Unicode MS" pitchFamily="34" charset="-122"/>
                <a:cs typeface="Arial Unicode MS" pitchFamily="34" charset="-120"/>
              </a:rPr>
              <a:t>중복 확인</a:t>
            </a:r>
            <a:endParaRPr lang="en-US" sz="1300" dirty="0"/>
          </a:p>
        </p:txBody>
      </p:sp>
      <p:sp>
        <p:nvSpPr>
          <p:cNvPr id="16" name="Shape 14"/>
          <p:cNvSpPr/>
          <p:nvPr/>
        </p:nvSpPr>
        <p:spPr>
          <a:xfrm>
            <a:off x="2487168" y="1673352"/>
            <a:ext cx="1417320" cy="438912"/>
          </a:xfrm>
          <a:prstGeom prst="roundRect">
            <a:avLst>
              <a:gd name="adj" fmla="val 37500"/>
            </a:avLst>
          </a:prstGeom>
          <a:solidFill>
            <a:srgbClr val="FDEDEC"/>
          </a:solidFill>
          <a:ln w="7620">
            <a:solidFill>
              <a:srgbClr val="FDEDEC"/>
            </a:solidFill>
            <a:prstDash val="solid"/>
          </a:ln>
        </p:spPr>
      </p:sp>
      <p:sp>
        <p:nvSpPr>
          <p:cNvPr id="17" name="Text 15"/>
          <p:cNvSpPr/>
          <p:nvPr/>
        </p:nvSpPr>
        <p:spPr>
          <a:xfrm>
            <a:off x="2542032" y="1673352"/>
            <a:ext cx="1307592" cy="438912"/>
          </a:xfrm>
          <a:prstGeom prst="rect">
            <a:avLst/>
          </a:prstGeom>
          <a:noFill/>
          <a:ln/>
        </p:spPr>
        <p:txBody>
          <a:bodyPr wrap="square" lIns="0" tIns="0" rIns="0" bIns="0" rtlCol="0" anchor="ctr">
            <a:normAutofit/>
          </a:bodyPr>
          <a:lstStyle/>
          <a:p>
            <a:pPr algn="ctr" indent="0" marL="0">
              <a:buNone/>
            </a:pPr>
            <a:r>
              <a:rPr lang="en-US" sz="1200" b="1" dirty="0">
                <a:solidFill>
                  <a:srgbClr val="DC3A32"/>
                </a:solidFill>
                <a:latin typeface="Arial Unicode MS" pitchFamily="34" charset="0"/>
                <a:ea typeface="Arial Unicode MS" pitchFamily="34" charset="-122"/>
                <a:cs typeface="Arial Unicode MS" pitchFamily="34" charset="-120"/>
              </a:rPr>
              <a:t>중복 차감</a:t>
            </a:r>
            <a:endParaRPr lang="en-US" sz="1200" dirty="0"/>
          </a:p>
        </p:txBody>
      </p:sp>
      <p:sp>
        <p:nvSpPr>
          <p:cNvPr id="18" name="Shape 16"/>
          <p:cNvSpPr/>
          <p:nvPr/>
        </p:nvSpPr>
        <p:spPr>
          <a:xfrm>
            <a:off x="2240280" y="1883664"/>
            <a:ext cx="228600" cy="0"/>
          </a:xfrm>
          <a:prstGeom prst="line">
            <a:avLst/>
          </a:prstGeom>
          <a:noFill/>
          <a:ln w="19050">
            <a:solidFill>
              <a:srgbClr val="DC3A32"/>
            </a:solidFill>
            <a:prstDash val="solid"/>
            <a:tailEnd type="triangle"/>
          </a:ln>
        </p:spPr>
      </p:sp>
      <p:sp>
        <p:nvSpPr>
          <p:cNvPr id="19" name="Shape 17"/>
          <p:cNvSpPr/>
          <p:nvPr/>
        </p:nvSpPr>
        <p:spPr>
          <a:xfrm>
            <a:off x="2487168" y="2523744"/>
            <a:ext cx="1417320" cy="438912"/>
          </a:xfrm>
          <a:prstGeom prst="roundRect">
            <a:avLst>
              <a:gd name="adj" fmla="val 37500"/>
            </a:avLst>
          </a:prstGeom>
          <a:solidFill>
            <a:srgbClr val="FDEDEC"/>
          </a:solidFill>
          <a:ln w="7620">
            <a:solidFill>
              <a:srgbClr val="FDEDEC"/>
            </a:solidFill>
            <a:prstDash val="solid"/>
          </a:ln>
        </p:spPr>
      </p:sp>
      <p:sp>
        <p:nvSpPr>
          <p:cNvPr id="20" name="Text 18"/>
          <p:cNvSpPr/>
          <p:nvPr/>
        </p:nvSpPr>
        <p:spPr>
          <a:xfrm>
            <a:off x="2542032" y="2523744"/>
            <a:ext cx="1307592" cy="438912"/>
          </a:xfrm>
          <a:prstGeom prst="rect">
            <a:avLst/>
          </a:prstGeom>
          <a:noFill/>
          <a:ln/>
        </p:spPr>
        <p:txBody>
          <a:bodyPr wrap="square" lIns="0" tIns="0" rIns="0" bIns="0" rtlCol="0" anchor="ctr">
            <a:normAutofit/>
          </a:bodyPr>
          <a:lstStyle/>
          <a:p>
            <a:pPr algn="ctr" indent="0" marL="0">
              <a:buNone/>
            </a:pPr>
            <a:r>
              <a:rPr lang="en-US" sz="1200" b="1" dirty="0">
                <a:solidFill>
                  <a:srgbClr val="DC3A32"/>
                </a:solidFill>
                <a:latin typeface="Arial Unicode MS" pitchFamily="34" charset="0"/>
                <a:ea typeface="Arial Unicode MS" pitchFamily="34" charset="-122"/>
                <a:cs typeface="Arial Unicode MS" pitchFamily="34" charset="-120"/>
              </a:rPr>
              <a:t>이력 불일치</a:t>
            </a:r>
            <a:endParaRPr lang="en-US" sz="1200" dirty="0"/>
          </a:p>
        </p:txBody>
      </p:sp>
      <p:sp>
        <p:nvSpPr>
          <p:cNvPr id="21" name="Shape 19"/>
          <p:cNvSpPr/>
          <p:nvPr/>
        </p:nvSpPr>
        <p:spPr>
          <a:xfrm>
            <a:off x="2240280" y="2093976"/>
            <a:ext cx="228600" cy="640080"/>
          </a:xfrm>
          <a:prstGeom prst="line">
            <a:avLst/>
          </a:prstGeom>
          <a:noFill/>
          <a:ln w="19050">
            <a:solidFill>
              <a:srgbClr val="DC3A32"/>
            </a:solidFill>
            <a:prstDash val="solid"/>
            <a:tailEnd type="triangle"/>
          </a:ln>
        </p:spPr>
      </p:sp>
      <p:sp>
        <p:nvSpPr>
          <p:cNvPr id="22" name="Shape 20"/>
          <p:cNvSpPr/>
          <p:nvPr/>
        </p:nvSpPr>
        <p:spPr>
          <a:xfrm>
            <a:off x="4800600" y="1627632"/>
            <a:ext cx="621792" cy="621792"/>
          </a:xfrm>
          <a:prstGeom prst="roundRect">
            <a:avLst>
              <a:gd name="adj" fmla="val 17647"/>
            </a:avLst>
          </a:prstGeom>
          <a:solidFill>
            <a:srgbClr val="EFF4FF"/>
          </a:solidFill>
          <a:ln w="15240">
            <a:solidFill>
              <a:srgbClr val="2C63E7"/>
            </a:solidFill>
            <a:prstDash val="solid"/>
          </a:ln>
        </p:spPr>
      </p:sp>
      <p:sp>
        <p:nvSpPr>
          <p:cNvPr id="23" name="Text 21"/>
          <p:cNvSpPr/>
          <p:nvPr/>
        </p:nvSpPr>
        <p:spPr>
          <a:xfrm>
            <a:off x="4828032" y="1627632"/>
            <a:ext cx="566928" cy="621792"/>
          </a:xfrm>
          <a:prstGeom prst="rect">
            <a:avLst/>
          </a:prstGeom>
          <a:noFill/>
          <a:ln/>
        </p:spPr>
        <p:txBody>
          <a:bodyPr wrap="square" lIns="0" tIns="0" rIns="0" bIns="0" rtlCol="0" anchor="ctr">
            <a:normAutofit/>
          </a:bodyPr>
          <a:lstStyle/>
          <a:p>
            <a:pPr algn="ctr" indent="0" marL="0">
              <a:buNone/>
            </a:pPr>
            <a:r>
              <a:rPr lang="en-US" sz="1080" b="1" dirty="0">
                <a:solidFill>
                  <a:srgbClr val="123C88"/>
                </a:solidFill>
                <a:latin typeface="Arial Unicode MS" pitchFamily="34" charset="0"/>
                <a:ea typeface="Arial Unicode MS" pitchFamily="34" charset="-122"/>
                <a:cs typeface="Arial Unicode MS" pitchFamily="34" charset="-120"/>
              </a:rPr>
              <a:t>필수값</a:t>
            </a:r>
            <a:endParaRPr lang="en-US" sz="1080" dirty="0"/>
          </a:p>
        </p:txBody>
      </p:sp>
      <p:sp>
        <p:nvSpPr>
          <p:cNvPr id="24" name="Shape 22"/>
          <p:cNvSpPr/>
          <p:nvPr/>
        </p:nvSpPr>
        <p:spPr>
          <a:xfrm>
            <a:off x="5431536" y="1938528"/>
            <a:ext cx="73152" cy="0"/>
          </a:xfrm>
          <a:prstGeom prst="line">
            <a:avLst/>
          </a:prstGeom>
          <a:noFill/>
          <a:ln w="17780">
            <a:solidFill>
              <a:srgbClr val="2C63E7"/>
            </a:solidFill>
            <a:prstDash val="solid"/>
            <a:tailEnd type="triangle"/>
          </a:ln>
        </p:spPr>
      </p:sp>
      <p:sp>
        <p:nvSpPr>
          <p:cNvPr id="25" name="Shape 23"/>
          <p:cNvSpPr/>
          <p:nvPr/>
        </p:nvSpPr>
        <p:spPr>
          <a:xfrm>
            <a:off x="5513832" y="1627632"/>
            <a:ext cx="621792" cy="621792"/>
          </a:xfrm>
          <a:prstGeom prst="roundRect">
            <a:avLst>
              <a:gd name="adj" fmla="val 17647"/>
            </a:avLst>
          </a:prstGeom>
          <a:solidFill>
            <a:srgbClr val="EFF4FF"/>
          </a:solidFill>
          <a:ln w="15240">
            <a:solidFill>
              <a:srgbClr val="2C63E7"/>
            </a:solidFill>
            <a:prstDash val="solid"/>
          </a:ln>
        </p:spPr>
      </p:sp>
      <p:sp>
        <p:nvSpPr>
          <p:cNvPr id="26" name="Text 24"/>
          <p:cNvSpPr/>
          <p:nvPr/>
        </p:nvSpPr>
        <p:spPr>
          <a:xfrm>
            <a:off x="5541264" y="1627632"/>
            <a:ext cx="566928" cy="621792"/>
          </a:xfrm>
          <a:prstGeom prst="rect">
            <a:avLst/>
          </a:prstGeom>
          <a:noFill/>
          <a:ln/>
        </p:spPr>
        <p:txBody>
          <a:bodyPr wrap="square" lIns="0" tIns="0" rIns="0" bIns="0" rtlCol="0" anchor="ctr">
            <a:normAutofit/>
          </a:bodyPr>
          <a:lstStyle/>
          <a:p>
            <a:pPr algn="ctr" indent="0" marL="0">
              <a:buNone/>
            </a:pPr>
            <a:r>
              <a:rPr lang="en-US" sz="1080" b="1" dirty="0">
                <a:solidFill>
                  <a:srgbClr val="123C88"/>
                </a:solidFill>
                <a:latin typeface="Arial Unicode MS" pitchFamily="34" charset="0"/>
                <a:ea typeface="Arial Unicode MS" pitchFamily="34" charset="-122"/>
                <a:cs typeface="Arial Unicode MS" pitchFamily="34" charset="-120"/>
              </a:rPr>
              <a:t>중복</a:t>
            </a:r>
            <a:endParaRPr lang="en-US" sz="1080" dirty="0"/>
          </a:p>
        </p:txBody>
      </p:sp>
      <p:sp>
        <p:nvSpPr>
          <p:cNvPr id="27" name="Shape 25"/>
          <p:cNvSpPr/>
          <p:nvPr/>
        </p:nvSpPr>
        <p:spPr>
          <a:xfrm>
            <a:off x="6144768" y="1938528"/>
            <a:ext cx="73152" cy="0"/>
          </a:xfrm>
          <a:prstGeom prst="line">
            <a:avLst/>
          </a:prstGeom>
          <a:noFill/>
          <a:ln w="17780">
            <a:solidFill>
              <a:srgbClr val="2C63E7"/>
            </a:solidFill>
            <a:prstDash val="solid"/>
            <a:tailEnd type="triangle"/>
          </a:ln>
        </p:spPr>
      </p:sp>
      <p:sp>
        <p:nvSpPr>
          <p:cNvPr id="28" name="Shape 26"/>
          <p:cNvSpPr/>
          <p:nvPr/>
        </p:nvSpPr>
        <p:spPr>
          <a:xfrm>
            <a:off x="6227064" y="1627632"/>
            <a:ext cx="621792" cy="621792"/>
          </a:xfrm>
          <a:prstGeom prst="roundRect">
            <a:avLst>
              <a:gd name="adj" fmla="val 17647"/>
            </a:avLst>
          </a:prstGeom>
          <a:solidFill>
            <a:srgbClr val="EFF4FF"/>
          </a:solidFill>
          <a:ln w="15240">
            <a:solidFill>
              <a:srgbClr val="2C63E7"/>
            </a:solidFill>
            <a:prstDash val="solid"/>
          </a:ln>
        </p:spPr>
      </p:sp>
      <p:sp>
        <p:nvSpPr>
          <p:cNvPr id="29" name="Text 27"/>
          <p:cNvSpPr/>
          <p:nvPr/>
        </p:nvSpPr>
        <p:spPr>
          <a:xfrm>
            <a:off x="6254496" y="1627632"/>
            <a:ext cx="566928" cy="621792"/>
          </a:xfrm>
          <a:prstGeom prst="rect">
            <a:avLst/>
          </a:prstGeom>
          <a:noFill/>
          <a:ln/>
        </p:spPr>
        <p:txBody>
          <a:bodyPr wrap="square" lIns="0" tIns="0" rIns="0" bIns="0" rtlCol="0" anchor="ctr">
            <a:normAutofit/>
          </a:bodyPr>
          <a:lstStyle/>
          <a:p>
            <a:pPr algn="ctr" indent="0" marL="0">
              <a:buNone/>
            </a:pPr>
            <a:r>
              <a:rPr lang="en-US" sz="1080" b="1" dirty="0">
                <a:solidFill>
                  <a:srgbClr val="123C88"/>
                </a:solidFill>
                <a:latin typeface="Arial Unicode MS" pitchFamily="34" charset="0"/>
                <a:ea typeface="Arial Unicode MS" pitchFamily="34" charset="-122"/>
                <a:cs typeface="Arial Unicode MS" pitchFamily="34" charset="-120"/>
              </a:rPr>
              <a:t>재고</a:t>
            </a:r>
            <a:endParaRPr lang="en-US" sz="1080" dirty="0"/>
          </a:p>
        </p:txBody>
      </p:sp>
      <p:sp>
        <p:nvSpPr>
          <p:cNvPr id="30" name="Shape 28"/>
          <p:cNvSpPr/>
          <p:nvPr/>
        </p:nvSpPr>
        <p:spPr>
          <a:xfrm>
            <a:off x="6858000" y="1938528"/>
            <a:ext cx="73152" cy="0"/>
          </a:xfrm>
          <a:prstGeom prst="line">
            <a:avLst/>
          </a:prstGeom>
          <a:noFill/>
          <a:ln w="17780">
            <a:solidFill>
              <a:srgbClr val="2C63E7"/>
            </a:solidFill>
            <a:prstDash val="solid"/>
            <a:tailEnd type="triangle"/>
          </a:ln>
        </p:spPr>
      </p:sp>
      <p:sp>
        <p:nvSpPr>
          <p:cNvPr id="31" name="Shape 29"/>
          <p:cNvSpPr/>
          <p:nvPr/>
        </p:nvSpPr>
        <p:spPr>
          <a:xfrm>
            <a:off x="6940296" y="1627632"/>
            <a:ext cx="621792" cy="621792"/>
          </a:xfrm>
          <a:prstGeom prst="roundRect">
            <a:avLst>
              <a:gd name="adj" fmla="val 17647"/>
            </a:avLst>
          </a:prstGeom>
          <a:solidFill>
            <a:srgbClr val="EFF4FF"/>
          </a:solidFill>
          <a:ln w="15240">
            <a:solidFill>
              <a:srgbClr val="2C63E7"/>
            </a:solidFill>
            <a:prstDash val="solid"/>
          </a:ln>
        </p:spPr>
      </p:sp>
      <p:sp>
        <p:nvSpPr>
          <p:cNvPr id="32" name="Text 30"/>
          <p:cNvSpPr/>
          <p:nvPr/>
        </p:nvSpPr>
        <p:spPr>
          <a:xfrm>
            <a:off x="6967728" y="1627632"/>
            <a:ext cx="566928" cy="621792"/>
          </a:xfrm>
          <a:prstGeom prst="rect">
            <a:avLst/>
          </a:prstGeom>
          <a:noFill/>
          <a:ln/>
        </p:spPr>
        <p:txBody>
          <a:bodyPr wrap="square" lIns="0" tIns="0" rIns="0" bIns="0" rtlCol="0" anchor="ctr">
            <a:normAutofit/>
          </a:bodyPr>
          <a:lstStyle/>
          <a:p>
            <a:pPr algn="ctr" indent="0" marL="0">
              <a:buNone/>
            </a:pPr>
            <a:r>
              <a:rPr lang="en-US" sz="1080" b="1" dirty="0">
                <a:solidFill>
                  <a:srgbClr val="123C88"/>
                </a:solidFill>
                <a:latin typeface="Arial Unicode MS" pitchFamily="34" charset="0"/>
                <a:ea typeface="Arial Unicode MS" pitchFamily="34" charset="-122"/>
                <a:cs typeface="Arial Unicode MS" pitchFamily="34" charset="-120"/>
              </a:rPr>
              <a:t>상태</a:t>
            </a:r>
            <a:endParaRPr lang="en-US" sz="1080" dirty="0"/>
          </a:p>
        </p:txBody>
      </p:sp>
      <p:sp>
        <p:nvSpPr>
          <p:cNvPr id="33" name="Shape 31"/>
          <p:cNvSpPr/>
          <p:nvPr/>
        </p:nvSpPr>
        <p:spPr>
          <a:xfrm>
            <a:off x="7571232" y="1938528"/>
            <a:ext cx="73152" cy="0"/>
          </a:xfrm>
          <a:prstGeom prst="line">
            <a:avLst/>
          </a:prstGeom>
          <a:noFill/>
          <a:ln w="17780">
            <a:solidFill>
              <a:srgbClr val="2C63E7"/>
            </a:solidFill>
            <a:prstDash val="solid"/>
            <a:tailEnd type="triangle"/>
          </a:ln>
        </p:spPr>
      </p:sp>
      <p:sp>
        <p:nvSpPr>
          <p:cNvPr id="34" name="Shape 32"/>
          <p:cNvSpPr/>
          <p:nvPr/>
        </p:nvSpPr>
        <p:spPr>
          <a:xfrm>
            <a:off x="7744968" y="1627632"/>
            <a:ext cx="621792" cy="621792"/>
          </a:xfrm>
          <a:prstGeom prst="roundRect">
            <a:avLst>
              <a:gd name="adj" fmla="val 17647"/>
            </a:avLst>
          </a:prstGeom>
          <a:solidFill>
            <a:srgbClr val="F37321"/>
          </a:solidFill>
          <a:ln w="7620">
            <a:solidFill>
              <a:srgbClr val="F37321"/>
            </a:solidFill>
            <a:prstDash val="solid"/>
          </a:ln>
        </p:spPr>
      </p:sp>
      <p:sp>
        <p:nvSpPr>
          <p:cNvPr id="35" name="Text 33"/>
          <p:cNvSpPr/>
          <p:nvPr/>
        </p:nvSpPr>
        <p:spPr>
          <a:xfrm>
            <a:off x="7772400" y="1627632"/>
            <a:ext cx="566928" cy="621792"/>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latin typeface="Arial Unicode MS" pitchFamily="34" charset="0"/>
                <a:ea typeface="Arial Unicode MS" pitchFamily="34" charset="-122"/>
                <a:cs typeface="Arial Unicode MS" pitchFamily="34" charset="-120"/>
              </a:rPr>
              <a:t>저장</a:t>
            </a:r>
            <a:endParaRPr lang="en-US" sz="1080" dirty="0"/>
          </a:p>
        </p:txBody>
      </p:sp>
      <p:sp>
        <p:nvSpPr>
          <p:cNvPr id="36" name="Shape 34"/>
          <p:cNvSpPr/>
          <p:nvPr/>
        </p:nvSpPr>
        <p:spPr>
          <a:xfrm>
            <a:off x="4791456" y="2587752"/>
            <a:ext cx="3584448" cy="804672"/>
          </a:xfrm>
          <a:prstGeom prst="roundRect">
            <a:avLst>
              <a:gd name="adj" fmla="val 9091"/>
            </a:avLst>
          </a:prstGeom>
          <a:solidFill>
            <a:srgbClr val="1F2937"/>
          </a:solidFill>
          <a:ln w="7620">
            <a:solidFill>
              <a:srgbClr val="1F2937"/>
            </a:solidFill>
            <a:prstDash val="solid"/>
          </a:ln>
        </p:spPr>
      </p:sp>
      <p:sp>
        <p:nvSpPr>
          <p:cNvPr id="37" name="Text 35"/>
          <p:cNvSpPr/>
          <p:nvPr/>
        </p:nvSpPr>
        <p:spPr>
          <a:xfrm>
            <a:off x="5047488" y="2724912"/>
            <a:ext cx="822960" cy="256032"/>
          </a:xfrm>
          <a:prstGeom prst="rect">
            <a:avLst/>
          </a:prstGeom>
          <a:noFill/>
          <a:ln/>
        </p:spPr>
        <p:txBody>
          <a:bodyPr wrap="square" lIns="0" tIns="0" rIns="0" bIns="0" rtlCol="0" anchor="ctr">
            <a:normAutofit/>
          </a:bodyPr>
          <a:lstStyle/>
          <a:p>
            <a:pPr algn="l" indent="0" marL="0">
              <a:buNone/>
            </a:pPr>
            <a:r>
              <a:rPr lang="en-US" sz="1100" b="1" dirty="0">
                <a:solidFill>
                  <a:srgbClr val="F7C38E"/>
                </a:solidFill>
                <a:latin typeface="Arial Unicode MS" pitchFamily="34" charset="0"/>
                <a:ea typeface="Arial Unicode MS" pitchFamily="34" charset="-122"/>
                <a:cs typeface="Arial Unicode MS" pitchFamily="34" charset="-120"/>
              </a:rPr>
              <a:t>검증 순서</a:t>
            </a:r>
            <a:endParaRPr lang="en-US" sz="1100" dirty="0"/>
          </a:p>
        </p:txBody>
      </p:sp>
      <p:sp>
        <p:nvSpPr>
          <p:cNvPr id="38" name="Text 36"/>
          <p:cNvSpPr/>
          <p:nvPr/>
        </p:nvSpPr>
        <p:spPr>
          <a:xfrm>
            <a:off x="5806440" y="2697480"/>
            <a:ext cx="2240280" cy="310896"/>
          </a:xfrm>
          <a:prstGeom prst="rect">
            <a:avLst/>
          </a:prstGeom>
          <a:noFill/>
          <a:ln/>
        </p:spPr>
        <p:txBody>
          <a:bodyPr wrap="square" lIns="0" tIns="0" rIns="0" bIns="0" rtlCol="0" anchor="ctr">
            <a:normAutofit/>
          </a:bodyPr>
          <a:lstStyle/>
          <a:p>
            <a:pPr algn="l" indent="0" marL="0">
              <a:buNone/>
            </a:pPr>
            <a:r>
              <a:rPr lang="en-US" sz="1200" dirty="0">
                <a:solidFill>
                  <a:srgbClr val="FFFFFF"/>
                </a:solidFill>
                <a:latin typeface="Aptos Mono" pitchFamily="34" charset="0"/>
                <a:ea typeface="Aptos Mono" pitchFamily="34" charset="-122"/>
                <a:cs typeface="Aptos Mono" pitchFamily="34" charset="-120"/>
              </a:rPr>
              <a:t>service.py → store 1회 호출</a:t>
            </a:r>
            <a:endParaRPr lang="en-US" sz="1200" dirty="0"/>
          </a:p>
        </p:txBody>
      </p:sp>
      <p:sp>
        <p:nvSpPr>
          <p:cNvPr id="39" name="Text 37"/>
          <p:cNvSpPr/>
          <p:nvPr/>
        </p:nvSpPr>
        <p:spPr>
          <a:xfrm>
            <a:off x="5047488" y="3063240"/>
            <a:ext cx="2971800" cy="201168"/>
          </a:xfrm>
          <a:prstGeom prst="rect">
            <a:avLst/>
          </a:prstGeom>
          <a:noFill/>
          <a:ln/>
        </p:spPr>
        <p:txBody>
          <a:bodyPr wrap="square" lIns="0" tIns="0" rIns="0" bIns="0" rtlCol="0" anchor="ctr">
            <a:normAutofit/>
          </a:bodyPr>
          <a:lstStyle/>
          <a:p>
            <a:pPr algn="l" indent="0" marL="0">
              <a:buNone/>
            </a:pPr>
            <a:r>
              <a:rPr lang="en-US" sz="1020" dirty="0">
                <a:solidFill>
                  <a:srgbClr val="D9E4F5"/>
                </a:solidFill>
                <a:latin typeface="Arial Unicode MS" pitchFamily="34" charset="0"/>
                <a:ea typeface="Arial Unicode MS" pitchFamily="34" charset="-122"/>
                <a:cs typeface="Arial Unicode MS" pitchFamily="34" charset="-120"/>
              </a:rPr>
              <a:t>실패: stock · shipment · request_id 모두 변경 없음</a:t>
            </a:r>
            <a:endParaRPr lang="en-US" sz="1020" dirty="0"/>
          </a:p>
        </p:txBody>
      </p:sp>
      <p:sp>
        <p:nvSpPr>
          <p:cNvPr id="40" name="Shape 38"/>
          <p:cNvSpPr/>
          <p:nvPr/>
        </p:nvSpPr>
        <p:spPr>
          <a:xfrm>
            <a:off x="594360" y="3950208"/>
            <a:ext cx="7973568" cy="475488"/>
          </a:xfrm>
          <a:prstGeom prst="roundRect">
            <a:avLst>
              <a:gd name="adj" fmla="val 15385"/>
            </a:avLst>
          </a:prstGeom>
          <a:solidFill>
            <a:srgbClr val="FFF2E6"/>
          </a:solidFill>
          <a:ln w="15240">
            <a:solidFill>
              <a:srgbClr val="F37321"/>
            </a:solidFill>
            <a:prstDash val="solid"/>
          </a:ln>
        </p:spPr>
      </p:sp>
      <p:sp>
        <p:nvSpPr>
          <p:cNvPr id="41" name="Text 39"/>
          <p:cNvSpPr/>
          <p:nvPr/>
        </p:nvSpPr>
        <p:spPr>
          <a:xfrm>
            <a:off x="822960" y="3950208"/>
            <a:ext cx="7498080" cy="475488"/>
          </a:xfrm>
          <a:prstGeom prst="rect">
            <a:avLst/>
          </a:prstGeom>
          <a:noFill/>
          <a:ln/>
        </p:spPr>
        <p:txBody>
          <a:bodyPr wrap="square" lIns="0" tIns="0" rIns="0" bIns="0" rtlCol="0" anchor="ctr">
            <a:normAutofit/>
          </a:bodyPr>
          <a:lstStyle/>
          <a:p>
            <a:pPr algn="ctr" indent="0" marL="0">
              <a:buNone/>
            </a:pPr>
            <a:r>
              <a:rPr lang="en-US" sz="1400" b="1" dirty="0">
                <a:solidFill>
                  <a:srgbClr val="D95514"/>
                </a:solidFill>
                <a:latin typeface="Arial Unicode MS" pitchFamily="34" charset="0"/>
                <a:ea typeface="Arial Unicode MS" pitchFamily="34" charset="-122"/>
                <a:cs typeface="Arial Unicode MS" pitchFamily="34" charset="-120"/>
              </a:rPr>
              <a:t>검증이 모두 끝나기 전에는 저장소를 바꾸지 않습니다.</a:t>
            </a:r>
            <a:endParaRPr lang="en-US" sz="1400" dirty="0"/>
          </a:p>
        </p:txBody>
      </p:sp>
      <p:sp>
        <p:nvSpPr>
          <p:cNvPr id="42" name="Shape 40"/>
          <p:cNvSpPr/>
          <p:nvPr/>
        </p:nvSpPr>
        <p:spPr>
          <a:xfrm>
            <a:off x="411480" y="4681728"/>
            <a:ext cx="8321040" cy="0"/>
          </a:xfrm>
          <a:prstGeom prst="line">
            <a:avLst/>
          </a:prstGeom>
          <a:noFill/>
          <a:ln w="8890">
            <a:solidFill>
              <a:srgbClr val="D8DEE8"/>
            </a:solidFill>
            <a:prstDash val="solid"/>
          </a:ln>
        </p:spPr>
      </p:sp>
      <p:sp>
        <p:nvSpPr>
          <p:cNvPr id="43" name="Text 41"/>
          <p:cNvSpPr/>
          <p:nvPr/>
        </p:nvSpPr>
        <p:spPr>
          <a:xfrm>
            <a:off x="438912" y="4736592"/>
            <a:ext cx="5074920" cy="219456"/>
          </a:xfrm>
          <a:prstGeom prst="rect">
            <a:avLst/>
          </a:prstGeom>
          <a:noFill/>
          <a:ln/>
        </p:spPr>
        <p:txBody>
          <a:bodyPr wrap="square" lIns="0" tIns="0" rIns="0" bIns="0" rtlCol="0" anchor="ctr">
            <a:normAutofit/>
          </a:bodyPr>
          <a:lstStyle/>
          <a:p>
            <a:pPr algn="l" indent="0" marL="0">
              <a:buNone/>
            </a:pPr>
            <a:r>
              <a:rPr lang="en-US" sz="850" dirty="0">
                <a:solidFill>
                  <a:srgbClr val="657084"/>
                </a:solidFill>
                <a:latin typeface="Arial Unicode MS" pitchFamily="34" charset="0"/>
                <a:ea typeface="Arial Unicode MS" pitchFamily="34" charset="-122"/>
                <a:cs typeface="Arial Unicode MS" pitchFamily="34" charset="-120"/>
              </a:rPr>
              <a:t>SPEC §4–5 · ADR-001 · AC-09/10/12</a:t>
            </a:r>
            <a:endParaRPr lang="en-US" sz="850" dirty="0"/>
          </a:p>
        </p:txBody>
      </p:sp>
      <p:sp>
        <p:nvSpPr>
          <p:cNvPr id="44" name="Text 42"/>
          <p:cNvSpPr/>
          <p:nvPr/>
        </p:nvSpPr>
        <p:spPr>
          <a:xfrm>
            <a:off x="5715000" y="4736592"/>
            <a:ext cx="2606040" cy="219456"/>
          </a:xfrm>
          <a:prstGeom prst="rect">
            <a:avLst/>
          </a:prstGeom>
          <a:noFill/>
          <a:ln/>
        </p:spPr>
        <p:txBody>
          <a:bodyPr wrap="square" lIns="0" tIns="0" rIns="0" bIns="0" rtlCol="0" anchor="ctr">
            <a:normAutofit/>
          </a:bodyPr>
          <a:lstStyle/>
          <a:p>
            <a:pPr algn="r" indent="0" marL="0">
              <a:buNone/>
            </a:pPr>
            <a:r>
              <a:rPr lang="en-US" sz="850" dirty="0">
                <a:solidFill>
                  <a:srgbClr val="123C88"/>
                </a:solidFill>
                <a:latin typeface="Arial Unicode MS" pitchFamily="34" charset="0"/>
                <a:ea typeface="Arial Unicode MS" pitchFamily="34" charset="-122"/>
                <a:cs typeface="Arial Unicode MS" pitchFamily="34" charset="-120"/>
              </a:rPr>
              <a:t>Agent AI for Work · Solution → PPT</a:t>
            </a:r>
            <a:endParaRPr lang="en-US" sz="850" dirty="0"/>
          </a:p>
        </p:txBody>
      </p:sp>
      <p:sp>
        <p:nvSpPr>
          <p:cNvPr id="45" name="Text 43"/>
          <p:cNvSpPr/>
          <p:nvPr/>
        </p:nvSpPr>
        <p:spPr>
          <a:xfrm>
            <a:off x="8458200" y="4736592"/>
            <a:ext cx="256032" cy="219456"/>
          </a:xfrm>
          <a:prstGeom prst="rect">
            <a:avLst/>
          </a:prstGeom>
          <a:noFill/>
          <a:ln/>
        </p:spPr>
        <p:txBody>
          <a:bodyPr wrap="square" lIns="0" tIns="0" rIns="0" bIns="0" rtlCol="0" anchor="ctr">
            <a:normAutofit/>
          </a:bodyPr>
          <a:lstStyle/>
          <a:p>
            <a:pPr algn="r" indent="0" marL="0">
              <a:buNone/>
            </a:pPr>
            <a:r>
              <a:rPr lang="en-US" sz="900" b="1" dirty="0">
                <a:solidFill>
                  <a:srgbClr val="123C88"/>
                </a:solidFill>
                <a:latin typeface="Arial Unicode MS" pitchFamily="34" charset="0"/>
                <a:ea typeface="Arial Unicode MS" pitchFamily="34" charset="-122"/>
                <a:cs typeface="Arial Unicode M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F37321"/>
          </a:solidFill>
          <a:ln w="7620">
            <a:solidFill>
              <a:srgbClr val="F37321"/>
            </a:solidFill>
            <a:prstDash val="solid"/>
          </a:ln>
        </p:spPr>
      </p:sp>
      <p:sp>
        <p:nvSpPr>
          <p:cNvPr id="3" name="Text 1"/>
          <p:cNvSpPr/>
          <p:nvPr/>
        </p:nvSpPr>
        <p:spPr>
          <a:xfrm>
            <a:off x="438912" y="73152"/>
            <a:ext cx="1234440" cy="384048"/>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rial Unicode MS" pitchFamily="34" charset="0"/>
                <a:ea typeface="Arial Unicode MS" pitchFamily="34" charset="-122"/>
                <a:cs typeface="Arial Unicode MS" pitchFamily="34" charset="-120"/>
              </a:rPr>
              <a:t>02 | 업무 흐름</a:t>
            </a:r>
            <a:endParaRPr lang="en-US" sz="1200" dirty="0"/>
          </a:p>
        </p:txBody>
      </p:sp>
      <p:sp>
        <p:nvSpPr>
          <p:cNvPr id="4" name="Text 2"/>
          <p:cNvSpPr/>
          <p:nvPr/>
        </p:nvSpPr>
        <p:spPr>
          <a:xfrm>
            <a:off x="1755648" y="64008"/>
            <a:ext cx="6931152" cy="402336"/>
          </a:xfrm>
          <a:prstGeom prst="rect">
            <a:avLst/>
          </a:prstGeom>
          <a:noFill/>
          <a:ln/>
        </p:spPr>
        <p:txBody>
          <a:bodyPr wrap="square" lIns="0" tIns="0" rIns="0" bIns="0" rtlCol="0" anchor="ctr">
            <a:normAutofit/>
          </a:bodyPr>
          <a:lstStyle/>
          <a:p>
            <a:pPr algn="l" indent="0" marL="0">
              <a:buNone/>
            </a:pPr>
            <a:r>
              <a:rPr lang="en-US" sz="2000" b="1" dirty="0">
                <a:solidFill>
                  <a:srgbClr val="FFFFFF"/>
                </a:solidFill>
                <a:latin typeface="Arial Unicode MS" pitchFamily="34" charset="0"/>
                <a:ea typeface="Arial Unicode MS" pitchFamily="34" charset="-122"/>
                <a:cs typeface="Arial Unicode MS" pitchFamily="34" charset="-120"/>
              </a:rPr>
              <a:t>조회 → 출고 → 전체 취소가 두 상태로 닫힙니다</a:t>
            </a:r>
            <a:endParaRPr lang="en-US" sz="2000" dirty="0"/>
          </a:p>
        </p:txBody>
      </p:sp>
      <p:sp>
        <p:nvSpPr>
          <p:cNvPr id="5" name="Text 3"/>
          <p:cNvSpPr/>
          <p:nvPr/>
        </p:nvSpPr>
        <p:spPr>
          <a:xfrm>
            <a:off x="731520" y="914400"/>
            <a:ext cx="1417320" cy="274320"/>
          </a:xfrm>
          <a:prstGeom prst="rect">
            <a:avLst/>
          </a:prstGeom>
          <a:noFill/>
          <a:ln/>
        </p:spPr>
        <p:txBody>
          <a:bodyPr wrap="square" lIns="0" tIns="0" rIns="0" bIns="0" rtlCol="0" anchor="ctr">
            <a:normAutofit/>
          </a:bodyPr>
          <a:lstStyle/>
          <a:p>
            <a:pPr algn="ctr" indent="0" marL="0">
              <a:buNone/>
            </a:pPr>
            <a:r>
              <a:rPr lang="en-US" sz="1150" dirty="0">
                <a:solidFill>
                  <a:srgbClr val="657084"/>
                </a:solidFill>
                <a:latin typeface="Arial Unicode MS" pitchFamily="34" charset="0"/>
                <a:ea typeface="Arial Unicode MS" pitchFamily="34" charset="-122"/>
                <a:cs typeface="Arial Unicode MS" pitchFamily="34" charset="-120"/>
              </a:rPr>
              <a:t>IM24-001 조회</a:t>
            </a:r>
            <a:endParaRPr lang="en-US" sz="1150" dirty="0"/>
          </a:p>
        </p:txBody>
      </p:sp>
      <p:sp>
        <p:nvSpPr>
          <p:cNvPr id="6" name="Shape 4"/>
          <p:cNvSpPr/>
          <p:nvPr/>
        </p:nvSpPr>
        <p:spPr>
          <a:xfrm>
            <a:off x="731520" y="1298448"/>
            <a:ext cx="1417320" cy="914400"/>
          </a:xfrm>
          <a:prstGeom prst="roundRect">
            <a:avLst>
              <a:gd name="adj" fmla="val 12000"/>
            </a:avLst>
          </a:prstGeom>
          <a:solidFill>
            <a:srgbClr val="EFF4FF"/>
          </a:solidFill>
          <a:ln w="15240">
            <a:solidFill>
              <a:srgbClr val="2C63E7"/>
            </a:solidFill>
            <a:prstDash val="solid"/>
          </a:ln>
        </p:spPr>
      </p:sp>
      <p:sp>
        <p:nvSpPr>
          <p:cNvPr id="7" name="Text 5"/>
          <p:cNvSpPr/>
          <p:nvPr/>
        </p:nvSpPr>
        <p:spPr>
          <a:xfrm>
            <a:off x="731520" y="1325880"/>
            <a:ext cx="1417320" cy="566928"/>
          </a:xfrm>
          <a:prstGeom prst="rect">
            <a:avLst/>
          </a:prstGeom>
          <a:noFill/>
          <a:ln/>
        </p:spPr>
        <p:txBody>
          <a:bodyPr wrap="square" lIns="0" tIns="0" rIns="0" bIns="0" rtlCol="0" anchor="ctr">
            <a:normAutofit/>
          </a:bodyPr>
          <a:lstStyle/>
          <a:p>
            <a:pPr algn="ctr" indent="0" marL="0">
              <a:buNone/>
            </a:pPr>
            <a:r>
              <a:rPr lang="en-US" sz="3400" b="1" dirty="0">
                <a:solidFill>
                  <a:srgbClr val="123C88"/>
                </a:solidFill>
                <a:latin typeface="Arial Unicode MS" pitchFamily="34" charset="0"/>
                <a:ea typeface="Arial Unicode MS" pitchFamily="34" charset="-122"/>
                <a:cs typeface="Arial Unicode MS" pitchFamily="34" charset="-120"/>
              </a:rPr>
              <a:t>100</a:t>
            </a:r>
            <a:endParaRPr lang="en-US" sz="3400" dirty="0"/>
          </a:p>
        </p:txBody>
      </p:sp>
      <p:sp>
        <p:nvSpPr>
          <p:cNvPr id="8" name="Text 6"/>
          <p:cNvSpPr/>
          <p:nvPr/>
        </p:nvSpPr>
        <p:spPr>
          <a:xfrm>
            <a:off x="731520" y="1874520"/>
            <a:ext cx="1417320" cy="182880"/>
          </a:xfrm>
          <a:prstGeom prst="rect">
            <a:avLst/>
          </a:prstGeom>
          <a:noFill/>
          <a:ln/>
        </p:spPr>
        <p:txBody>
          <a:bodyPr wrap="square" lIns="0" tIns="0" rIns="0" bIns="0" rtlCol="0" anchor="ctr">
            <a:normAutofit/>
          </a:bodyPr>
          <a:lstStyle/>
          <a:p>
            <a:pPr algn="ctr" indent="0" marL="0">
              <a:buNone/>
            </a:pPr>
            <a:r>
              <a:rPr lang="en-US" sz="950" dirty="0">
                <a:solidFill>
                  <a:srgbClr val="657084"/>
                </a:solidFill>
                <a:latin typeface="Arial Unicode MS" pitchFamily="34" charset="0"/>
                <a:ea typeface="Arial Unicode MS" pitchFamily="34" charset="-122"/>
                <a:cs typeface="Arial Unicode MS" pitchFamily="34" charset="-120"/>
              </a:rPr>
              <a:t>재고</a:t>
            </a:r>
            <a:endParaRPr lang="en-US" sz="950" dirty="0"/>
          </a:p>
        </p:txBody>
      </p:sp>
      <p:sp>
        <p:nvSpPr>
          <p:cNvPr id="9" name="Shape 7"/>
          <p:cNvSpPr/>
          <p:nvPr/>
        </p:nvSpPr>
        <p:spPr>
          <a:xfrm>
            <a:off x="2304288" y="1755648"/>
            <a:ext cx="1024128" cy="0"/>
          </a:xfrm>
          <a:prstGeom prst="line">
            <a:avLst/>
          </a:prstGeom>
          <a:noFill/>
          <a:ln w="35560">
            <a:solidFill>
              <a:srgbClr val="F37321"/>
            </a:solidFill>
            <a:prstDash val="solid"/>
            <a:tailEnd type="triangle"/>
          </a:ln>
        </p:spPr>
      </p:sp>
      <p:sp>
        <p:nvSpPr>
          <p:cNvPr id="10" name="Text 8"/>
          <p:cNvSpPr/>
          <p:nvPr/>
        </p:nvSpPr>
        <p:spPr>
          <a:xfrm>
            <a:off x="3566160" y="914400"/>
            <a:ext cx="1417320" cy="274320"/>
          </a:xfrm>
          <a:prstGeom prst="rect">
            <a:avLst/>
          </a:prstGeom>
          <a:noFill/>
          <a:ln/>
        </p:spPr>
        <p:txBody>
          <a:bodyPr wrap="square" lIns="0" tIns="0" rIns="0" bIns="0" rtlCol="0" anchor="ctr">
            <a:normAutofit/>
          </a:bodyPr>
          <a:lstStyle/>
          <a:p>
            <a:pPr algn="ctr" indent="0" marL="0">
              <a:buNone/>
            </a:pPr>
            <a:r>
              <a:rPr lang="en-US" sz="1150" b="1" dirty="0">
                <a:solidFill>
                  <a:srgbClr val="D95514"/>
                </a:solidFill>
                <a:latin typeface="Arial Unicode MS" pitchFamily="34" charset="0"/>
                <a:ea typeface="Arial Unicode MS" pitchFamily="34" charset="-122"/>
                <a:cs typeface="Arial Unicode MS" pitchFamily="34" charset="-120"/>
              </a:rPr>
              <a:t>12 출고</a:t>
            </a:r>
            <a:endParaRPr lang="en-US" sz="1150" dirty="0"/>
          </a:p>
        </p:txBody>
      </p:sp>
      <p:sp>
        <p:nvSpPr>
          <p:cNvPr id="11" name="Shape 9"/>
          <p:cNvSpPr/>
          <p:nvPr/>
        </p:nvSpPr>
        <p:spPr>
          <a:xfrm>
            <a:off x="3566160" y="1298448"/>
            <a:ext cx="1417320" cy="914400"/>
          </a:xfrm>
          <a:prstGeom prst="roundRect">
            <a:avLst>
              <a:gd name="adj" fmla="val 12000"/>
            </a:avLst>
          </a:prstGeom>
          <a:solidFill>
            <a:srgbClr val="FFF2E6"/>
          </a:solidFill>
          <a:ln w="15240">
            <a:solidFill>
              <a:srgbClr val="F37321"/>
            </a:solidFill>
            <a:prstDash val="solid"/>
          </a:ln>
        </p:spPr>
      </p:sp>
      <p:sp>
        <p:nvSpPr>
          <p:cNvPr id="12" name="Text 10"/>
          <p:cNvSpPr/>
          <p:nvPr/>
        </p:nvSpPr>
        <p:spPr>
          <a:xfrm>
            <a:off x="3566160" y="1325880"/>
            <a:ext cx="1417320" cy="566928"/>
          </a:xfrm>
          <a:prstGeom prst="rect">
            <a:avLst/>
          </a:prstGeom>
          <a:noFill/>
          <a:ln/>
        </p:spPr>
        <p:txBody>
          <a:bodyPr wrap="square" lIns="0" tIns="0" rIns="0" bIns="0" rtlCol="0" anchor="ctr">
            <a:normAutofit/>
          </a:bodyPr>
          <a:lstStyle/>
          <a:p>
            <a:pPr algn="ctr" indent="0" marL="0">
              <a:buNone/>
            </a:pPr>
            <a:r>
              <a:rPr lang="en-US" sz="3400" b="1" dirty="0">
                <a:solidFill>
                  <a:srgbClr val="D95514"/>
                </a:solidFill>
                <a:latin typeface="Arial Unicode MS" pitchFamily="34" charset="0"/>
                <a:ea typeface="Arial Unicode MS" pitchFamily="34" charset="-122"/>
                <a:cs typeface="Arial Unicode MS" pitchFamily="34" charset="-120"/>
              </a:rPr>
              <a:t>88</a:t>
            </a:r>
            <a:endParaRPr lang="en-US" sz="3400" dirty="0"/>
          </a:p>
        </p:txBody>
      </p:sp>
      <p:sp>
        <p:nvSpPr>
          <p:cNvPr id="13" name="Text 11"/>
          <p:cNvSpPr/>
          <p:nvPr/>
        </p:nvSpPr>
        <p:spPr>
          <a:xfrm>
            <a:off x="3566160" y="1874520"/>
            <a:ext cx="1417320" cy="182880"/>
          </a:xfrm>
          <a:prstGeom prst="rect">
            <a:avLst/>
          </a:prstGeom>
          <a:noFill/>
          <a:ln/>
        </p:spPr>
        <p:txBody>
          <a:bodyPr wrap="square" lIns="0" tIns="0" rIns="0" bIns="0" rtlCol="0" anchor="ctr">
            <a:normAutofit/>
          </a:bodyPr>
          <a:lstStyle/>
          <a:p>
            <a:pPr algn="ctr" indent="0" marL="0">
              <a:buNone/>
            </a:pPr>
            <a:r>
              <a:rPr lang="en-US" sz="950" dirty="0">
                <a:solidFill>
                  <a:srgbClr val="657084"/>
                </a:solidFill>
                <a:latin typeface="Arial Unicode MS" pitchFamily="34" charset="0"/>
                <a:ea typeface="Arial Unicode MS" pitchFamily="34" charset="-122"/>
                <a:cs typeface="Arial Unicode MS" pitchFamily="34" charset="-120"/>
              </a:rPr>
              <a:t>잔량</a:t>
            </a:r>
            <a:endParaRPr lang="en-US" sz="950" dirty="0"/>
          </a:p>
        </p:txBody>
      </p:sp>
      <p:sp>
        <p:nvSpPr>
          <p:cNvPr id="14" name="Shape 12"/>
          <p:cNvSpPr/>
          <p:nvPr/>
        </p:nvSpPr>
        <p:spPr>
          <a:xfrm>
            <a:off x="5138928" y="1755648"/>
            <a:ext cx="1024128" cy="0"/>
          </a:xfrm>
          <a:prstGeom prst="line">
            <a:avLst/>
          </a:prstGeom>
          <a:noFill/>
          <a:ln w="35560">
            <a:solidFill>
              <a:srgbClr val="F37321"/>
            </a:solidFill>
            <a:prstDash val="solid"/>
            <a:tailEnd type="triangle"/>
          </a:ln>
        </p:spPr>
      </p:sp>
      <p:sp>
        <p:nvSpPr>
          <p:cNvPr id="15" name="Text 13"/>
          <p:cNvSpPr/>
          <p:nvPr/>
        </p:nvSpPr>
        <p:spPr>
          <a:xfrm>
            <a:off x="6400800" y="914400"/>
            <a:ext cx="1417320" cy="274320"/>
          </a:xfrm>
          <a:prstGeom prst="rect">
            <a:avLst/>
          </a:prstGeom>
          <a:noFill/>
          <a:ln/>
        </p:spPr>
        <p:txBody>
          <a:bodyPr wrap="square" lIns="0" tIns="0" rIns="0" bIns="0" rtlCol="0" anchor="ctr">
            <a:normAutofit/>
          </a:bodyPr>
          <a:lstStyle/>
          <a:p>
            <a:pPr algn="ctr" indent="0" marL="0">
              <a:buNone/>
            </a:pPr>
            <a:r>
              <a:rPr lang="en-US" sz="1150" dirty="0">
                <a:solidFill>
                  <a:srgbClr val="657084"/>
                </a:solidFill>
                <a:latin typeface="Arial Unicode MS" pitchFamily="34" charset="0"/>
                <a:ea typeface="Arial Unicode MS" pitchFamily="34" charset="-122"/>
                <a:cs typeface="Arial Unicode MS" pitchFamily="34" charset="-120"/>
              </a:rPr>
              <a:t>전체 취소</a:t>
            </a:r>
            <a:endParaRPr lang="en-US" sz="1150" dirty="0"/>
          </a:p>
        </p:txBody>
      </p:sp>
      <p:sp>
        <p:nvSpPr>
          <p:cNvPr id="16" name="Shape 14"/>
          <p:cNvSpPr/>
          <p:nvPr/>
        </p:nvSpPr>
        <p:spPr>
          <a:xfrm>
            <a:off x="6400800" y="1298448"/>
            <a:ext cx="1417320" cy="914400"/>
          </a:xfrm>
          <a:prstGeom prst="roundRect">
            <a:avLst>
              <a:gd name="adj" fmla="val 12000"/>
            </a:avLst>
          </a:prstGeom>
          <a:solidFill>
            <a:srgbClr val="EFF4FF"/>
          </a:solidFill>
          <a:ln w="15240">
            <a:solidFill>
              <a:srgbClr val="2C63E7"/>
            </a:solidFill>
            <a:prstDash val="solid"/>
          </a:ln>
        </p:spPr>
      </p:sp>
      <p:sp>
        <p:nvSpPr>
          <p:cNvPr id="17" name="Text 15"/>
          <p:cNvSpPr/>
          <p:nvPr/>
        </p:nvSpPr>
        <p:spPr>
          <a:xfrm>
            <a:off x="6400800" y="1325880"/>
            <a:ext cx="1417320" cy="566928"/>
          </a:xfrm>
          <a:prstGeom prst="rect">
            <a:avLst/>
          </a:prstGeom>
          <a:noFill/>
          <a:ln/>
        </p:spPr>
        <p:txBody>
          <a:bodyPr wrap="square" lIns="0" tIns="0" rIns="0" bIns="0" rtlCol="0" anchor="ctr">
            <a:normAutofit/>
          </a:bodyPr>
          <a:lstStyle/>
          <a:p>
            <a:pPr algn="ctr" indent="0" marL="0">
              <a:buNone/>
            </a:pPr>
            <a:r>
              <a:rPr lang="en-US" sz="3400" b="1" dirty="0">
                <a:solidFill>
                  <a:srgbClr val="123C88"/>
                </a:solidFill>
                <a:latin typeface="Arial Unicode MS" pitchFamily="34" charset="0"/>
                <a:ea typeface="Arial Unicode MS" pitchFamily="34" charset="-122"/>
                <a:cs typeface="Arial Unicode MS" pitchFamily="34" charset="-120"/>
              </a:rPr>
              <a:t>100</a:t>
            </a:r>
            <a:endParaRPr lang="en-US" sz="3400" dirty="0"/>
          </a:p>
        </p:txBody>
      </p:sp>
      <p:sp>
        <p:nvSpPr>
          <p:cNvPr id="18" name="Text 16"/>
          <p:cNvSpPr/>
          <p:nvPr/>
        </p:nvSpPr>
        <p:spPr>
          <a:xfrm>
            <a:off x="6400800" y="1874520"/>
            <a:ext cx="1417320" cy="182880"/>
          </a:xfrm>
          <a:prstGeom prst="rect">
            <a:avLst/>
          </a:prstGeom>
          <a:noFill/>
          <a:ln/>
        </p:spPr>
        <p:txBody>
          <a:bodyPr wrap="square" lIns="0" tIns="0" rIns="0" bIns="0" rtlCol="0" anchor="ctr">
            <a:normAutofit/>
          </a:bodyPr>
          <a:lstStyle/>
          <a:p>
            <a:pPr algn="ctr" indent="0" marL="0">
              <a:buNone/>
            </a:pPr>
            <a:r>
              <a:rPr lang="en-US" sz="950" dirty="0">
                <a:solidFill>
                  <a:srgbClr val="657084"/>
                </a:solidFill>
                <a:latin typeface="Arial Unicode MS" pitchFamily="34" charset="0"/>
                <a:ea typeface="Arial Unicode MS" pitchFamily="34" charset="-122"/>
                <a:cs typeface="Arial Unicode MS" pitchFamily="34" charset="-120"/>
              </a:rPr>
              <a:t>재고</a:t>
            </a:r>
            <a:endParaRPr lang="en-US" sz="950" dirty="0"/>
          </a:p>
        </p:txBody>
      </p:sp>
      <p:sp>
        <p:nvSpPr>
          <p:cNvPr id="19" name="Text 17"/>
          <p:cNvSpPr/>
          <p:nvPr/>
        </p:nvSpPr>
        <p:spPr>
          <a:xfrm>
            <a:off x="713232" y="2743200"/>
            <a:ext cx="1097280" cy="237744"/>
          </a:xfrm>
          <a:prstGeom prst="rect">
            <a:avLst/>
          </a:prstGeom>
          <a:noFill/>
          <a:ln/>
        </p:spPr>
        <p:txBody>
          <a:bodyPr wrap="square" lIns="0" tIns="0" rIns="0" bIns="0" rtlCol="0" anchor="ctr">
            <a:normAutofit/>
          </a:bodyPr>
          <a:lstStyle/>
          <a:p>
            <a:pPr algn="l" indent="0" marL="0">
              <a:buNone/>
            </a:pPr>
            <a:r>
              <a:rPr lang="en-US" sz="1100" b="1" dirty="0">
                <a:solidFill>
                  <a:srgbClr val="657084"/>
                </a:solidFill>
                <a:latin typeface="Arial Unicode MS" pitchFamily="34" charset="0"/>
                <a:ea typeface="Arial Unicode MS" pitchFamily="34" charset="-122"/>
                <a:cs typeface="Arial Unicode MS" pitchFamily="34" charset="-120"/>
              </a:rPr>
              <a:t>출고 상태</a:t>
            </a:r>
            <a:endParaRPr lang="en-US" sz="1100" dirty="0"/>
          </a:p>
        </p:txBody>
      </p:sp>
      <p:sp>
        <p:nvSpPr>
          <p:cNvPr id="20" name="Shape 18"/>
          <p:cNvSpPr/>
          <p:nvPr/>
        </p:nvSpPr>
        <p:spPr>
          <a:xfrm>
            <a:off x="1874520" y="2615184"/>
            <a:ext cx="2212848" cy="566928"/>
          </a:xfrm>
          <a:prstGeom prst="roundRect">
            <a:avLst>
              <a:gd name="adj" fmla="val 19355"/>
            </a:avLst>
          </a:prstGeom>
          <a:solidFill>
            <a:srgbClr val="123C88"/>
          </a:solidFill>
          <a:ln w="7620">
            <a:solidFill>
              <a:srgbClr val="123C88"/>
            </a:solidFill>
            <a:prstDash val="solid"/>
          </a:ln>
        </p:spPr>
      </p:sp>
      <p:sp>
        <p:nvSpPr>
          <p:cNvPr id="21" name="Text 19"/>
          <p:cNvSpPr/>
          <p:nvPr/>
        </p:nvSpPr>
        <p:spPr>
          <a:xfrm>
            <a:off x="1874520" y="2615184"/>
            <a:ext cx="2212848" cy="56692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Unicode MS" pitchFamily="34" charset="0"/>
                <a:ea typeface="Arial Unicode MS" pitchFamily="34" charset="-122"/>
                <a:cs typeface="Arial Unicode MS" pitchFamily="34" charset="-120"/>
              </a:rPr>
              <a:t>COMPLETED</a:t>
            </a:r>
            <a:endParaRPr lang="en-US" sz="1700" dirty="0"/>
          </a:p>
        </p:txBody>
      </p:sp>
      <p:sp>
        <p:nvSpPr>
          <p:cNvPr id="22" name="Shape 20"/>
          <p:cNvSpPr/>
          <p:nvPr/>
        </p:nvSpPr>
        <p:spPr>
          <a:xfrm>
            <a:off x="4315968" y="2898648"/>
            <a:ext cx="1097280" cy="0"/>
          </a:xfrm>
          <a:prstGeom prst="line">
            <a:avLst/>
          </a:prstGeom>
          <a:noFill/>
          <a:ln w="31750">
            <a:solidFill>
              <a:srgbClr val="F37321"/>
            </a:solidFill>
            <a:prstDash val="solid"/>
            <a:tailEnd type="triangle"/>
          </a:ln>
        </p:spPr>
      </p:sp>
      <p:sp>
        <p:nvSpPr>
          <p:cNvPr id="23" name="Shape 21"/>
          <p:cNvSpPr/>
          <p:nvPr/>
        </p:nvSpPr>
        <p:spPr>
          <a:xfrm>
            <a:off x="5650992" y="2615184"/>
            <a:ext cx="2212848" cy="566928"/>
          </a:xfrm>
          <a:prstGeom prst="roundRect">
            <a:avLst>
              <a:gd name="adj" fmla="val 19355"/>
            </a:avLst>
          </a:prstGeom>
          <a:solidFill>
            <a:srgbClr val="13866B"/>
          </a:solidFill>
          <a:ln w="7620">
            <a:solidFill>
              <a:srgbClr val="13866B"/>
            </a:solidFill>
            <a:prstDash val="solid"/>
          </a:ln>
        </p:spPr>
      </p:sp>
      <p:sp>
        <p:nvSpPr>
          <p:cNvPr id="24" name="Text 22"/>
          <p:cNvSpPr/>
          <p:nvPr/>
        </p:nvSpPr>
        <p:spPr>
          <a:xfrm>
            <a:off x="5650992" y="2615184"/>
            <a:ext cx="2212848" cy="566928"/>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latin typeface="Arial Unicode MS" pitchFamily="34" charset="0"/>
                <a:ea typeface="Arial Unicode MS" pitchFamily="34" charset="-122"/>
                <a:cs typeface="Arial Unicode MS" pitchFamily="34" charset="-120"/>
              </a:rPr>
              <a:t>CANCELED</a:t>
            </a:r>
            <a:endParaRPr lang="en-US" sz="1700" dirty="0"/>
          </a:p>
        </p:txBody>
      </p:sp>
      <p:sp>
        <p:nvSpPr>
          <p:cNvPr id="25" name="Shape 23"/>
          <p:cNvSpPr/>
          <p:nvPr/>
        </p:nvSpPr>
        <p:spPr>
          <a:xfrm>
            <a:off x="2971800" y="3227832"/>
            <a:ext cx="0" cy="365760"/>
          </a:xfrm>
          <a:prstGeom prst="line">
            <a:avLst/>
          </a:prstGeom>
          <a:noFill/>
          <a:ln w="19050">
            <a:solidFill>
              <a:srgbClr val="DC3A32"/>
            </a:solidFill>
            <a:prstDash val="solid"/>
            <a:tailEnd type="triangle"/>
          </a:ln>
        </p:spPr>
      </p:sp>
      <p:sp>
        <p:nvSpPr>
          <p:cNvPr id="26" name="Shape 24"/>
          <p:cNvSpPr/>
          <p:nvPr/>
        </p:nvSpPr>
        <p:spPr>
          <a:xfrm>
            <a:off x="1920240" y="3657600"/>
            <a:ext cx="5943600" cy="530352"/>
          </a:xfrm>
          <a:prstGeom prst="roundRect">
            <a:avLst>
              <a:gd name="adj" fmla="val 13793"/>
            </a:avLst>
          </a:prstGeom>
          <a:solidFill>
            <a:srgbClr val="FDEDEC"/>
          </a:solidFill>
          <a:ln w="15240">
            <a:solidFill>
              <a:srgbClr val="DC3A32"/>
            </a:solidFill>
            <a:prstDash val="solid"/>
          </a:ln>
        </p:spPr>
      </p:sp>
      <p:sp>
        <p:nvSpPr>
          <p:cNvPr id="27" name="Text 25"/>
          <p:cNvSpPr/>
          <p:nvPr/>
        </p:nvSpPr>
        <p:spPr>
          <a:xfrm>
            <a:off x="2121408" y="3657600"/>
            <a:ext cx="5559552" cy="530352"/>
          </a:xfrm>
          <a:prstGeom prst="rect">
            <a:avLst/>
          </a:prstGeom>
          <a:noFill/>
          <a:ln/>
        </p:spPr>
        <p:txBody>
          <a:bodyPr wrap="square" lIns="0" tIns="0" rIns="0" bIns="0" rtlCol="0" anchor="ctr">
            <a:normAutofit/>
          </a:bodyPr>
          <a:lstStyle/>
          <a:p>
            <a:pPr algn="ctr" indent="0" marL="0">
              <a:buNone/>
            </a:pPr>
            <a:r>
              <a:rPr lang="en-US" sz="1400" b="1" dirty="0">
                <a:solidFill>
                  <a:srgbClr val="DC3A32"/>
                </a:solidFill>
                <a:latin typeface="Arial Unicode MS" pitchFamily="34" charset="0"/>
                <a:ea typeface="Arial Unicode MS" pitchFamily="34" charset="-122"/>
                <a:cs typeface="Arial Unicode MS" pitchFamily="34" charset="-120"/>
              </a:rPr>
              <a:t>실패 요청 → 레코드 없음 · 재고 불변</a:t>
            </a:r>
            <a:endParaRPr lang="en-US" sz="1400" dirty="0"/>
          </a:p>
        </p:txBody>
      </p:sp>
      <p:sp>
        <p:nvSpPr>
          <p:cNvPr id="28" name="Text 26"/>
          <p:cNvSpPr/>
          <p:nvPr/>
        </p:nvSpPr>
        <p:spPr>
          <a:xfrm>
            <a:off x="2103120" y="4224528"/>
            <a:ext cx="5577840" cy="210312"/>
          </a:xfrm>
          <a:prstGeom prst="rect">
            <a:avLst/>
          </a:prstGeom>
          <a:noFill/>
          <a:ln/>
        </p:spPr>
        <p:txBody>
          <a:bodyPr wrap="square" lIns="0" tIns="0" rIns="0" bIns="0" rtlCol="0" anchor="ctr">
            <a:normAutofit/>
          </a:bodyPr>
          <a:lstStyle/>
          <a:p>
            <a:pPr algn="ctr" indent="0" marL="0">
              <a:buNone/>
            </a:pPr>
            <a:r>
              <a:rPr lang="en-US" sz="1050" dirty="0">
                <a:solidFill>
                  <a:srgbClr val="657084"/>
                </a:solidFill>
                <a:latin typeface="Arial Unicode MS" pitchFamily="34" charset="0"/>
                <a:ea typeface="Arial Unicode MS" pitchFamily="34" charset="-122"/>
                <a:cs typeface="Arial Unicode MS" pitchFamily="34" charset="-120"/>
              </a:rPr>
              <a:t>PENDING 없음  ·  부분 취소 없음  ·  CANCELED는 종결</a:t>
            </a:r>
            <a:endParaRPr lang="en-US" sz="1050" dirty="0"/>
          </a:p>
        </p:txBody>
      </p:sp>
      <p:sp>
        <p:nvSpPr>
          <p:cNvPr id="29" name="Shape 27"/>
          <p:cNvSpPr/>
          <p:nvPr/>
        </p:nvSpPr>
        <p:spPr>
          <a:xfrm>
            <a:off x="411480" y="4681728"/>
            <a:ext cx="8321040" cy="0"/>
          </a:xfrm>
          <a:prstGeom prst="line">
            <a:avLst/>
          </a:prstGeom>
          <a:noFill/>
          <a:ln w="8890">
            <a:solidFill>
              <a:srgbClr val="D8DEE8"/>
            </a:solidFill>
            <a:prstDash val="solid"/>
          </a:ln>
        </p:spPr>
      </p:sp>
      <p:sp>
        <p:nvSpPr>
          <p:cNvPr id="30" name="Text 28"/>
          <p:cNvSpPr/>
          <p:nvPr/>
        </p:nvSpPr>
        <p:spPr>
          <a:xfrm>
            <a:off x="438912" y="4736592"/>
            <a:ext cx="5074920" cy="219456"/>
          </a:xfrm>
          <a:prstGeom prst="rect">
            <a:avLst/>
          </a:prstGeom>
          <a:noFill/>
          <a:ln/>
        </p:spPr>
        <p:txBody>
          <a:bodyPr wrap="square" lIns="0" tIns="0" rIns="0" bIns="0" rtlCol="0" anchor="ctr">
            <a:normAutofit/>
          </a:bodyPr>
          <a:lstStyle/>
          <a:p>
            <a:pPr algn="l" indent="0" marL="0">
              <a:buNone/>
            </a:pPr>
            <a:r>
              <a:rPr lang="en-US" sz="850" dirty="0">
                <a:solidFill>
                  <a:srgbClr val="657084"/>
                </a:solidFill>
                <a:latin typeface="Arial Unicode MS" pitchFamily="34" charset="0"/>
                <a:ea typeface="Arial Unicode MS" pitchFamily="34" charset="-122"/>
                <a:cs typeface="Arial Unicode MS" pitchFamily="34" charset="-120"/>
              </a:rPr>
              <a:t>SPEC §3–5 · AC-08/11/12</a:t>
            </a:r>
            <a:endParaRPr lang="en-US" sz="850" dirty="0"/>
          </a:p>
        </p:txBody>
      </p:sp>
      <p:sp>
        <p:nvSpPr>
          <p:cNvPr id="31" name="Text 29"/>
          <p:cNvSpPr/>
          <p:nvPr/>
        </p:nvSpPr>
        <p:spPr>
          <a:xfrm>
            <a:off x="5715000" y="4736592"/>
            <a:ext cx="2606040" cy="219456"/>
          </a:xfrm>
          <a:prstGeom prst="rect">
            <a:avLst/>
          </a:prstGeom>
          <a:noFill/>
          <a:ln/>
        </p:spPr>
        <p:txBody>
          <a:bodyPr wrap="square" lIns="0" tIns="0" rIns="0" bIns="0" rtlCol="0" anchor="ctr">
            <a:normAutofit/>
          </a:bodyPr>
          <a:lstStyle/>
          <a:p>
            <a:pPr algn="r" indent="0" marL="0">
              <a:buNone/>
            </a:pPr>
            <a:r>
              <a:rPr lang="en-US" sz="850" dirty="0">
                <a:solidFill>
                  <a:srgbClr val="123C88"/>
                </a:solidFill>
                <a:latin typeface="Arial Unicode MS" pitchFamily="34" charset="0"/>
                <a:ea typeface="Arial Unicode MS" pitchFamily="34" charset="-122"/>
                <a:cs typeface="Arial Unicode MS" pitchFamily="34" charset="-120"/>
              </a:rPr>
              <a:t>Agent AI for Work · Solution → PPT</a:t>
            </a:r>
            <a:endParaRPr lang="en-US" sz="850" dirty="0"/>
          </a:p>
        </p:txBody>
      </p:sp>
      <p:sp>
        <p:nvSpPr>
          <p:cNvPr id="32" name="Text 30"/>
          <p:cNvSpPr/>
          <p:nvPr/>
        </p:nvSpPr>
        <p:spPr>
          <a:xfrm>
            <a:off x="8458200" y="4736592"/>
            <a:ext cx="256032" cy="219456"/>
          </a:xfrm>
          <a:prstGeom prst="rect">
            <a:avLst/>
          </a:prstGeom>
          <a:noFill/>
          <a:ln/>
        </p:spPr>
        <p:txBody>
          <a:bodyPr wrap="square" lIns="0" tIns="0" rIns="0" bIns="0" rtlCol="0" anchor="ctr">
            <a:normAutofit/>
          </a:bodyPr>
          <a:lstStyle/>
          <a:p>
            <a:pPr algn="r" indent="0" marL="0">
              <a:buNone/>
            </a:pPr>
            <a:r>
              <a:rPr lang="en-US" sz="900" b="1" dirty="0">
                <a:solidFill>
                  <a:srgbClr val="123C88"/>
                </a:solidFill>
                <a:latin typeface="Arial Unicode MS" pitchFamily="34" charset="0"/>
                <a:ea typeface="Arial Unicode MS" pitchFamily="34" charset="-122"/>
                <a:cs typeface="Arial Unicode M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F37321"/>
          </a:solidFill>
          <a:ln w="7620">
            <a:solidFill>
              <a:srgbClr val="F37321"/>
            </a:solidFill>
            <a:prstDash val="solid"/>
          </a:ln>
        </p:spPr>
      </p:sp>
      <p:sp>
        <p:nvSpPr>
          <p:cNvPr id="3" name="Text 1"/>
          <p:cNvSpPr/>
          <p:nvPr/>
        </p:nvSpPr>
        <p:spPr>
          <a:xfrm>
            <a:off x="438912" y="73152"/>
            <a:ext cx="1234440" cy="384048"/>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rial Unicode MS" pitchFamily="34" charset="0"/>
                <a:ea typeface="Arial Unicode MS" pitchFamily="34" charset="-122"/>
                <a:cs typeface="Arial Unicode MS" pitchFamily="34" charset="-120"/>
              </a:rPr>
              <a:t>03 | 안전 조건</a:t>
            </a:r>
            <a:endParaRPr lang="en-US" sz="1200" dirty="0"/>
          </a:p>
        </p:txBody>
      </p:sp>
      <p:sp>
        <p:nvSpPr>
          <p:cNvPr id="4" name="Text 2"/>
          <p:cNvSpPr/>
          <p:nvPr/>
        </p:nvSpPr>
        <p:spPr>
          <a:xfrm>
            <a:off x="1755648" y="64008"/>
            <a:ext cx="6931152" cy="402336"/>
          </a:xfrm>
          <a:prstGeom prst="rect">
            <a:avLst/>
          </a:prstGeom>
          <a:noFill/>
          <a:ln/>
        </p:spPr>
        <p:txBody>
          <a:bodyPr wrap="square" lIns="0" tIns="0" rIns="0" bIns="0" rtlCol="0" anchor="ctr">
            <a:normAutofit/>
          </a:bodyPr>
          <a:lstStyle/>
          <a:p>
            <a:pPr algn="l" indent="0" marL="0">
              <a:buNone/>
            </a:pPr>
            <a:r>
              <a:rPr lang="en-US" sz="2000" b="1" dirty="0">
                <a:solidFill>
                  <a:srgbClr val="FFFFFF"/>
                </a:solidFill>
                <a:latin typeface="Arial Unicode MS" pitchFamily="34" charset="0"/>
                <a:ea typeface="Arial Unicode MS" pitchFamily="34" charset="-122"/>
                <a:cs typeface="Arial Unicode MS" pitchFamily="34" charset="-120"/>
              </a:rPr>
              <a:t>정상 흐름보다 네 불변조건을 먼저 지켰습니다</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4360" y="1024128"/>
          <a:ext cx="7955280" cy="2706624"/>
        </p:xfrm>
        <a:graphic>
          <a:graphicData uri="http://schemas.openxmlformats.org/drawingml/2006/table">
            <a:tbl>
              <a:tblPr/>
              <a:tblGrid>
                <a:gridCol w="1417320"/>
                <a:gridCol w="2240280"/>
                <a:gridCol w="2240280"/>
                <a:gridCol w="1097280"/>
              </a:tblGrid>
              <a:tr h="457200">
                <a:tc>
                  <a:txBody>
                    <a:bodyPr/>
                    <a:lstStyle/>
                    <a:p>
                      <a:pPr algn="ctr" indent="0" marL="0">
                        <a:buNone/>
                      </a:pPr>
                      <a:r>
                        <a:rPr lang="en-US" sz="1250" b="1" dirty="0">
                          <a:solidFill>
                            <a:srgbClr val="FFFFFF"/>
                          </a:solidFill>
                          <a:latin typeface="Arial Unicode MS" pitchFamily="34" charset="0"/>
                          <a:ea typeface="Arial Unicode MS" pitchFamily="34" charset="-122"/>
                          <a:cs typeface="Arial Unicode MS" pitchFamily="34" charset="-120"/>
                        </a:rPr>
                        <a:t>요청</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123C88"/>
                    </a:solidFill>
                  </a:tcPr>
                </a:tc>
                <a:tc>
                  <a:txBody>
                    <a:bodyPr/>
                    <a:lstStyle/>
                    <a:p>
                      <a:pPr algn="ctr" indent="0" marL="0">
                        <a:buNone/>
                      </a:pPr>
                      <a:r>
                        <a:rPr lang="en-US" sz="1250" b="1" dirty="0">
                          <a:solidFill>
                            <a:srgbClr val="FFFFFF"/>
                          </a:solidFill>
                          <a:latin typeface="Arial Unicode MS" pitchFamily="34" charset="0"/>
                          <a:ea typeface="Arial Unicode MS" pitchFamily="34" charset="-122"/>
                          <a:cs typeface="Arial Unicode MS" pitchFamily="34" charset="-120"/>
                        </a:rPr>
                        <a:t>거부 조건</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123C88"/>
                    </a:solidFill>
                  </a:tcPr>
                </a:tc>
                <a:tc>
                  <a:txBody>
                    <a:bodyPr/>
                    <a:lstStyle/>
                    <a:p>
                      <a:pPr algn="ctr" indent="0" marL="0">
                        <a:buNone/>
                      </a:pPr>
                      <a:r>
                        <a:rPr lang="en-US" sz="1250" b="1" dirty="0">
                          <a:solidFill>
                            <a:srgbClr val="FFFFFF"/>
                          </a:solidFill>
                          <a:latin typeface="Arial Unicode MS" pitchFamily="34" charset="0"/>
                          <a:ea typeface="Arial Unicode MS" pitchFamily="34" charset="-122"/>
                          <a:cs typeface="Arial Unicode MS" pitchFamily="34" charset="-120"/>
                        </a:rPr>
                        <a:t>실패 후 결과</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123C88"/>
                    </a:solidFill>
                  </a:tcPr>
                </a:tc>
                <a:tc>
                  <a:txBody>
                    <a:bodyPr/>
                    <a:lstStyle/>
                    <a:p>
                      <a:pPr algn="ctr" indent="0" marL="0">
                        <a:buNone/>
                      </a:pPr>
                      <a:r>
                        <a:rPr lang="en-US" sz="1250" b="1" dirty="0">
                          <a:solidFill>
                            <a:srgbClr val="FFFFFF"/>
                          </a:solidFill>
                          <a:latin typeface="Arial Unicode MS" pitchFamily="34" charset="0"/>
                          <a:ea typeface="Arial Unicode MS" pitchFamily="34" charset="-122"/>
                          <a:cs typeface="Arial Unicode MS" pitchFamily="34" charset="-120"/>
                        </a:rPr>
                        <a:t>판정</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123C88"/>
                    </a:solidFill>
                  </a:tcPr>
                </a:tc>
              </a:tr>
              <a:tr h="530352">
                <a:tc>
                  <a:txBody>
                    <a:bodyPr/>
                    <a:lstStyle/>
                    <a:p>
                      <a:pPr algn="ctr" indent="0" marL="0">
                        <a:buNone/>
                      </a:pPr>
                      <a:r>
                        <a:rPr lang="en-US" sz="1250" b="1" dirty="0">
                          <a:solidFill>
                            <a:srgbClr val="1F2937"/>
                          </a:solidFill>
                          <a:latin typeface="Arial Unicode MS" pitchFamily="34" charset="0"/>
                          <a:ea typeface="Arial Unicode MS" pitchFamily="34" charset="-122"/>
                          <a:cs typeface="Arial Unicode MS" pitchFamily="34" charset="-120"/>
                        </a:rPr>
                        <a:t>0 · 음수</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7"/>
                          </a:solidFill>
                          <a:latin typeface="Arial Unicode MS" pitchFamily="34" charset="0"/>
                          <a:ea typeface="Arial Unicode MS" pitchFamily="34" charset="-122"/>
                          <a:cs typeface="Arial Unicode MS" pitchFamily="34" charset="-120"/>
                        </a:rPr>
                        <a:t>수량은 1 이상</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3866B"/>
                          </a:solidFill>
                          <a:latin typeface="Arial Unicode MS" pitchFamily="34" charset="0"/>
                          <a:ea typeface="Arial Unicode MS" pitchFamily="34" charset="-122"/>
                          <a:cs typeface="Arial Unicode MS" pitchFamily="34" charset="-120"/>
                        </a:rPr>
                        <a:t>재고·이력 불변</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Arial Unicode MS" pitchFamily="34" charset="0"/>
                          <a:ea typeface="Arial Unicode MS" pitchFamily="34" charset="-122"/>
                          <a:cs typeface="Arial Unicode MS" pitchFamily="34" charset="-120"/>
                        </a:rPr>
                        <a:t>AC-03</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FFFFFF"/>
                    </a:solidFill>
                  </a:tcPr>
                </a:tc>
              </a:tr>
              <a:tr h="530352">
                <a:tc>
                  <a:txBody>
                    <a:bodyPr/>
                    <a:lstStyle/>
                    <a:p>
                      <a:pPr algn="ctr" indent="0" marL="0">
                        <a:buNone/>
                      </a:pPr>
                      <a:r>
                        <a:rPr lang="en-US" sz="1250" b="1" dirty="0">
                          <a:solidFill>
                            <a:srgbClr val="1F2937"/>
                          </a:solidFill>
                          <a:latin typeface="Arial Unicode MS" pitchFamily="34" charset="0"/>
                          <a:ea typeface="Arial Unicode MS" pitchFamily="34" charset="-122"/>
                          <a:cs typeface="Arial Unicode MS" pitchFamily="34" charset="-120"/>
                        </a:rPr>
                        <a:t>재고 8 / 요청 9</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F7F8FA"/>
                    </a:solidFill>
                  </a:tcPr>
                </a:tc>
                <a:tc>
                  <a:txBody>
                    <a:bodyPr/>
                    <a:lstStyle/>
                    <a:p>
                      <a:pPr algn="l" indent="0" marL="0">
                        <a:buNone/>
                      </a:pPr>
                      <a:r>
                        <a:rPr lang="en-US" sz="1250" dirty="0">
                          <a:solidFill>
                            <a:srgbClr val="1F2937"/>
                          </a:solidFill>
                          <a:latin typeface="Arial Unicode MS" pitchFamily="34" charset="0"/>
                          <a:ea typeface="Arial Unicode MS" pitchFamily="34" charset="-122"/>
                          <a:cs typeface="Arial Unicode MS" pitchFamily="34" charset="-120"/>
                        </a:rPr>
                        <a:t>가용 재고 초과</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F7F8FA"/>
                    </a:solidFill>
                  </a:tcPr>
                </a:tc>
                <a:tc>
                  <a:txBody>
                    <a:bodyPr/>
                    <a:lstStyle/>
                    <a:p>
                      <a:pPr algn="ctr" indent="0" marL="0">
                        <a:buNone/>
                      </a:pPr>
                      <a:r>
                        <a:rPr lang="en-US" sz="1250" b="1" dirty="0">
                          <a:solidFill>
                            <a:srgbClr val="13866B"/>
                          </a:solidFill>
                          <a:latin typeface="Arial Unicode MS" pitchFamily="34" charset="0"/>
                          <a:ea typeface="Arial Unicode MS" pitchFamily="34" charset="-122"/>
                          <a:cs typeface="Arial Unicode MS" pitchFamily="34" charset="-120"/>
                        </a:rPr>
                        <a:t>재고 8 유지</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F7F8FA"/>
                    </a:solidFill>
                  </a:tcPr>
                </a:tc>
                <a:tc>
                  <a:txBody>
                    <a:bodyPr/>
                    <a:lstStyle/>
                    <a:p>
                      <a:pPr algn="ctr" indent="0" marL="0">
                        <a:buNone/>
                      </a:pPr>
                      <a:r>
                        <a:rPr lang="en-US" sz="1250" dirty="0">
                          <a:solidFill>
                            <a:srgbClr val="1F2937"/>
                          </a:solidFill>
                          <a:latin typeface="Arial Unicode MS" pitchFamily="34" charset="0"/>
                          <a:ea typeface="Arial Unicode MS" pitchFamily="34" charset="-122"/>
                          <a:cs typeface="Arial Unicode MS" pitchFamily="34" charset="-120"/>
                        </a:rPr>
                        <a:t>AC-05·09</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F7F8FA"/>
                    </a:solidFill>
                  </a:tcPr>
                </a:tc>
              </a:tr>
              <a:tr h="530352">
                <a:tc>
                  <a:txBody>
                    <a:bodyPr/>
                    <a:lstStyle/>
                    <a:p>
                      <a:pPr algn="ctr" indent="0" marL="0">
                        <a:buNone/>
                      </a:pPr>
                      <a:r>
                        <a:rPr lang="en-US" sz="1250" b="1" dirty="0">
                          <a:solidFill>
                            <a:srgbClr val="1F2937"/>
                          </a:solidFill>
                          <a:latin typeface="Arial Unicode MS" pitchFamily="34" charset="0"/>
                          <a:ea typeface="Arial Unicode MS" pitchFamily="34" charset="-122"/>
                          <a:cs typeface="Arial Unicode MS" pitchFamily="34" charset="-120"/>
                        </a:rPr>
                        <a:t>같은 request_id</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F2937"/>
                          </a:solidFill>
                          <a:latin typeface="Arial Unicode MS" pitchFamily="34" charset="0"/>
                          <a:ea typeface="Arial Unicode MS" pitchFamily="34" charset="-122"/>
                          <a:cs typeface="Arial Unicode MS" pitchFamily="34" charset="-120"/>
                        </a:rPr>
                        <a:t>성공 번호 재사용</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3866B"/>
                          </a:solidFill>
                          <a:latin typeface="Arial Unicode MS" pitchFamily="34" charset="0"/>
                          <a:ea typeface="Arial Unicode MS" pitchFamily="34" charset="-122"/>
                          <a:cs typeface="Arial Unicode MS" pitchFamily="34" charset="-120"/>
                        </a:rPr>
                        <a:t>차감 1회</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Arial Unicode MS" pitchFamily="34" charset="0"/>
                          <a:ea typeface="Arial Unicode MS" pitchFamily="34" charset="-122"/>
                          <a:cs typeface="Arial Unicode MS" pitchFamily="34" charset="-120"/>
                        </a:rPr>
                        <a:t>AC-10</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FFFFFF"/>
                    </a:solidFill>
                  </a:tcPr>
                </a:tc>
              </a:tr>
              <a:tr h="530352">
                <a:tc>
                  <a:txBody>
                    <a:bodyPr/>
                    <a:lstStyle/>
                    <a:p>
                      <a:pPr algn="ctr" indent="0" marL="0">
                        <a:buNone/>
                      </a:pPr>
                      <a:r>
                        <a:rPr lang="en-US" sz="1250" b="1" dirty="0">
                          <a:solidFill>
                            <a:srgbClr val="1F2937"/>
                          </a:solidFill>
                          <a:latin typeface="Arial Unicode MS" pitchFamily="34" charset="0"/>
                          <a:ea typeface="Arial Unicode MS" pitchFamily="34" charset="-122"/>
                          <a:cs typeface="Arial Unicode MS" pitchFamily="34" charset="-120"/>
                        </a:rPr>
                        <a:t>CANCELED 재취소</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F7F8FA"/>
                    </a:solidFill>
                  </a:tcPr>
                </a:tc>
                <a:tc>
                  <a:txBody>
                    <a:bodyPr/>
                    <a:lstStyle/>
                    <a:p>
                      <a:pPr algn="l" indent="0" marL="0">
                        <a:buNone/>
                      </a:pPr>
                      <a:r>
                        <a:rPr lang="en-US" sz="1250" dirty="0">
                          <a:solidFill>
                            <a:srgbClr val="1F2937"/>
                          </a:solidFill>
                          <a:latin typeface="Arial Unicode MS" pitchFamily="34" charset="0"/>
                          <a:ea typeface="Arial Unicode MS" pitchFamily="34" charset="-122"/>
                          <a:cs typeface="Arial Unicode MS" pitchFamily="34" charset="-120"/>
                        </a:rPr>
                        <a:t>종결 상태</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F7F8FA"/>
                    </a:solidFill>
                  </a:tcPr>
                </a:tc>
                <a:tc>
                  <a:txBody>
                    <a:bodyPr/>
                    <a:lstStyle/>
                    <a:p>
                      <a:pPr algn="ctr" indent="0" marL="0">
                        <a:buNone/>
                      </a:pPr>
                      <a:r>
                        <a:rPr lang="en-US" sz="1250" b="1" dirty="0">
                          <a:solidFill>
                            <a:srgbClr val="13866B"/>
                          </a:solidFill>
                          <a:latin typeface="Arial Unicode MS" pitchFamily="34" charset="0"/>
                          <a:ea typeface="Arial Unicode MS" pitchFamily="34" charset="-122"/>
                          <a:cs typeface="Arial Unicode MS" pitchFamily="34" charset="-120"/>
                        </a:rPr>
                        <a:t>재고 불변</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F7F8FA"/>
                    </a:solidFill>
                  </a:tcPr>
                </a:tc>
                <a:tc>
                  <a:txBody>
                    <a:bodyPr/>
                    <a:lstStyle/>
                    <a:p>
                      <a:pPr algn="ctr" indent="0" marL="0">
                        <a:buNone/>
                      </a:pPr>
                      <a:r>
                        <a:rPr lang="en-US" sz="1250" dirty="0">
                          <a:solidFill>
                            <a:srgbClr val="1F2937"/>
                          </a:solidFill>
                          <a:latin typeface="Arial Unicode MS" pitchFamily="34" charset="0"/>
                          <a:ea typeface="Arial Unicode MS" pitchFamily="34" charset="-122"/>
                          <a:cs typeface="Arial Unicode MS" pitchFamily="34" charset="-120"/>
                        </a:rPr>
                        <a:t>AC-06·12</a:t>
                      </a:r>
                      <a:endParaRPr lang="en-US" sz="1250" dirty="0">
                        <a:latin typeface="Arial Unicode MS" charset="0"/>
                        <a:ea typeface="Arial Unicode MS" charset="0"/>
                        <a:cs typeface="Arial Unicode MS" charset="0"/>
                      </a:endParaRPr>
                    </a:p>
                  </a:txBody>
                  <a:tcPr marL="73152" marR="73152" marT="73152" marB="73152" anchor="mid">
                    <a:lnL w="10160" cap="flat" cmpd="sng" algn="ctr">
                      <a:solidFill>
                        <a:srgbClr val="D8DEE8"/>
                      </a:solidFill>
                      <a:prstDash val="solid"/>
                      <a:round/>
                      <a:headEnd type="none" w="med" len="med"/>
                      <a:tailEnd type="none" w="med" len="med"/>
                    </a:lnL>
                    <a:lnR w="10160" cap="flat" cmpd="sng" algn="ctr">
                      <a:solidFill>
                        <a:srgbClr val="D8DEE8"/>
                      </a:solidFill>
                      <a:prstDash val="solid"/>
                      <a:round/>
                      <a:headEnd type="none" w="med" len="med"/>
                      <a:tailEnd type="none" w="med" len="med"/>
                    </a:lnR>
                    <a:lnT w="10160" cap="flat" cmpd="sng" algn="ctr">
                      <a:solidFill>
                        <a:srgbClr val="D8DEE8"/>
                      </a:solidFill>
                      <a:prstDash val="solid"/>
                      <a:round/>
                      <a:headEnd type="none" w="med" len="med"/>
                      <a:tailEnd type="none" w="med" len="med"/>
                    </a:lnT>
                    <a:lnB w="10160" cap="flat" cmpd="sng" algn="ctr">
                      <a:solidFill>
                        <a:srgbClr val="D8DEE8"/>
                      </a:solidFill>
                      <a:prstDash val="solid"/>
                      <a:round/>
                      <a:headEnd type="none" w="med" len="med"/>
                      <a:tailEnd type="none" w="med" len="med"/>
                    </a:lnB>
                    <a:solidFill>
                      <a:srgbClr val="F7F8FA"/>
                    </a:solidFill>
                  </a:tcPr>
                </a:tc>
              </a:tr>
            </a:tbl>
          </a:graphicData>
        </a:graphic>
      </p:graphicFrame>
      <p:sp>
        <p:nvSpPr>
          <p:cNvPr id="6" name="Shape 3"/>
          <p:cNvSpPr/>
          <p:nvPr/>
        </p:nvSpPr>
        <p:spPr>
          <a:xfrm>
            <a:off x="841248" y="3995928"/>
            <a:ext cx="7461504" cy="438912"/>
          </a:xfrm>
          <a:prstGeom prst="roundRect">
            <a:avLst>
              <a:gd name="adj" fmla="val 16667"/>
            </a:avLst>
          </a:prstGeom>
          <a:solidFill>
            <a:srgbClr val="E8F7F2"/>
          </a:solidFill>
          <a:ln w="15240">
            <a:solidFill>
              <a:srgbClr val="13866B"/>
            </a:solidFill>
            <a:prstDash val="solid"/>
          </a:ln>
        </p:spPr>
      </p:sp>
      <p:sp>
        <p:nvSpPr>
          <p:cNvPr id="7" name="Text 4"/>
          <p:cNvSpPr/>
          <p:nvPr/>
        </p:nvSpPr>
        <p:spPr>
          <a:xfrm>
            <a:off x="1051560" y="3995928"/>
            <a:ext cx="7040880" cy="438912"/>
          </a:xfrm>
          <a:prstGeom prst="rect">
            <a:avLst/>
          </a:prstGeom>
          <a:noFill/>
          <a:ln/>
        </p:spPr>
        <p:txBody>
          <a:bodyPr wrap="square" lIns="0" tIns="0" rIns="0" bIns="0" rtlCol="0" anchor="ctr">
            <a:normAutofit/>
          </a:bodyPr>
          <a:lstStyle/>
          <a:p>
            <a:pPr algn="ctr" indent="0" marL="0">
              <a:buNone/>
            </a:pPr>
            <a:r>
              <a:rPr lang="en-US" sz="1300" b="1" dirty="0">
                <a:solidFill>
                  <a:srgbClr val="13866B"/>
                </a:solidFill>
                <a:latin typeface="Arial Unicode MS" pitchFamily="34" charset="0"/>
                <a:ea typeface="Arial Unicode MS" pitchFamily="34" charset="-122"/>
                <a:cs typeface="Arial Unicode MS" pitchFamily="34" charset="-120"/>
              </a:rPr>
              <a:t>실패한 request_id는 등록되지 않아 정정 후 다시 사용할 수 있습니다.</a:t>
            </a:r>
            <a:endParaRPr lang="en-US" sz="1300" dirty="0"/>
          </a:p>
        </p:txBody>
      </p:sp>
      <p:sp>
        <p:nvSpPr>
          <p:cNvPr id="8" name="Shape 5"/>
          <p:cNvSpPr/>
          <p:nvPr/>
        </p:nvSpPr>
        <p:spPr>
          <a:xfrm>
            <a:off x="411480" y="4681728"/>
            <a:ext cx="8321040" cy="0"/>
          </a:xfrm>
          <a:prstGeom prst="line">
            <a:avLst/>
          </a:prstGeom>
          <a:noFill/>
          <a:ln w="8890">
            <a:solidFill>
              <a:srgbClr val="D8DEE8"/>
            </a:solidFill>
            <a:prstDash val="solid"/>
          </a:ln>
        </p:spPr>
      </p:sp>
      <p:sp>
        <p:nvSpPr>
          <p:cNvPr id="9" name="Text 6"/>
          <p:cNvSpPr/>
          <p:nvPr/>
        </p:nvSpPr>
        <p:spPr>
          <a:xfrm>
            <a:off x="438912" y="4736592"/>
            <a:ext cx="5074920" cy="219456"/>
          </a:xfrm>
          <a:prstGeom prst="rect">
            <a:avLst/>
          </a:prstGeom>
          <a:noFill/>
          <a:ln/>
        </p:spPr>
        <p:txBody>
          <a:bodyPr wrap="square" lIns="0" tIns="0" rIns="0" bIns="0" rtlCol="0" anchor="ctr">
            <a:normAutofit/>
          </a:bodyPr>
          <a:lstStyle/>
          <a:p>
            <a:pPr algn="l" indent="0" marL="0">
              <a:buNone/>
            </a:pPr>
            <a:r>
              <a:rPr lang="en-US" sz="850" dirty="0">
                <a:solidFill>
                  <a:srgbClr val="657084"/>
                </a:solidFill>
                <a:latin typeface="Arial Unicode MS" pitchFamily="34" charset="0"/>
                <a:ea typeface="Arial Unicode MS" pitchFamily="34" charset="-122"/>
                <a:cs typeface="Arial Unicode MS" pitchFamily="34" charset="-120"/>
              </a:rPr>
              <a:t>SPEC §4–5 · tests/test_engine.py · tests/test_service.py</a:t>
            </a:r>
            <a:endParaRPr lang="en-US" sz="850" dirty="0"/>
          </a:p>
        </p:txBody>
      </p:sp>
      <p:sp>
        <p:nvSpPr>
          <p:cNvPr id="10" name="Text 7"/>
          <p:cNvSpPr/>
          <p:nvPr/>
        </p:nvSpPr>
        <p:spPr>
          <a:xfrm>
            <a:off x="5715000" y="4736592"/>
            <a:ext cx="2606040" cy="219456"/>
          </a:xfrm>
          <a:prstGeom prst="rect">
            <a:avLst/>
          </a:prstGeom>
          <a:noFill/>
          <a:ln/>
        </p:spPr>
        <p:txBody>
          <a:bodyPr wrap="square" lIns="0" tIns="0" rIns="0" bIns="0" rtlCol="0" anchor="ctr">
            <a:normAutofit/>
          </a:bodyPr>
          <a:lstStyle/>
          <a:p>
            <a:pPr algn="r" indent="0" marL="0">
              <a:buNone/>
            </a:pPr>
            <a:r>
              <a:rPr lang="en-US" sz="850" dirty="0">
                <a:solidFill>
                  <a:srgbClr val="123C88"/>
                </a:solidFill>
                <a:latin typeface="Arial Unicode MS" pitchFamily="34" charset="0"/>
                <a:ea typeface="Arial Unicode MS" pitchFamily="34" charset="-122"/>
                <a:cs typeface="Arial Unicode MS" pitchFamily="34" charset="-120"/>
              </a:rPr>
              <a:t>Agent AI for Work · Solution → PPT</a:t>
            </a:r>
            <a:endParaRPr lang="en-US" sz="850" dirty="0"/>
          </a:p>
        </p:txBody>
      </p:sp>
      <p:sp>
        <p:nvSpPr>
          <p:cNvPr id="11" name="Text 8"/>
          <p:cNvSpPr/>
          <p:nvPr/>
        </p:nvSpPr>
        <p:spPr>
          <a:xfrm>
            <a:off x="8458200" y="4736592"/>
            <a:ext cx="256032" cy="219456"/>
          </a:xfrm>
          <a:prstGeom prst="rect">
            <a:avLst/>
          </a:prstGeom>
          <a:noFill/>
          <a:ln/>
        </p:spPr>
        <p:txBody>
          <a:bodyPr wrap="square" lIns="0" tIns="0" rIns="0" bIns="0" rtlCol="0" anchor="ctr">
            <a:normAutofit/>
          </a:bodyPr>
          <a:lstStyle/>
          <a:p>
            <a:pPr algn="r" indent="0" marL="0">
              <a:buNone/>
            </a:pPr>
            <a:r>
              <a:rPr lang="en-US" sz="900" b="1" dirty="0">
                <a:solidFill>
                  <a:srgbClr val="123C88"/>
                </a:solidFill>
                <a:latin typeface="Arial Unicode MS" pitchFamily="34" charset="0"/>
                <a:ea typeface="Arial Unicode MS" pitchFamily="34" charset="-122"/>
                <a:cs typeface="Arial Unicode M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F37321"/>
          </a:solidFill>
          <a:ln w="7620">
            <a:solidFill>
              <a:srgbClr val="F37321"/>
            </a:solidFill>
            <a:prstDash val="solid"/>
          </a:ln>
        </p:spPr>
      </p:sp>
      <p:sp>
        <p:nvSpPr>
          <p:cNvPr id="3" name="Text 1"/>
          <p:cNvSpPr/>
          <p:nvPr/>
        </p:nvSpPr>
        <p:spPr>
          <a:xfrm>
            <a:off x="438912" y="73152"/>
            <a:ext cx="1234440" cy="384048"/>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rial Unicode MS" pitchFamily="34" charset="0"/>
                <a:ea typeface="Arial Unicode MS" pitchFamily="34" charset="-122"/>
                <a:cs typeface="Arial Unicode MS" pitchFamily="34" charset="-120"/>
              </a:rPr>
              <a:t>04 | 업무 규칙</a:t>
            </a:r>
            <a:endParaRPr lang="en-US" sz="1200" dirty="0"/>
          </a:p>
        </p:txBody>
      </p:sp>
      <p:sp>
        <p:nvSpPr>
          <p:cNvPr id="4" name="Text 2"/>
          <p:cNvSpPr/>
          <p:nvPr/>
        </p:nvSpPr>
        <p:spPr>
          <a:xfrm>
            <a:off x="1755648" y="64008"/>
            <a:ext cx="6931152" cy="402336"/>
          </a:xfrm>
          <a:prstGeom prst="rect">
            <a:avLst/>
          </a:prstGeom>
          <a:noFill/>
          <a:ln/>
        </p:spPr>
        <p:txBody>
          <a:bodyPr wrap="square" lIns="0" tIns="0" rIns="0" bIns="0" rtlCol="0" anchor="ctr">
            <a:normAutofit/>
          </a:bodyPr>
          <a:lstStyle/>
          <a:p>
            <a:pPr algn="l" indent="0" marL="0">
              <a:buNone/>
            </a:pPr>
            <a:r>
              <a:rPr lang="en-US" sz="2000" b="1" dirty="0">
                <a:solidFill>
                  <a:srgbClr val="FFFFFF"/>
                </a:solidFill>
                <a:latin typeface="Arial Unicode MS" pitchFamily="34" charset="0"/>
                <a:ea typeface="Arial Unicode MS" pitchFamily="34" charset="-122"/>
                <a:cs typeface="Arial Unicode MS" pitchFamily="34" charset="-120"/>
              </a:rPr>
              <a:t>업무 유형이 출고·취소 코드를 한 쌍으로 결정합니다</a:t>
            </a:r>
            <a:endParaRPr lang="en-US" sz="2000" dirty="0"/>
          </a:p>
        </p:txBody>
      </p:sp>
      <p:sp>
        <p:nvSpPr>
          <p:cNvPr id="5" name="Text 3"/>
          <p:cNvSpPr/>
          <p:nvPr/>
        </p:nvSpPr>
        <p:spPr>
          <a:xfrm>
            <a:off x="594360" y="859536"/>
            <a:ext cx="1828800" cy="219456"/>
          </a:xfrm>
          <a:prstGeom prst="rect">
            <a:avLst/>
          </a:prstGeom>
          <a:noFill/>
          <a:ln/>
        </p:spPr>
        <p:txBody>
          <a:bodyPr wrap="square" lIns="0" tIns="0" rIns="0" bIns="0" rtlCol="0" anchor="ctr">
            <a:normAutofit/>
          </a:bodyPr>
          <a:lstStyle/>
          <a:p>
            <a:pPr algn="l" indent="0" marL="0">
              <a:buNone/>
            </a:pPr>
            <a:r>
              <a:rPr lang="en-US" sz="1050" b="1" dirty="0">
                <a:solidFill>
                  <a:srgbClr val="657084"/>
                </a:solidFill>
                <a:latin typeface="Arial Unicode MS" pitchFamily="34" charset="0"/>
                <a:ea typeface="Arial Unicode MS" pitchFamily="34" charset="-122"/>
                <a:cs typeface="Arial Unicode MS" pitchFamily="34" charset="-120"/>
              </a:rPr>
              <a:t>WBS 업무 유형</a:t>
            </a:r>
            <a:endParaRPr lang="en-US" sz="1050" dirty="0"/>
          </a:p>
        </p:txBody>
      </p:sp>
      <p:sp>
        <p:nvSpPr>
          <p:cNvPr id="6" name="Text 4"/>
          <p:cNvSpPr/>
          <p:nvPr/>
        </p:nvSpPr>
        <p:spPr>
          <a:xfrm>
            <a:off x="2761488" y="859536"/>
            <a:ext cx="1188720" cy="219456"/>
          </a:xfrm>
          <a:prstGeom prst="rect">
            <a:avLst/>
          </a:prstGeom>
          <a:noFill/>
          <a:ln/>
        </p:spPr>
        <p:txBody>
          <a:bodyPr wrap="square" lIns="0" tIns="0" rIns="0" bIns="0" rtlCol="0" anchor="ctr">
            <a:normAutofit/>
          </a:bodyPr>
          <a:lstStyle/>
          <a:p>
            <a:pPr algn="ctr" indent="0" marL="0">
              <a:buNone/>
            </a:pPr>
            <a:r>
              <a:rPr lang="en-US" sz="1050" b="1" dirty="0">
                <a:solidFill>
                  <a:srgbClr val="657084"/>
                </a:solidFill>
                <a:latin typeface="Arial Unicode MS" pitchFamily="34" charset="0"/>
                <a:ea typeface="Arial Unicode MS" pitchFamily="34" charset="-122"/>
                <a:cs typeface="Arial Unicode MS" pitchFamily="34" charset="-120"/>
              </a:rPr>
              <a:t>판정 규칙</a:t>
            </a:r>
            <a:endParaRPr lang="en-US" sz="1050" dirty="0"/>
          </a:p>
        </p:txBody>
      </p:sp>
      <p:sp>
        <p:nvSpPr>
          <p:cNvPr id="7" name="Text 5"/>
          <p:cNvSpPr/>
          <p:nvPr/>
        </p:nvSpPr>
        <p:spPr>
          <a:xfrm>
            <a:off x="5257800" y="859536"/>
            <a:ext cx="822960" cy="219456"/>
          </a:xfrm>
          <a:prstGeom prst="rect">
            <a:avLst/>
          </a:prstGeom>
          <a:noFill/>
          <a:ln/>
        </p:spPr>
        <p:txBody>
          <a:bodyPr wrap="square" lIns="0" tIns="0" rIns="0" bIns="0" rtlCol="0" anchor="ctr">
            <a:normAutofit/>
          </a:bodyPr>
          <a:lstStyle/>
          <a:p>
            <a:pPr algn="ctr" indent="0" marL="0">
              <a:buNone/>
            </a:pPr>
            <a:r>
              <a:rPr lang="en-US" sz="1050" b="1" dirty="0">
                <a:solidFill>
                  <a:srgbClr val="657084"/>
                </a:solidFill>
                <a:latin typeface="Arial Unicode MS" pitchFamily="34" charset="0"/>
                <a:ea typeface="Arial Unicode MS" pitchFamily="34" charset="-122"/>
                <a:cs typeface="Arial Unicode MS" pitchFamily="34" charset="-120"/>
              </a:rPr>
              <a:t>출고</a:t>
            </a:r>
            <a:endParaRPr lang="en-US" sz="1050" dirty="0"/>
          </a:p>
        </p:txBody>
      </p:sp>
      <p:sp>
        <p:nvSpPr>
          <p:cNvPr id="8" name="Text 6"/>
          <p:cNvSpPr/>
          <p:nvPr/>
        </p:nvSpPr>
        <p:spPr>
          <a:xfrm>
            <a:off x="7360920" y="859536"/>
            <a:ext cx="822960" cy="219456"/>
          </a:xfrm>
          <a:prstGeom prst="rect">
            <a:avLst/>
          </a:prstGeom>
          <a:noFill/>
          <a:ln/>
        </p:spPr>
        <p:txBody>
          <a:bodyPr wrap="square" lIns="0" tIns="0" rIns="0" bIns="0" rtlCol="0" anchor="ctr">
            <a:normAutofit/>
          </a:bodyPr>
          <a:lstStyle/>
          <a:p>
            <a:pPr algn="ctr" indent="0" marL="0">
              <a:buNone/>
            </a:pPr>
            <a:r>
              <a:rPr lang="en-US" sz="1050" b="1" dirty="0">
                <a:solidFill>
                  <a:srgbClr val="657084"/>
                </a:solidFill>
                <a:latin typeface="Arial Unicode MS" pitchFamily="34" charset="0"/>
                <a:ea typeface="Arial Unicode MS" pitchFamily="34" charset="-122"/>
                <a:cs typeface="Arial Unicode MS" pitchFamily="34" charset="-120"/>
              </a:rPr>
              <a:t>취소</a:t>
            </a:r>
            <a:endParaRPr lang="en-US" sz="1050" dirty="0"/>
          </a:p>
        </p:txBody>
      </p:sp>
      <p:sp>
        <p:nvSpPr>
          <p:cNvPr id="9" name="Shape 7"/>
          <p:cNvSpPr/>
          <p:nvPr/>
        </p:nvSpPr>
        <p:spPr>
          <a:xfrm>
            <a:off x="585216" y="1207008"/>
            <a:ext cx="7973568" cy="658368"/>
          </a:xfrm>
          <a:prstGeom prst="roundRect">
            <a:avLst>
              <a:gd name="adj" fmla="val 13889"/>
            </a:avLst>
          </a:prstGeom>
          <a:solidFill>
            <a:srgbClr val="F7F8FA"/>
          </a:solidFill>
          <a:ln w="15240">
            <a:solidFill>
              <a:srgbClr val="D8DEE8"/>
            </a:solidFill>
            <a:prstDash val="solid"/>
          </a:ln>
        </p:spPr>
      </p:sp>
      <p:sp>
        <p:nvSpPr>
          <p:cNvPr id="10" name="Text 8"/>
          <p:cNvSpPr/>
          <p:nvPr/>
        </p:nvSpPr>
        <p:spPr>
          <a:xfrm>
            <a:off x="804672" y="1207008"/>
            <a:ext cx="1737360" cy="658368"/>
          </a:xfrm>
          <a:prstGeom prst="rect">
            <a:avLst/>
          </a:prstGeom>
          <a:noFill/>
          <a:ln/>
        </p:spPr>
        <p:txBody>
          <a:bodyPr wrap="square" lIns="0" tIns="0" rIns="0" bIns="0" rtlCol="0" anchor="ctr">
            <a:normAutofit/>
          </a:bodyPr>
          <a:lstStyle/>
          <a:p>
            <a:pPr algn="l" indent="0" marL="0">
              <a:buNone/>
            </a:pPr>
            <a:r>
              <a:rPr lang="en-US" sz="1500" b="1" dirty="0">
                <a:solidFill>
                  <a:srgbClr val="1F2937"/>
                </a:solidFill>
                <a:latin typeface="Arial Unicode MS" pitchFamily="34" charset="0"/>
                <a:ea typeface="Arial Unicode MS" pitchFamily="34" charset="-122"/>
                <a:cs typeface="Arial Unicode MS" pitchFamily="34" charset="-120"/>
              </a:rPr>
              <a:t>일반 프로젝트</a:t>
            </a:r>
            <a:endParaRPr lang="en-US" sz="1500" dirty="0"/>
          </a:p>
        </p:txBody>
      </p:sp>
      <p:sp>
        <p:nvSpPr>
          <p:cNvPr id="11" name="Shape 9"/>
          <p:cNvSpPr/>
          <p:nvPr/>
        </p:nvSpPr>
        <p:spPr>
          <a:xfrm>
            <a:off x="2743200" y="1353312"/>
            <a:ext cx="1170432" cy="365760"/>
          </a:xfrm>
          <a:prstGeom prst="roundRect">
            <a:avLst>
              <a:gd name="adj" fmla="val 45000"/>
            </a:avLst>
          </a:prstGeom>
          <a:solidFill>
            <a:srgbClr val="FFFFFF"/>
          </a:solidFill>
          <a:ln w="7620">
            <a:solidFill>
              <a:srgbClr val="FFFFFF"/>
            </a:solidFill>
            <a:prstDash val="solid"/>
          </a:ln>
        </p:spPr>
      </p:sp>
      <p:sp>
        <p:nvSpPr>
          <p:cNvPr id="12" name="Text 10"/>
          <p:cNvSpPr/>
          <p:nvPr/>
        </p:nvSpPr>
        <p:spPr>
          <a:xfrm>
            <a:off x="2798064" y="1353312"/>
            <a:ext cx="1060704" cy="365760"/>
          </a:xfrm>
          <a:prstGeom prst="rect">
            <a:avLst/>
          </a:prstGeom>
          <a:noFill/>
          <a:ln/>
        </p:spPr>
        <p:txBody>
          <a:bodyPr wrap="square" lIns="0" tIns="0" rIns="0" bIns="0" rtlCol="0" anchor="ctr">
            <a:normAutofit/>
          </a:bodyPr>
          <a:lstStyle/>
          <a:p>
            <a:pPr algn="ctr" indent="0" marL="0">
              <a:buNone/>
            </a:pPr>
            <a:r>
              <a:rPr lang="en-US" sz="1150" b="1" dirty="0">
                <a:solidFill>
                  <a:srgbClr val="123C88"/>
                </a:solidFill>
                <a:latin typeface="Arial Unicode MS" pitchFamily="34" charset="0"/>
                <a:ea typeface="Arial Unicode MS" pitchFamily="34" charset="-122"/>
                <a:cs typeface="Arial Unicode MS" pitchFamily="34" charset="-120"/>
              </a:rPr>
              <a:t>그 외 WBS</a:t>
            </a:r>
            <a:endParaRPr lang="en-US" sz="1150" dirty="0"/>
          </a:p>
        </p:txBody>
      </p:sp>
      <p:sp>
        <p:nvSpPr>
          <p:cNvPr id="13" name="Shape 11"/>
          <p:cNvSpPr/>
          <p:nvPr/>
        </p:nvSpPr>
        <p:spPr>
          <a:xfrm>
            <a:off x="5102352" y="1280160"/>
            <a:ext cx="1170432" cy="512064"/>
          </a:xfrm>
          <a:prstGeom prst="roundRect">
            <a:avLst>
              <a:gd name="adj" fmla="val 17857"/>
            </a:avLst>
          </a:prstGeom>
          <a:solidFill>
            <a:srgbClr val="123C88"/>
          </a:solidFill>
          <a:ln w="7620">
            <a:solidFill>
              <a:srgbClr val="123C88"/>
            </a:solidFill>
            <a:prstDash val="solid"/>
          </a:ln>
        </p:spPr>
      </p:sp>
      <p:sp>
        <p:nvSpPr>
          <p:cNvPr id="14" name="Text 12"/>
          <p:cNvSpPr/>
          <p:nvPr/>
        </p:nvSpPr>
        <p:spPr>
          <a:xfrm>
            <a:off x="5102352" y="1280160"/>
            <a:ext cx="1170432" cy="512064"/>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Aptos Mono" pitchFamily="34" charset="0"/>
                <a:ea typeface="Aptos Mono" pitchFamily="34" charset="-122"/>
                <a:cs typeface="Aptos Mono" pitchFamily="34" charset="-120"/>
              </a:rPr>
              <a:t>221</a:t>
            </a:r>
            <a:endParaRPr lang="en-US" sz="1900" dirty="0"/>
          </a:p>
        </p:txBody>
      </p:sp>
      <p:sp>
        <p:nvSpPr>
          <p:cNvPr id="15" name="Shape 13"/>
          <p:cNvSpPr/>
          <p:nvPr/>
        </p:nvSpPr>
        <p:spPr>
          <a:xfrm>
            <a:off x="6382512" y="1536192"/>
            <a:ext cx="786384" cy="0"/>
          </a:xfrm>
          <a:prstGeom prst="line">
            <a:avLst/>
          </a:prstGeom>
          <a:noFill/>
          <a:ln w="31750">
            <a:solidFill>
              <a:srgbClr val="F37321"/>
            </a:solidFill>
            <a:prstDash val="solid"/>
            <a:tailEnd type="triangle"/>
          </a:ln>
        </p:spPr>
      </p:sp>
      <p:sp>
        <p:nvSpPr>
          <p:cNvPr id="16" name="Shape 14"/>
          <p:cNvSpPr/>
          <p:nvPr/>
        </p:nvSpPr>
        <p:spPr>
          <a:xfrm>
            <a:off x="7296912" y="1280160"/>
            <a:ext cx="1024128" cy="512064"/>
          </a:xfrm>
          <a:prstGeom prst="roundRect">
            <a:avLst>
              <a:gd name="adj" fmla="val 17857"/>
            </a:avLst>
          </a:prstGeom>
          <a:solidFill>
            <a:srgbClr val="F37321"/>
          </a:solidFill>
          <a:ln w="7620">
            <a:solidFill>
              <a:srgbClr val="F37321"/>
            </a:solidFill>
            <a:prstDash val="solid"/>
          </a:ln>
        </p:spPr>
      </p:sp>
      <p:sp>
        <p:nvSpPr>
          <p:cNvPr id="17" name="Text 15"/>
          <p:cNvSpPr/>
          <p:nvPr/>
        </p:nvSpPr>
        <p:spPr>
          <a:xfrm>
            <a:off x="7296912" y="1280160"/>
            <a:ext cx="1024128" cy="512064"/>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Aptos Mono" pitchFamily="34" charset="0"/>
                <a:ea typeface="Aptos Mono" pitchFamily="34" charset="-122"/>
                <a:cs typeface="Aptos Mono" pitchFamily="34" charset="-120"/>
              </a:rPr>
              <a:t>222</a:t>
            </a:r>
            <a:endParaRPr lang="en-US" sz="1900" dirty="0"/>
          </a:p>
        </p:txBody>
      </p:sp>
      <p:sp>
        <p:nvSpPr>
          <p:cNvPr id="18" name="Shape 16"/>
          <p:cNvSpPr/>
          <p:nvPr/>
        </p:nvSpPr>
        <p:spPr>
          <a:xfrm>
            <a:off x="585216" y="2121408"/>
            <a:ext cx="7973568" cy="658368"/>
          </a:xfrm>
          <a:prstGeom prst="roundRect">
            <a:avLst>
              <a:gd name="adj" fmla="val 13889"/>
            </a:avLst>
          </a:prstGeom>
          <a:solidFill>
            <a:srgbClr val="FFF2E6"/>
          </a:solidFill>
          <a:ln w="15240">
            <a:solidFill>
              <a:srgbClr val="F37321"/>
            </a:solidFill>
            <a:prstDash val="solid"/>
          </a:ln>
        </p:spPr>
      </p:sp>
      <p:sp>
        <p:nvSpPr>
          <p:cNvPr id="19" name="Text 17"/>
          <p:cNvSpPr/>
          <p:nvPr/>
        </p:nvSpPr>
        <p:spPr>
          <a:xfrm>
            <a:off x="804672" y="2121408"/>
            <a:ext cx="1737360" cy="658368"/>
          </a:xfrm>
          <a:prstGeom prst="rect">
            <a:avLst/>
          </a:prstGeom>
          <a:noFill/>
          <a:ln/>
        </p:spPr>
        <p:txBody>
          <a:bodyPr wrap="square" lIns="0" tIns="0" rIns="0" bIns="0" rtlCol="0" anchor="ctr">
            <a:normAutofit/>
          </a:bodyPr>
          <a:lstStyle/>
          <a:p>
            <a:pPr algn="l" indent="0" marL="0">
              <a:buNone/>
            </a:pPr>
            <a:r>
              <a:rPr lang="en-US" sz="1500" b="1" dirty="0">
                <a:solidFill>
                  <a:srgbClr val="1F2937"/>
                </a:solidFill>
                <a:latin typeface="Arial Unicode MS" pitchFamily="34" charset="0"/>
                <a:ea typeface="Arial Unicode MS" pitchFamily="34" charset="-122"/>
                <a:cs typeface="Arial Unicode MS" pitchFamily="34" charset="-120"/>
              </a:rPr>
              <a:t>가수주</a:t>
            </a:r>
            <a:endParaRPr lang="en-US" sz="1500" dirty="0"/>
          </a:p>
        </p:txBody>
      </p:sp>
      <p:sp>
        <p:nvSpPr>
          <p:cNvPr id="20" name="Shape 18"/>
          <p:cNvSpPr/>
          <p:nvPr/>
        </p:nvSpPr>
        <p:spPr>
          <a:xfrm>
            <a:off x="2743200" y="2267712"/>
            <a:ext cx="1170432" cy="365760"/>
          </a:xfrm>
          <a:prstGeom prst="roundRect">
            <a:avLst>
              <a:gd name="adj" fmla="val 45000"/>
            </a:avLst>
          </a:prstGeom>
          <a:solidFill>
            <a:srgbClr val="FFFFFF"/>
          </a:solidFill>
          <a:ln w="7620">
            <a:solidFill>
              <a:srgbClr val="FFFFFF"/>
            </a:solidFill>
            <a:prstDash val="solid"/>
          </a:ln>
        </p:spPr>
      </p:sp>
      <p:sp>
        <p:nvSpPr>
          <p:cNvPr id="21" name="Text 19"/>
          <p:cNvSpPr/>
          <p:nvPr/>
        </p:nvSpPr>
        <p:spPr>
          <a:xfrm>
            <a:off x="2798064" y="2267712"/>
            <a:ext cx="1060704" cy="365760"/>
          </a:xfrm>
          <a:prstGeom prst="rect">
            <a:avLst/>
          </a:prstGeom>
          <a:noFill/>
          <a:ln/>
        </p:spPr>
        <p:txBody>
          <a:bodyPr wrap="square" lIns="0" tIns="0" rIns="0" bIns="0" rtlCol="0" anchor="ctr">
            <a:normAutofit/>
          </a:bodyPr>
          <a:lstStyle/>
          <a:p>
            <a:pPr algn="ctr" indent="0" marL="0">
              <a:buNone/>
            </a:pPr>
            <a:r>
              <a:rPr lang="en-US" sz="1150" b="1" dirty="0">
                <a:solidFill>
                  <a:srgbClr val="123C88"/>
                </a:solidFill>
                <a:latin typeface="Arial Unicode MS" pitchFamily="34" charset="0"/>
                <a:ea typeface="Arial Unicode MS" pitchFamily="34" charset="-122"/>
                <a:cs typeface="Arial Unicode MS" pitchFamily="34" charset="-120"/>
              </a:rPr>
              <a:t>R2-00*</a:t>
            </a:r>
            <a:endParaRPr lang="en-US" sz="1150" dirty="0"/>
          </a:p>
        </p:txBody>
      </p:sp>
      <p:sp>
        <p:nvSpPr>
          <p:cNvPr id="22" name="Shape 20"/>
          <p:cNvSpPr/>
          <p:nvPr/>
        </p:nvSpPr>
        <p:spPr>
          <a:xfrm>
            <a:off x="5102352" y="2194560"/>
            <a:ext cx="1170432" cy="512064"/>
          </a:xfrm>
          <a:prstGeom prst="roundRect">
            <a:avLst>
              <a:gd name="adj" fmla="val 17857"/>
            </a:avLst>
          </a:prstGeom>
          <a:solidFill>
            <a:srgbClr val="123C88"/>
          </a:solidFill>
          <a:ln w="7620">
            <a:solidFill>
              <a:srgbClr val="123C88"/>
            </a:solidFill>
            <a:prstDash val="solid"/>
          </a:ln>
        </p:spPr>
      </p:sp>
      <p:sp>
        <p:nvSpPr>
          <p:cNvPr id="23" name="Text 21"/>
          <p:cNvSpPr/>
          <p:nvPr/>
        </p:nvSpPr>
        <p:spPr>
          <a:xfrm>
            <a:off x="5102352" y="2194560"/>
            <a:ext cx="1170432" cy="512064"/>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Aptos Mono" pitchFamily="34" charset="0"/>
                <a:ea typeface="Aptos Mono" pitchFamily="34" charset="-122"/>
                <a:cs typeface="Aptos Mono" pitchFamily="34" charset="-120"/>
              </a:rPr>
              <a:t>M75</a:t>
            </a:r>
            <a:endParaRPr lang="en-US" sz="1900" dirty="0"/>
          </a:p>
        </p:txBody>
      </p:sp>
      <p:sp>
        <p:nvSpPr>
          <p:cNvPr id="24" name="Shape 22"/>
          <p:cNvSpPr/>
          <p:nvPr/>
        </p:nvSpPr>
        <p:spPr>
          <a:xfrm>
            <a:off x="6382512" y="2450592"/>
            <a:ext cx="786384" cy="0"/>
          </a:xfrm>
          <a:prstGeom prst="line">
            <a:avLst/>
          </a:prstGeom>
          <a:noFill/>
          <a:ln w="31750">
            <a:solidFill>
              <a:srgbClr val="F37321"/>
            </a:solidFill>
            <a:prstDash val="solid"/>
            <a:tailEnd type="triangle"/>
          </a:ln>
        </p:spPr>
      </p:sp>
      <p:sp>
        <p:nvSpPr>
          <p:cNvPr id="25" name="Shape 23"/>
          <p:cNvSpPr/>
          <p:nvPr/>
        </p:nvSpPr>
        <p:spPr>
          <a:xfrm>
            <a:off x="7296912" y="2194560"/>
            <a:ext cx="1024128" cy="512064"/>
          </a:xfrm>
          <a:prstGeom prst="roundRect">
            <a:avLst>
              <a:gd name="adj" fmla="val 17857"/>
            </a:avLst>
          </a:prstGeom>
          <a:solidFill>
            <a:srgbClr val="F37321"/>
          </a:solidFill>
          <a:ln w="7620">
            <a:solidFill>
              <a:srgbClr val="F37321"/>
            </a:solidFill>
            <a:prstDash val="solid"/>
          </a:ln>
        </p:spPr>
      </p:sp>
      <p:sp>
        <p:nvSpPr>
          <p:cNvPr id="26" name="Text 24"/>
          <p:cNvSpPr/>
          <p:nvPr/>
        </p:nvSpPr>
        <p:spPr>
          <a:xfrm>
            <a:off x="7296912" y="2194560"/>
            <a:ext cx="1024128" cy="512064"/>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Aptos Mono" pitchFamily="34" charset="0"/>
                <a:ea typeface="Aptos Mono" pitchFamily="34" charset="-122"/>
                <a:cs typeface="Aptos Mono" pitchFamily="34" charset="-120"/>
              </a:rPr>
              <a:t>M76</a:t>
            </a:r>
            <a:endParaRPr lang="en-US" sz="1900" dirty="0"/>
          </a:p>
        </p:txBody>
      </p:sp>
      <p:sp>
        <p:nvSpPr>
          <p:cNvPr id="27" name="Shape 25"/>
          <p:cNvSpPr/>
          <p:nvPr/>
        </p:nvSpPr>
        <p:spPr>
          <a:xfrm>
            <a:off x="585216" y="3035808"/>
            <a:ext cx="7973568" cy="658368"/>
          </a:xfrm>
          <a:prstGeom prst="roundRect">
            <a:avLst>
              <a:gd name="adj" fmla="val 13889"/>
            </a:avLst>
          </a:prstGeom>
          <a:solidFill>
            <a:srgbClr val="F7F8FA"/>
          </a:solidFill>
          <a:ln w="15240">
            <a:solidFill>
              <a:srgbClr val="D8DEE8"/>
            </a:solidFill>
            <a:prstDash val="solid"/>
          </a:ln>
        </p:spPr>
      </p:sp>
      <p:sp>
        <p:nvSpPr>
          <p:cNvPr id="28" name="Text 26"/>
          <p:cNvSpPr/>
          <p:nvPr/>
        </p:nvSpPr>
        <p:spPr>
          <a:xfrm>
            <a:off x="804672" y="3035808"/>
            <a:ext cx="1737360" cy="658368"/>
          </a:xfrm>
          <a:prstGeom prst="rect">
            <a:avLst/>
          </a:prstGeom>
          <a:noFill/>
          <a:ln/>
        </p:spPr>
        <p:txBody>
          <a:bodyPr wrap="square" lIns="0" tIns="0" rIns="0" bIns="0" rtlCol="0" anchor="ctr">
            <a:normAutofit/>
          </a:bodyPr>
          <a:lstStyle/>
          <a:p>
            <a:pPr algn="l" indent="0" marL="0">
              <a:buNone/>
            </a:pPr>
            <a:r>
              <a:rPr lang="en-US" sz="1500" b="1" dirty="0">
                <a:solidFill>
                  <a:srgbClr val="1F2937"/>
                </a:solidFill>
                <a:latin typeface="Arial Unicode MS" pitchFamily="34" charset="0"/>
                <a:ea typeface="Arial Unicode MS" pitchFamily="34" charset="-122"/>
                <a:cs typeface="Arial Unicode MS" pitchFamily="34" charset="-120"/>
              </a:rPr>
              <a:t>하자보수</a:t>
            </a:r>
            <a:endParaRPr lang="en-US" sz="1500" dirty="0"/>
          </a:p>
        </p:txBody>
      </p:sp>
      <p:sp>
        <p:nvSpPr>
          <p:cNvPr id="29" name="Shape 27"/>
          <p:cNvSpPr/>
          <p:nvPr/>
        </p:nvSpPr>
        <p:spPr>
          <a:xfrm>
            <a:off x="2743200" y="3182112"/>
            <a:ext cx="1170432" cy="365760"/>
          </a:xfrm>
          <a:prstGeom prst="roundRect">
            <a:avLst>
              <a:gd name="adj" fmla="val 45000"/>
            </a:avLst>
          </a:prstGeom>
          <a:solidFill>
            <a:srgbClr val="FFFFFF"/>
          </a:solidFill>
          <a:ln w="7620">
            <a:solidFill>
              <a:srgbClr val="FFFFFF"/>
            </a:solidFill>
            <a:prstDash val="solid"/>
          </a:ln>
        </p:spPr>
      </p:sp>
      <p:sp>
        <p:nvSpPr>
          <p:cNvPr id="30" name="Text 28"/>
          <p:cNvSpPr/>
          <p:nvPr/>
        </p:nvSpPr>
        <p:spPr>
          <a:xfrm>
            <a:off x="2798064" y="3182112"/>
            <a:ext cx="1060704" cy="365760"/>
          </a:xfrm>
          <a:prstGeom prst="rect">
            <a:avLst/>
          </a:prstGeom>
          <a:noFill/>
          <a:ln/>
        </p:spPr>
        <p:txBody>
          <a:bodyPr wrap="square" lIns="0" tIns="0" rIns="0" bIns="0" rtlCol="0" anchor="ctr">
            <a:normAutofit/>
          </a:bodyPr>
          <a:lstStyle/>
          <a:p>
            <a:pPr algn="ctr" indent="0" marL="0">
              <a:buNone/>
            </a:pPr>
            <a:r>
              <a:rPr lang="en-US" sz="1150" b="1" dirty="0">
                <a:solidFill>
                  <a:srgbClr val="123C88"/>
                </a:solidFill>
                <a:latin typeface="Arial Unicode MS" pitchFamily="34" charset="0"/>
                <a:ea typeface="Arial Unicode MS" pitchFamily="34" charset="-122"/>
                <a:cs typeface="Arial Unicode MS" pitchFamily="34" charset="-120"/>
              </a:rPr>
              <a:t>R2-01*</a:t>
            </a:r>
            <a:endParaRPr lang="en-US" sz="1150" dirty="0"/>
          </a:p>
        </p:txBody>
      </p:sp>
      <p:sp>
        <p:nvSpPr>
          <p:cNvPr id="31" name="Shape 29"/>
          <p:cNvSpPr/>
          <p:nvPr/>
        </p:nvSpPr>
        <p:spPr>
          <a:xfrm>
            <a:off x="5102352" y="3108960"/>
            <a:ext cx="1170432" cy="512064"/>
          </a:xfrm>
          <a:prstGeom prst="roundRect">
            <a:avLst>
              <a:gd name="adj" fmla="val 17857"/>
            </a:avLst>
          </a:prstGeom>
          <a:solidFill>
            <a:srgbClr val="123C88"/>
          </a:solidFill>
          <a:ln w="7620">
            <a:solidFill>
              <a:srgbClr val="123C88"/>
            </a:solidFill>
            <a:prstDash val="solid"/>
          </a:ln>
        </p:spPr>
      </p:sp>
      <p:sp>
        <p:nvSpPr>
          <p:cNvPr id="32" name="Text 30"/>
          <p:cNvSpPr/>
          <p:nvPr/>
        </p:nvSpPr>
        <p:spPr>
          <a:xfrm>
            <a:off x="5102352" y="3108960"/>
            <a:ext cx="1170432" cy="512064"/>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Aptos Mono" pitchFamily="34" charset="0"/>
                <a:ea typeface="Aptos Mono" pitchFamily="34" charset="-122"/>
                <a:cs typeface="Aptos Mono" pitchFamily="34" charset="-120"/>
              </a:rPr>
              <a:t>M77</a:t>
            </a:r>
            <a:endParaRPr lang="en-US" sz="1900" dirty="0"/>
          </a:p>
        </p:txBody>
      </p:sp>
      <p:sp>
        <p:nvSpPr>
          <p:cNvPr id="33" name="Shape 31"/>
          <p:cNvSpPr/>
          <p:nvPr/>
        </p:nvSpPr>
        <p:spPr>
          <a:xfrm>
            <a:off x="6382512" y="3364992"/>
            <a:ext cx="786384" cy="0"/>
          </a:xfrm>
          <a:prstGeom prst="line">
            <a:avLst/>
          </a:prstGeom>
          <a:noFill/>
          <a:ln w="31750">
            <a:solidFill>
              <a:srgbClr val="F37321"/>
            </a:solidFill>
            <a:prstDash val="solid"/>
            <a:tailEnd type="triangle"/>
          </a:ln>
        </p:spPr>
      </p:sp>
      <p:sp>
        <p:nvSpPr>
          <p:cNvPr id="34" name="Shape 32"/>
          <p:cNvSpPr/>
          <p:nvPr/>
        </p:nvSpPr>
        <p:spPr>
          <a:xfrm>
            <a:off x="7296912" y="3108960"/>
            <a:ext cx="1024128" cy="512064"/>
          </a:xfrm>
          <a:prstGeom prst="roundRect">
            <a:avLst>
              <a:gd name="adj" fmla="val 17857"/>
            </a:avLst>
          </a:prstGeom>
          <a:solidFill>
            <a:srgbClr val="F37321"/>
          </a:solidFill>
          <a:ln w="7620">
            <a:solidFill>
              <a:srgbClr val="F37321"/>
            </a:solidFill>
            <a:prstDash val="solid"/>
          </a:ln>
        </p:spPr>
      </p:sp>
      <p:sp>
        <p:nvSpPr>
          <p:cNvPr id="35" name="Text 33"/>
          <p:cNvSpPr/>
          <p:nvPr/>
        </p:nvSpPr>
        <p:spPr>
          <a:xfrm>
            <a:off x="7296912" y="3108960"/>
            <a:ext cx="1024128" cy="512064"/>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Aptos Mono" pitchFamily="34" charset="0"/>
                <a:ea typeface="Aptos Mono" pitchFamily="34" charset="-122"/>
                <a:cs typeface="Aptos Mono" pitchFamily="34" charset="-120"/>
              </a:rPr>
              <a:t>M78</a:t>
            </a:r>
            <a:endParaRPr lang="en-US" sz="1900" dirty="0"/>
          </a:p>
        </p:txBody>
      </p:sp>
      <p:sp>
        <p:nvSpPr>
          <p:cNvPr id="36" name="Shape 34"/>
          <p:cNvSpPr/>
          <p:nvPr/>
        </p:nvSpPr>
        <p:spPr>
          <a:xfrm>
            <a:off x="1097280" y="4096512"/>
            <a:ext cx="6949440" cy="365760"/>
          </a:xfrm>
          <a:prstGeom prst="roundRect">
            <a:avLst>
              <a:gd name="adj" fmla="val 20000"/>
            </a:avLst>
          </a:prstGeom>
          <a:solidFill>
            <a:srgbClr val="EFF4FF"/>
          </a:solidFill>
          <a:ln w="15240">
            <a:solidFill>
              <a:srgbClr val="2C63E7"/>
            </a:solidFill>
            <a:prstDash val="solid"/>
          </a:ln>
        </p:spPr>
      </p:sp>
      <p:sp>
        <p:nvSpPr>
          <p:cNvPr id="37" name="Text 35"/>
          <p:cNvSpPr/>
          <p:nvPr/>
        </p:nvSpPr>
        <p:spPr>
          <a:xfrm>
            <a:off x="1280160" y="4096512"/>
            <a:ext cx="6583680" cy="365760"/>
          </a:xfrm>
          <a:prstGeom prst="rect">
            <a:avLst/>
          </a:prstGeom>
          <a:noFill/>
          <a:ln/>
        </p:spPr>
        <p:txBody>
          <a:bodyPr wrap="square" lIns="0" tIns="0" rIns="0" bIns="0" rtlCol="0" anchor="ctr">
            <a:normAutofit/>
          </a:bodyPr>
          <a:lstStyle/>
          <a:p>
            <a:pPr algn="ctr" indent="0" marL="0">
              <a:buNone/>
            </a:pPr>
            <a:r>
              <a:rPr lang="en-US" sz="1250" b="1" dirty="0">
                <a:solidFill>
                  <a:srgbClr val="123C88"/>
                </a:solidFill>
                <a:latin typeface="Arial Unicode MS" pitchFamily="34" charset="0"/>
                <a:ea typeface="Arial Unicode MS" pitchFamily="34" charset="-122"/>
                <a:cs typeface="Arial Unicode MS" pitchFamily="34" charset="-120"/>
              </a:rPr>
              <a:t>취소 코드는 반드시 같은 행의 출고 코드와 함께 사용합니다.</a:t>
            </a:r>
            <a:endParaRPr lang="en-US" sz="1250" dirty="0"/>
          </a:p>
        </p:txBody>
      </p:sp>
      <p:sp>
        <p:nvSpPr>
          <p:cNvPr id="38" name="Shape 36"/>
          <p:cNvSpPr/>
          <p:nvPr/>
        </p:nvSpPr>
        <p:spPr>
          <a:xfrm>
            <a:off x="411480" y="4681728"/>
            <a:ext cx="8321040" cy="0"/>
          </a:xfrm>
          <a:prstGeom prst="line">
            <a:avLst/>
          </a:prstGeom>
          <a:noFill/>
          <a:ln w="8890">
            <a:solidFill>
              <a:srgbClr val="D8DEE8"/>
            </a:solidFill>
            <a:prstDash val="solid"/>
          </a:ln>
        </p:spPr>
      </p:sp>
      <p:sp>
        <p:nvSpPr>
          <p:cNvPr id="39" name="Text 37"/>
          <p:cNvSpPr/>
          <p:nvPr/>
        </p:nvSpPr>
        <p:spPr>
          <a:xfrm>
            <a:off x="438912" y="4736592"/>
            <a:ext cx="5074920" cy="219456"/>
          </a:xfrm>
          <a:prstGeom prst="rect">
            <a:avLst/>
          </a:prstGeom>
          <a:noFill/>
          <a:ln/>
        </p:spPr>
        <p:txBody>
          <a:bodyPr wrap="square" lIns="0" tIns="0" rIns="0" bIns="0" rtlCol="0" anchor="ctr">
            <a:normAutofit/>
          </a:bodyPr>
          <a:lstStyle/>
          <a:p>
            <a:pPr algn="l" indent="0" marL="0">
              <a:buNone/>
            </a:pPr>
            <a:r>
              <a:rPr lang="en-US" sz="850" dirty="0">
                <a:solidFill>
                  <a:srgbClr val="657084"/>
                </a:solidFill>
                <a:latin typeface="Arial Unicode MS" pitchFamily="34" charset="0"/>
                <a:ea typeface="Arial Unicode MS" pitchFamily="34" charset="-122"/>
                <a:cs typeface="Arial Unicode MS" pitchFamily="34" charset="-120"/>
              </a:rPr>
              <a:t>SPEC §2·§8 · AC-04/13</a:t>
            </a:r>
            <a:endParaRPr lang="en-US" sz="850" dirty="0"/>
          </a:p>
        </p:txBody>
      </p:sp>
      <p:sp>
        <p:nvSpPr>
          <p:cNvPr id="40" name="Text 38"/>
          <p:cNvSpPr/>
          <p:nvPr/>
        </p:nvSpPr>
        <p:spPr>
          <a:xfrm>
            <a:off x="5715000" y="4736592"/>
            <a:ext cx="2606040" cy="219456"/>
          </a:xfrm>
          <a:prstGeom prst="rect">
            <a:avLst/>
          </a:prstGeom>
          <a:noFill/>
          <a:ln/>
        </p:spPr>
        <p:txBody>
          <a:bodyPr wrap="square" lIns="0" tIns="0" rIns="0" bIns="0" rtlCol="0" anchor="ctr">
            <a:normAutofit/>
          </a:bodyPr>
          <a:lstStyle/>
          <a:p>
            <a:pPr algn="r" indent="0" marL="0">
              <a:buNone/>
            </a:pPr>
            <a:r>
              <a:rPr lang="en-US" sz="850" dirty="0">
                <a:solidFill>
                  <a:srgbClr val="123C88"/>
                </a:solidFill>
                <a:latin typeface="Arial Unicode MS" pitchFamily="34" charset="0"/>
                <a:ea typeface="Arial Unicode MS" pitchFamily="34" charset="-122"/>
                <a:cs typeface="Arial Unicode MS" pitchFamily="34" charset="-120"/>
              </a:rPr>
              <a:t>Agent AI for Work · Solution → PPT</a:t>
            </a:r>
            <a:endParaRPr lang="en-US" sz="850" dirty="0"/>
          </a:p>
        </p:txBody>
      </p:sp>
      <p:sp>
        <p:nvSpPr>
          <p:cNvPr id="41" name="Text 39"/>
          <p:cNvSpPr/>
          <p:nvPr/>
        </p:nvSpPr>
        <p:spPr>
          <a:xfrm>
            <a:off x="8458200" y="4736592"/>
            <a:ext cx="256032" cy="219456"/>
          </a:xfrm>
          <a:prstGeom prst="rect">
            <a:avLst/>
          </a:prstGeom>
          <a:noFill/>
          <a:ln/>
        </p:spPr>
        <p:txBody>
          <a:bodyPr wrap="square" lIns="0" tIns="0" rIns="0" bIns="0" rtlCol="0" anchor="ctr">
            <a:normAutofit/>
          </a:bodyPr>
          <a:lstStyle/>
          <a:p>
            <a:pPr algn="r" indent="0" marL="0">
              <a:buNone/>
            </a:pPr>
            <a:r>
              <a:rPr lang="en-US" sz="900" b="1" dirty="0">
                <a:solidFill>
                  <a:srgbClr val="123C88"/>
                </a:solidFill>
                <a:latin typeface="Arial Unicode MS" pitchFamily="34" charset="0"/>
                <a:ea typeface="Arial Unicode MS" pitchFamily="34" charset="-122"/>
                <a:cs typeface="Arial Unicode M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F37321"/>
          </a:solidFill>
          <a:ln w="7620">
            <a:solidFill>
              <a:srgbClr val="F37321"/>
            </a:solidFill>
            <a:prstDash val="solid"/>
          </a:ln>
        </p:spPr>
      </p:sp>
      <p:sp>
        <p:nvSpPr>
          <p:cNvPr id="3" name="Text 1"/>
          <p:cNvSpPr/>
          <p:nvPr/>
        </p:nvSpPr>
        <p:spPr>
          <a:xfrm>
            <a:off x="438912" y="73152"/>
            <a:ext cx="1234440" cy="384048"/>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rial Unicode MS" pitchFamily="34" charset="0"/>
                <a:ea typeface="Arial Unicode MS" pitchFamily="34" charset="-122"/>
                <a:cs typeface="Arial Unicode MS" pitchFamily="34" charset="-120"/>
              </a:rPr>
              <a:t>05 | 구현 경계</a:t>
            </a:r>
            <a:endParaRPr lang="en-US" sz="1200" dirty="0"/>
          </a:p>
        </p:txBody>
      </p:sp>
      <p:sp>
        <p:nvSpPr>
          <p:cNvPr id="4" name="Text 2"/>
          <p:cNvSpPr/>
          <p:nvPr/>
        </p:nvSpPr>
        <p:spPr>
          <a:xfrm>
            <a:off x="1755648" y="64008"/>
            <a:ext cx="6931152" cy="402336"/>
          </a:xfrm>
          <a:prstGeom prst="rect">
            <a:avLst/>
          </a:prstGeom>
          <a:noFill/>
          <a:ln/>
        </p:spPr>
        <p:txBody>
          <a:bodyPr wrap="square" lIns="0" tIns="0" rIns="0" bIns="0" rtlCol="0" anchor="ctr">
            <a:normAutofit/>
          </a:bodyPr>
          <a:lstStyle/>
          <a:p>
            <a:pPr algn="l" indent="0" marL="0">
              <a:buNone/>
            </a:pPr>
            <a:r>
              <a:rPr lang="en-US" sz="2000" b="1" dirty="0">
                <a:solidFill>
                  <a:srgbClr val="FFFFFF"/>
                </a:solidFill>
                <a:latin typeface="Arial Unicode MS" pitchFamily="34" charset="0"/>
                <a:ea typeface="Arial Unicode MS" pitchFamily="34" charset="-122"/>
                <a:cs typeface="Arial Unicode MS" pitchFamily="34" charset="-120"/>
              </a:rPr>
              <a:t>계약과 파일 소유권으로 Frontend·Backend를 병렬화했습니다</a:t>
            </a:r>
            <a:endParaRPr lang="en-US" sz="2000" dirty="0"/>
          </a:p>
        </p:txBody>
      </p:sp>
      <p:sp>
        <p:nvSpPr>
          <p:cNvPr id="5" name="Shape 3"/>
          <p:cNvSpPr/>
          <p:nvPr/>
        </p:nvSpPr>
        <p:spPr>
          <a:xfrm>
            <a:off x="502920" y="914400"/>
            <a:ext cx="1755648" cy="310896"/>
          </a:xfrm>
          <a:prstGeom prst="roundRect">
            <a:avLst>
              <a:gd name="adj" fmla="val 52941"/>
            </a:avLst>
          </a:prstGeom>
          <a:solidFill>
            <a:srgbClr val="EFF4FF"/>
          </a:solidFill>
          <a:ln w="7620">
            <a:solidFill>
              <a:srgbClr val="EFF4FF"/>
            </a:solidFill>
            <a:prstDash val="solid"/>
          </a:ln>
        </p:spPr>
      </p:sp>
      <p:sp>
        <p:nvSpPr>
          <p:cNvPr id="6" name="Text 4"/>
          <p:cNvSpPr/>
          <p:nvPr/>
        </p:nvSpPr>
        <p:spPr>
          <a:xfrm>
            <a:off x="557784" y="914400"/>
            <a:ext cx="1645920" cy="310896"/>
          </a:xfrm>
          <a:prstGeom prst="rect">
            <a:avLst/>
          </a:prstGeom>
          <a:noFill/>
          <a:ln/>
        </p:spPr>
        <p:txBody>
          <a:bodyPr wrap="square" lIns="0" tIns="0" rIns="0" bIns="0" rtlCol="0" anchor="ctr">
            <a:normAutofit/>
          </a:bodyPr>
          <a:lstStyle/>
          <a:p>
            <a:pPr algn="ctr" indent="0" marL="0">
              <a:buNone/>
            </a:pPr>
            <a:r>
              <a:rPr lang="en-US" sz="930" b="1" dirty="0">
                <a:solidFill>
                  <a:srgbClr val="123C88"/>
                </a:solidFill>
                <a:latin typeface="Arial Unicode MS" pitchFamily="34" charset="0"/>
                <a:ea typeface="Arial Unicode MS" pitchFamily="34" charset="-122"/>
                <a:cs typeface="Arial Unicode MS" pitchFamily="34" charset="-120"/>
              </a:rPr>
              <a:t>Frontend Worktree</a:t>
            </a:r>
            <a:endParaRPr lang="en-US" sz="930" dirty="0"/>
          </a:p>
        </p:txBody>
      </p:sp>
      <p:sp>
        <p:nvSpPr>
          <p:cNvPr id="7" name="Shape 5"/>
          <p:cNvSpPr/>
          <p:nvPr/>
        </p:nvSpPr>
        <p:spPr>
          <a:xfrm>
            <a:off x="502920" y="1389888"/>
            <a:ext cx="1755648" cy="1033272"/>
          </a:xfrm>
          <a:prstGeom prst="roundRect">
            <a:avLst>
              <a:gd name="adj" fmla="val 8850"/>
            </a:avLst>
          </a:prstGeom>
          <a:solidFill>
            <a:srgbClr val="EFF4FF"/>
          </a:solidFill>
          <a:ln w="15240">
            <a:solidFill>
              <a:srgbClr val="2C63E7"/>
            </a:solidFill>
            <a:prstDash val="solid"/>
          </a:ln>
        </p:spPr>
      </p:sp>
      <p:sp>
        <p:nvSpPr>
          <p:cNvPr id="8" name="Text 6"/>
          <p:cNvSpPr/>
          <p:nvPr/>
        </p:nvSpPr>
        <p:spPr>
          <a:xfrm>
            <a:off x="594360" y="1481328"/>
            <a:ext cx="1572768" cy="320040"/>
          </a:xfrm>
          <a:prstGeom prst="rect">
            <a:avLst/>
          </a:prstGeom>
          <a:noFill/>
          <a:ln/>
        </p:spPr>
        <p:txBody>
          <a:bodyPr wrap="square" lIns="0" tIns="0" rIns="0" bIns="0" rtlCol="0" anchor="ctr">
            <a:normAutofit/>
          </a:bodyPr>
          <a:lstStyle/>
          <a:p>
            <a:pPr algn="ctr" indent="0" marL="0">
              <a:buNone/>
            </a:pPr>
            <a:r>
              <a:rPr lang="en-US" sz="1650" b="1" dirty="0">
                <a:solidFill>
                  <a:srgbClr val="123C88"/>
                </a:solidFill>
                <a:latin typeface="Arial Unicode MS" pitchFamily="34" charset="0"/>
                <a:ea typeface="Arial Unicode MS" pitchFamily="34" charset="-122"/>
                <a:cs typeface="Arial Unicode MS" pitchFamily="34" charset="-120"/>
              </a:rPr>
              <a:t>Frontend</a:t>
            </a:r>
            <a:endParaRPr lang="en-US" sz="1650" dirty="0"/>
          </a:p>
        </p:txBody>
      </p:sp>
      <p:sp>
        <p:nvSpPr>
          <p:cNvPr id="9" name="Text 7"/>
          <p:cNvSpPr/>
          <p:nvPr/>
        </p:nvSpPr>
        <p:spPr>
          <a:xfrm>
            <a:off x="612648" y="1856232"/>
            <a:ext cx="1536192" cy="347472"/>
          </a:xfrm>
          <a:prstGeom prst="rect">
            <a:avLst/>
          </a:prstGeom>
          <a:noFill/>
          <a:ln/>
        </p:spPr>
        <p:txBody>
          <a:bodyPr wrap="square" lIns="0" tIns="0" rIns="0" bIns="0" rtlCol="0" anchor="ctr">
            <a:normAutofit/>
          </a:bodyPr>
          <a:lstStyle/>
          <a:p>
            <a:pPr algn="ctr" indent="0" marL="0">
              <a:buNone/>
            </a:pPr>
            <a:r>
              <a:rPr lang="en-US" sz="940" dirty="0">
                <a:solidFill>
                  <a:srgbClr val="1F2937"/>
                </a:solidFill>
                <a:latin typeface="Aptos Mono" pitchFamily="34" charset="0"/>
                <a:ea typeface="Aptos Mono" pitchFamily="34" charset="-122"/>
                <a:cs typeface="Aptos Mono" pitchFamily="34" charset="-120"/>
              </a:rPr>
              <a:t>index.html · styles.css · app.js</a:t>
            </a:r>
            <a:endParaRPr lang="en-US" sz="940" dirty="0"/>
          </a:p>
        </p:txBody>
      </p:sp>
      <p:sp>
        <p:nvSpPr>
          <p:cNvPr id="10" name="Shape 8"/>
          <p:cNvSpPr/>
          <p:nvPr/>
        </p:nvSpPr>
        <p:spPr>
          <a:xfrm>
            <a:off x="2331720" y="1901952"/>
            <a:ext cx="310896" cy="0"/>
          </a:xfrm>
          <a:prstGeom prst="line">
            <a:avLst/>
          </a:prstGeom>
          <a:noFill/>
          <a:ln w="26670">
            <a:solidFill>
              <a:srgbClr val="F37321"/>
            </a:solidFill>
            <a:prstDash val="solid"/>
            <a:tailEnd type="triangle"/>
          </a:ln>
        </p:spPr>
      </p:sp>
      <p:sp>
        <p:nvSpPr>
          <p:cNvPr id="11" name="Shape 9"/>
          <p:cNvSpPr/>
          <p:nvPr/>
        </p:nvSpPr>
        <p:spPr>
          <a:xfrm>
            <a:off x="2670048" y="914400"/>
            <a:ext cx="1371600" cy="310896"/>
          </a:xfrm>
          <a:prstGeom prst="roundRect">
            <a:avLst>
              <a:gd name="adj" fmla="val 52941"/>
            </a:avLst>
          </a:prstGeom>
          <a:solidFill>
            <a:srgbClr val="F7F8FA"/>
          </a:solidFill>
          <a:ln w="7620">
            <a:solidFill>
              <a:srgbClr val="F7F8FA"/>
            </a:solidFill>
            <a:prstDash val="solid"/>
          </a:ln>
        </p:spPr>
      </p:sp>
      <p:sp>
        <p:nvSpPr>
          <p:cNvPr id="12" name="Text 10"/>
          <p:cNvSpPr/>
          <p:nvPr/>
        </p:nvSpPr>
        <p:spPr>
          <a:xfrm>
            <a:off x="2724912" y="914400"/>
            <a:ext cx="1261872" cy="310896"/>
          </a:xfrm>
          <a:prstGeom prst="rect">
            <a:avLst/>
          </a:prstGeom>
          <a:noFill/>
          <a:ln/>
        </p:spPr>
        <p:txBody>
          <a:bodyPr wrap="square" lIns="0" tIns="0" rIns="0" bIns="0" rtlCol="0" anchor="ctr">
            <a:normAutofit/>
          </a:bodyPr>
          <a:lstStyle/>
          <a:p>
            <a:pPr algn="ctr" indent="0" marL="0">
              <a:buNone/>
            </a:pPr>
            <a:r>
              <a:rPr lang="en-US" sz="930" b="1" dirty="0">
                <a:solidFill>
                  <a:srgbClr val="123C88"/>
                </a:solidFill>
                <a:latin typeface="Arial Unicode MS" pitchFamily="34" charset="0"/>
                <a:ea typeface="Arial Unicode MS" pitchFamily="34" charset="-122"/>
                <a:cs typeface="Arial Unicode MS" pitchFamily="34" charset="-120"/>
              </a:rPr>
              <a:t>제공 · 읽기 전용</a:t>
            </a:r>
            <a:endParaRPr lang="en-US" sz="930" dirty="0"/>
          </a:p>
        </p:txBody>
      </p:sp>
      <p:sp>
        <p:nvSpPr>
          <p:cNvPr id="13" name="Shape 11"/>
          <p:cNvSpPr/>
          <p:nvPr/>
        </p:nvSpPr>
        <p:spPr>
          <a:xfrm>
            <a:off x="2670048" y="1389888"/>
            <a:ext cx="1371600" cy="1033272"/>
          </a:xfrm>
          <a:prstGeom prst="roundRect">
            <a:avLst>
              <a:gd name="adj" fmla="val 8850"/>
            </a:avLst>
          </a:prstGeom>
          <a:solidFill>
            <a:srgbClr val="F7F8FA"/>
          </a:solidFill>
          <a:ln w="15240">
            <a:solidFill>
              <a:srgbClr val="D8DEE8"/>
            </a:solidFill>
            <a:prstDash val="solid"/>
          </a:ln>
        </p:spPr>
      </p:sp>
      <p:sp>
        <p:nvSpPr>
          <p:cNvPr id="14" name="Text 12"/>
          <p:cNvSpPr/>
          <p:nvPr/>
        </p:nvSpPr>
        <p:spPr>
          <a:xfrm>
            <a:off x="2761488" y="1481328"/>
            <a:ext cx="1188720" cy="320040"/>
          </a:xfrm>
          <a:prstGeom prst="rect">
            <a:avLst/>
          </a:prstGeom>
          <a:noFill/>
          <a:ln/>
        </p:spPr>
        <p:txBody>
          <a:bodyPr wrap="square" lIns="0" tIns="0" rIns="0" bIns="0" rtlCol="0" anchor="ctr">
            <a:normAutofit/>
          </a:bodyPr>
          <a:lstStyle/>
          <a:p>
            <a:pPr algn="ctr" indent="0" marL="0">
              <a:buNone/>
            </a:pPr>
            <a:r>
              <a:rPr lang="en-US" sz="1650" b="1" dirty="0">
                <a:solidFill>
                  <a:srgbClr val="123C88"/>
                </a:solidFill>
                <a:latin typeface="Arial Unicode MS" pitchFamily="34" charset="0"/>
                <a:ea typeface="Arial Unicode MS" pitchFamily="34" charset="-122"/>
                <a:cs typeface="Arial Unicode MS" pitchFamily="34" charset="-120"/>
              </a:rPr>
              <a:t>API</a:t>
            </a:r>
            <a:endParaRPr lang="en-US" sz="1650" dirty="0"/>
          </a:p>
        </p:txBody>
      </p:sp>
      <p:sp>
        <p:nvSpPr>
          <p:cNvPr id="15" name="Text 13"/>
          <p:cNvSpPr/>
          <p:nvPr/>
        </p:nvSpPr>
        <p:spPr>
          <a:xfrm>
            <a:off x="2779776" y="1856232"/>
            <a:ext cx="1152144" cy="347472"/>
          </a:xfrm>
          <a:prstGeom prst="rect">
            <a:avLst/>
          </a:prstGeom>
          <a:noFill/>
          <a:ln/>
        </p:spPr>
        <p:txBody>
          <a:bodyPr wrap="square" lIns="0" tIns="0" rIns="0" bIns="0" rtlCol="0" anchor="ctr">
            <a:normAutofit/>
          </a:bodyPr>
          <a:lstStyle/>
          <a:p>
            <a:pPr algn="ctr" indent="0" marL="0">
              <a:buNone/>
            </a:pPr>
            <a:r>
              <a:rPr lang="en-US" sz="940" dirty="0">
                <a:solidFill>
                  <a:srgbClr val="1F2937"/>
                </a:solidFill>
                <a:latin typeface="Aptos Mono" pitchFamily="34" charset="0"/>
                <a:ea typeface="Aptos Mono" pitchFamily="34" charset="-122"/>
                <a:cs typeface="Aptos Mono" pitchFamily="34" charset="-120"/>
              </a:rPr>
              <a:t>app.py</a:t>
            </a:r>
            <a:endParaRPr lang="en-US" sz="940" dirty="0"/>
          </a:p>
        </p:txBody>
      </p:sp>
      <p:sp>
        <p:nvSpPr>
          <p:cNvPr id="16" name="Shape 14"/>
          <p:cNvSpPr/>
          <p:nvPr/>
        </p:nvSpPr>
        <p:spPr>
          <a:xfrm>
            <a:off x="4114800" y="1901952"/>
            <a:ext cx="310896" cy="0"/>
          </a:xfrm>
          <a:prstGeom prst="line">
            <a:avLst/>
          </a:prstGeom>
          <a:noFill/>
          <a:ln w="26670">
            <a:solidFill>
              <a:srgbClr val="F37321"/>
            </a:solidFill>
            <a:prstDash val="solid"/>
            <a:tailEnd type="triangle"/>
          </a:ln>
        </p:spPr>
      </p:sp>
      <p:sp>
        <p:nvSpPr>
          <p:cNvPr id="17" name="Shape 15"/>
          <p:cNvSpPr/>
          <p:nvPr/>
        </p:nvSpPr>
        <p:spPr>
          <a:xfrm>
            <a:off x="4572000" y="914400"/>
            <a:ext cx="1371600" cy="310896"/>
          </a:xfrm>
          <a:prstGeom prst="roundRect">
            <a:avLst>
              <a:gd name="adj" fmla="val 52941"/>
            </a:avLst>
          </a:prstGeom>
          <a:solidFill>
            <a:srgbClr val="F7F8FA"/>
          </a:solidFill>
          <a:ln w="7620">
            <a:solidFill>
              <a:srgbClr val="F7F8FA"/>
            </a:solidFill>
            <a:prstDash val="solid"/>
          </a:ln>
        </p:spPr>
      </p:sp>
      <p:sp>
        <p:nvSpPr>
          <p:cNvPr id="18" name="Text 16"/>
          <p:cNvSpPr/>
          <p:nvPr/>
        </p:nvSpPr>
        <p:spPr>
          <a:xfrm>
            <a:off x="4626864" y="914400"/>
            <a:ext cx="1261872" cy="310896"/>
          </a:xfrm>
          <a:prstGeom prst="rect">
            <a:avLst/>
          </a:prstGeom>
          <a:noFill/>
          <a:ln/>
        </p:spPr>
        <p:txBody>
          <a:bodyPr wrap="square" lIns="0" tIns="0" rIns="0" bIns="0" rtlCol="0" anchor="ctr">
            <a:normAutofit/>
          </a:bodyPr>
          <a:lstStyle/>
          <a:p>
            <a:pPr algn="ctr" indent="0" marL="0">
              <a:buNone/>
            </a:pPr>
            <a:r>
              <a:rPr lang="en-US" sz="930" b="1" dirty="0">
                <a:solidFill>
                  <a:srgbClr val="D95514"/>
                </a:solidFill>
                <a:latin typeface="Arial Unicode MS" pitchFamily="34" charset="0"/>
                <a:ea typeface="Arial Unicode MS" pitchFamily="34" charset="-122"/>
                <a:cs typeface="Arial Unicode MS" pitchFamily="34" charset="-120"/>
              </a:rPr>
              <a:t>Service Agent</a:t>
            </a:r>
            <a:endParaRPr lang="en-US" sz="930" dirty="0"/>
          </a:p>
        </p:txBody>
      </p:sp>
      <p:sp>
        <p:nvSpPr>
          <p:cNvPr id="19" name="Shape 17"/>
          <p:cNvSpPr/>
          <p:nvPr/>
        </p:nvSpPr>
        <p:spPr>
          <a:xfrm>
            <a:off x="4572000" y="1389888"/>
            <a:ext cx="1371600" cy="1033272"/>
          </a:xfrm>
          <a:prstGeom prst="roundRect">
            <a:avLst>
              <a:gd name="adj" fmla="val 8850"/>
            </a:avLst>
          </a:prstGeom>
          <a:solidFill>
            <a:srgbClr val="FFF2E6"/>
          </a:solidFill>
          <a:ln w="15240">
            <a:solidFill>
              <a:srgbClr val="F37321"/>
            </a:solidFill>
            <a:prstDash val="solid"/>
          </a:ln>
        </p:spPr>
      </p:sp>
      <p:sp>
        <p:nvSpPr>
          <p:cNvPr id="20" name="Text 18"/>
          <p:cNvSpPr/>
          <p:nvPr/>
        </p:nvSpPr>
        <p:spPr>
          <a:xfrm>
            <a:off x="4663440" y="1481328"/>
            <a:ext cx="1188720" cy="320040"/>
          </a:xfrm>
          <a:prstGeom prst="rect">
            <a:avLst/>
          </a:prstGeom>
          <a:noFill/>
          <a:ln/>
        </p:spPr>
        <p:txBody>
          <a:bodyPr wrap="square" lIns="0" tIns="0" rIns="0" bIns="0" rtlCol="0" anchor="ctr">
            <a:normAutofit/>
          </a:bodyPr>
          <a:lstStyle/>
          <a:p>
            <a:pPr algn="ctr" indent="0" marL="0">
              <a:buNone/>
            </a:pPr>
            <a:r>
              <a:rPr lang="en-US" sz="1650" b="1" dirty="0">
                <a:solidFill>
                  <a:srgbClr val="D95514"/>
                </a:solidFill>
                <a:latin typeface="Arial Unicode MS" pitchFamily="34" charset="0"/>
                <a:ea typeface="Arial Unicode MS" pitchFamily="34" charset="-122"/>
                <a:cs typeface="Arial Unicode MS" pitchFamily="34" charset="-120"/>
              </a:rPr>
              <a:t>Service</a:t>
            </a:r>
            <a:endParaRPr lang="en-US" sz="1650" dirty="0"/>
          </a:p>
        </p:txBody>
      </p:sp>
      <p:sp>
        <p:nvSpPr>
          <p:cNvPr id="21" name="Text 19"/>
          <p:cNvSpPr/>
          <p:nvPr/>
        </p:nvSpPr>
        <p:spPr>
          <a:xfrm>
            <a:off x="4681728" y="1856232"/>
            <a:ext cx="1152144" cy="347472"/>
          </a:xfrm>
          <a:prstGeom prst="rect">
            <a:avLst/>
          </a:prstGeom>
          <a:noFill/>
          <a:ln/>
        </p:spPr>
        <p:txBody>
          <a:bodyPr wrap="square" lIns="0" tIns="0" rIns="0" bIns="0" rtlCol="0" anchor="ctr">
            <a:normAutofit/>
          </a:bodyPr>
          <a:lstStyle/>
          <a:p>
            <a:pPr algn="ctr" indent="0" marL="0">
              <a:buNone/>
            </a:pPr>
            <a:r>
              <a:rPr lang="en-US" sz="940" dirty="0">
                <a:solidFill>
                  <a:srgbClr val="1F2937"/>
                </a:solidFill>
                <a:latin typeface="Aptos Mono" pitchFamily="34" charset="0"/>
                <a:ea typeface="Aptos Mono" pitchFamily="34" charset="-122"/>
                <a:cs typeface="Aptos Mono" pitchFamily="34" charset="-120"/>
              </a:rPr>
              <a:t>service.py</a:t>
            </a:r>
            <a:endParaRPr lang="en-US" sz="940" dirty="0"/>
          </a:p>
        </p:txBody>
      </p:sp>
      <p:sp>
        <p:nvSpPr>
          <p:cNvPr id="22" name="Shape 20"/>
          <p:cNvSpPr/>
          <p:nvPr/>
        </p:nvSpPr>
        <p:spPr>
          <a:xfrm>
            <a:off x="6016752" y="1901952"/>
            <a:ext cx="310896" cy="0"/>
          </a:xfrm>
          <a:prstGeom prst="line">
            <a:avLst/>
          </a:prstGeom>
          <a:noFill/>
          <a:ln w="26670">
            <a:solidFill>
              <a:srgbClr val="F37321"/>
            </a:solidFill>
            <a:prstDash val="solid"/>
            <a:tailEnd type="triangle"/>
          </a:ln>
        </p:spPr>
      </p:sp>
      <p:sp>
        <p:nvSpPr>
          <p:cNvPr id="23" name="Shape 21"/>
          <p:cNvSpPr/>
          <p:nvPr/>
        </p:nvSpPr>
        <p:spPr>
          <a:xfrm>
            <a:off x="6473952" y="914400"/>
            <a:ext cx="2148840" cy="310896"/>
          </a:xfrm>
          <a:prstGeom prst="roundRect">
            <a:avLst>
              <a:gd name="adj" fmla="val 52941"/>
            </a:avLst>
          </a:prstGeom>
          <a:solidFill>
            <a:srgbClr val="F7F8FA"/>
          </a:solidFill>
          <a:ln w="7620">
            <a:solidFill>
              <a:srgbClr val="F7F8FA"/>
            </a:solidFill>
            <a:prstDash val="solid"/>
          </a:ln>
        </p:spPr>
      </p:sp>
      <p:sp>
        <p:nvSpPr>
          <p:cNvPr id="24" name="Text 22"/>
          <p:cNvSpPr/>
          <p:nvPr/>
        </p:nvSpPr>
        <p:spPr>
          <a:xfrm>
            <a:off x="6528816" y="914400"/>
            <a:ext cx="2039112" cy="310896"/>
          </a:xfrm>
          <a:prstGeom prst="rect">
            <a:avLst/>
          </a:prstGeom>
          <a:noFill/>
          <a:ln/>
        </p:spPr>
        <p:txBody>
          <a:bodyPr wrap="square" lIns="0" tIns="0" rIns="0" bIns="0" rtlCol="0" anchor="ctr">
            <a:normAutofit/>
          </a:bodyPr>
          <a:lstStyle/>
          <a:p>
            <a:pPr algn="ctr" indent="0" marL="0">
              <a:buNone/>
            </a:pPr>
            <a:r>
              <a:rPr lang="en-US" sz="930" b="1" dirty="0">
                <a:solidFill>
                  <a:srgbClr val="123C88"/>
                </a:solidFill>
                <a:latin typeface="Arial Unicode MS" pitchFamily="34" charset="0"/>
                <a:ea typeface="Arial Unicode MS" pitchFamily="34" charset="-122"/>
                <a:cs typeface="Arial Unicode MS" pitchFamily="34" charset="-120"/>
              </a:rPr>
              <a:t>Domain / 제공</a:t>
            </a:r>
            <a:endParaRPr lang="en-US" sz="930" dirty="0"/>
          </a:p>
        </p:txBody>
      </p:sp>
      <p:sp>
        <p:nvSpPr>
          <p:cNvPr id="25" name="Shape 23"/>
          <p:cNvSpPr/>
          <p:nvPr/>
        </p:nvSpPr>
        <p:spPr>
          <a:xfrm>
            <a:off x="6473952" y="1389888"/>
            <a:ext cx="2148840" cy="1033272"/>
          </a:xfrm>
          <a:prstGeom prst="roundRect">
            <a:avLst>
              <a:gd name="adj" fmla="val 8850"/>
            </a:avLst>
          </a:prstGeom>
          <a:solidFill>
            <a:srgbClr val="F7F8FA"/>
          </a:solidFill>
          <a:ln w="15240">
            <a:solidFill>
              <a:srgbClr val="D8DEE8"/>
            </a:solidFill>
            <a:prstDash val="solid"/>
          </a:ln>
        </p:spPr>
      </p:sp>
      <p:sp>
        <p:nvSpPr>
          <p:cNvPr id="26" name="Text 24"/>
          <p:cNvSpPr/>
          <p:nvPr/>
        </p:nvSpPr>
        <p:spPr>
          <a:xfrm>
            <a:off x="6565392" y="1481328"/>
            <a:ext cx="1965960" cy="320040"/>
          </a:xfrm>
          <a:prstGeom prst="rect">
            <a:avLst/>
          </a:prstGeom>
          <a:noFill/>
          <a:ln/>
        </p:spPr>
        <p:txBody>
          <a:bodyPr wrap="square" lIns="0" tIns="0" rIns="0" bIns="0" rtlCol="0" anchor="ctr">
            <a:normAutofit/>
          </a:bodyPr>
          <a:lstStyle/>
          <a:p>
            <a:pPr algn="ctr" indent="0" marL="0">
              <a:buNone/>
            </a:pPr>
            <a:r>
              <a:rPr lang="en-US" sz="1650" b="1" dirty="0">
                <a:solidFill>
                  <a:srgbClr val="123C88"/>
                </a:solidFill>
                <a:latin typeface="Arial Unicode MS" pitchFamily="34" charset="0"/>
                <a:ea typeface="Arial Unicode MS" pitchFamily="34" charset="-122"/>
                <a:cs typeface="Arial Unicode MS" pitchFamily="34" charset="-120"/>
              </a:rPr>
              <a:t>Rules / Store</a:t>
            </a:r>
            <a:endParaRPr lang="en-US" sz="1650" dirty="0"/>
          </a:p>
        </p:txBody>
      </p:sp>
      <p:sp>
        <p:nvSpPr>
          <p:cNvPr id="27" name="Text 25"/>
          <p:cNvSpPr/>
          <p:nvPr/>
        </p:nvSpPr>
        <p:spPr>
          <a:xfrm>
            <a:off x="6583680" y="1856232"/>
            <a:ext cx="1929384" cy="347472"/>
          </a:xfrm>
          <a:prstGeom prst="rect">
            <a:avLst/>
          </a:prstGeom>
          <a:noFill/>
          <a:ln/>
        </p:spPr>
        <p:txBody>
          <a:bodyPr wrap="square" lIns="0" tIns="0" rIns="0" bIns="0" rtlCol="0" anchor="ctr">
            <a:normAutofit/>
          </a:bodyPr>
          <a:lstStyle/>
          <a:p>
            <a:pPr algn="ctr" indent="0" marL="0">
              <a:buNone/>
            </a:pPr>
            <a:r>
              <a:rPr lang="en-US" sz="940" dirty="0">
                <a:solidFill>
                  <a:srgbClr val="1F2937"/>
                </a:solidFill>
                <a:latin typeface="Aptos Mono" pitchFamily="34" charset="0"/>
                <a:ea typeface="Aptos Mono" pitchFamily="34" charset="-122"/>
                <a:cs typeface="Aptos Mono" pitchFamily="34" charset="-120"/>
              </a:rPr>
              <a:t>engine.py · store.py</a:t>
            </a:r>
            <a:endParaRPr lang="en-US" sz="940" dirty="0"/>
          </a:p>
        </p:txBody>
      </p:sp>
      <p:sp>
        <p:nvSpPr>
          <p:cNvPr id="28" name="Shape 26"/>
          <p:cNvSpPr/>
          <p:nvPr/>
        </p:nvSpPr>
        <p:spPr>
          <a:xfrm>
            <a:off x="658368" y="2788920"/>
            <a:ext cx="7827264" cy="658368"/>
          </a:xfrm>
          <a:prstGeom prst="roundRect">
            <a:avLst>
              <a:gd name="adj" fmla="val 11111"/>
            </a:avLst>
          </a:prstGeom>
          <a:solidFill>
            <a:srgbClr val="1F2937"/>
          </a:solidFill>
          <a:ln w="7620">
            <a:solidFill>
              <a:srgbClr val="1F2937"/>
            </a:solidFill>
            <a:prstDash val="solid"/>
          </a:ln>
        </p:spPr>
      </p:sp>
      <p:sp>
        <p:nvSpPr>
          <p:cNvPr id="29" name="Text 27"/>
          <p:cNvSpPr/>
          <p:nvPr/>
        </p:nvSpPr>
        <p:spPr>
          <a:xfrm>
            <a:off x="896112" y="2788920"/>
            <a:ext cx="914400" cy="658368"/>
          </a:xfrm>
          <a:prstGeom prst="rect">
            <a:avLst/>
          </a:prstGeom>
          <a:noFill/>
          <a:ln/>
        </p:spPr>
        <p:txBody>
          <a:bodyPr wrap="square" lIns="0" tIns="0" rIns="0" bIns="0" rtlCol="0" anchor="ctr">
            <a:normAutofit/>
          </a:bodyPr>
          <a:lstStyle/>
          <a:p>
            <a:pPr algn="ctr" indent="0" marL="0">
              <a:buNone/>
            </a:pPr>
            <a:r>
              <a:rPr lang="en-US" sz="1100" b="1" dirty="0">
                <a:solidFill>
                  <a:srgbClr val="F7C38E"/>
                </a:solidFill>
                <a:latin typeface="Arial Unicode MS" pitchFamily="34" charset="0"/>
                <a:ea typeface="Arial Unicode MS" pitchFamily="34" charset="-122"/>
                <a:cs typeface="Arial Unicode MS" pitchFamily="34" charset="-120"/>
              </a:rPr>
              <a:t>검증 순서</a:t>
            </a:r>
            <a:endParaRPr lang="en-US" sz="1100" dirty="0"/>
          </a:p>
        </p:txBody>
      </p:sp>
      <p:sp>
        <p:nvSpPr>
          <p:cNvPr id="30" name="Text 28"/>
          <p:cNvSpPr/>
          <p:nvPr/>
        </p:nvSpPr>
        <p:spPr>
          <a:xfrm>
            <a:off x="1828800" y="2788920"/>
            <a:ext cx="6254496" cy="658368"/>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Aptos Mono" pitchFamily="34" charset="0"/>
                <a:ea typeface="Aptos Mono" pitchFamily="34" charset="-122"/>
                <a:cs typeface="Aptos Mono" pitchFamily="34" charset="-120"/>
              </a:rPr>
              <a:t>입력 → 중복 → 재고 → 상태 → movement type → store 1회</a:t>
            </a:r>
            <a:endParaRPr lang="en-US" sz="1400" dirty="0"/>
          </a:p>
        </p:txBody>
      </p:sp>
      <p:sp>
        <p:nvSpPr>
          <p:cNvPr id="31" name="Shape 29"/>
          <p:cNvSpPr/>
          <p:nvPr/>
        </p:nvSpPr>
        <p:spPr>
          <a:xfrm>
            <a:off x="859536" y="3840480"/>
            <a:ext cx="1874520" cy="0"/>
          </a:xfrm>
          <a:prstGeom prst="line">
            <a:avLst/>
          </a:prstGeom>
          <a:noFill/>
          <a:ln w="44450">
            <a:solidFill>
              <a:srgbClr val="2C63E7"/>
            </a:solidFill>
            <a:prstDash val="solid"/>
          </a:ln>
        </p:spPr>
      </p:sp>
      <p:sp>
        <p:nvSpPr>
          <p:cNvPr id="32" name="Text 30"/>
          <p:cNvSpPr/>
          <p:nvPr/>
        </p:nvSpPr>
        <p:spPr>
          <a:xfrm>
            <a:off x="859536" y="3913632"/>
            <a:ext cx="1874520" cy="347472"/>
          </a:xfrm>
          <a:prstGeom prst="rect">
            <a:avLst/>
          </a:prstGeom>
          <a:noFill/>
          <a:ln/>
        </p:spPr>
        <p:txBody>
          <a:bodyPr wrap="square" lIns="0" tIns="0" rIns="0" bIns="0" rtlCol="0" anchor="ctr">
            <a:normAutofit/>
          </a:bodyPr>
          <a:lstStyle/>
          <a:p>
            <a:pPr algn="ctr" indent="0" marL="0">
              <a:buNone/>
            </a:pPr>
            <a:r>
              <a:rPr lang="en-US" sz="1250" b="1" dirty="0">
                <a:solidFill>
                  <a:srgbClr val="1F2937"/>
                </a:solidFill>
                <a:latin typeface="Arial Unicode MS" pitchFamily="34" charset="0"/>
                <a:ea typeface="Arial Unicode MS" pitchFamily="34" charset="-122"/>
                <a:cs typeface="Arial Unicode MS" pitchFamily="34" charset="-120"/>
              </a:rPr>
              <a:t>API 계약만 공유</a:t>
            </a:r>
            <a:endParaRPr lang="en-US" sz="1250" dirty="0"/>
          </a:p>
        </p:txBody>
      </p:sp>
      <p:sp>
        <p:nvSpPr>
          <p:cNvPr id="33" name="Shape 31"/>
          <p:cNvSpPr/>
          <p:nvPr/>
        </p:nvSpPr>
        <p:spPr>
          <a:xfrm>
            <a:off x="3383280" y="3840480"/>
            <a:ext cx="1874520" cy="0"/>
          </a:xfrm>
          <a:prstGeom prst="line">
            <a:avLst/>
          </a:prstGeom>
          <a:noFill/>
          <a:ln w="44450">
            <a:solidFill>
              <a:srgbClr val="F37321"/>
            </a:solidFill>
            <a:prstDash val="solid"/>
          </a:ln>
        </p:spPr>
      </p:sp>
      <p:sp>
        <p:nvSpPr>
          <p:cNvPr id="34" name="Text 32"/>
          <p:cNvSpPr/>
          <p:nvPr/>
        </p:nvSpPr>
        <p:spPr>
          <a:xfrm>
            <a:off x="3383280" y="3913632"/>
            <a:ext cx="1874520" cy="347472"/>
          </a:xfrm>
          <a:prstGeom prst="rect">
            <a:avLst/>
          </a:prstGeom>
          <a:noFill/>
          <a:ln/>
        </p:spPr>
        <p:txBody>
          <a:bodyPr wrap="square" lIns="0" tIns="0" rIns="0" bIns="0" rtlCol="0" anchor="ctr">
            <a:normAutofit/>
          </a:bodyPr>
          <a:lstStyle/>
          <a:p>
            <a:pPr algn="ctr" indent="0" marL="0">
              <a:buNone/>
            </a:pPr>
            <a:r>
              <a:rPr lang="en-US" sz="1250" b="1" dirty="0">
                <a:solidFill>
                  <a:srgbClr val="1F2937"/>
                </a:solidFill>
                <a:latin typeface="Arial Unicode MS" pitchFamily="34" charset="0"/>
                <a:ea typeface="Arial Unicode MS" pitchFamily="34" charset="-122"/>
                <a:cs typeface="Arial Unicode MS" pitchFamily="34" charset="-120"/>
              </a:rPr>
              <a:t>한 파일에 작성자 1명</a:t>
            </a:r>
            <a:endParaRPr lang="en-US" sz="1250" dirty="0"/>
          </a:p>
        </p:txBody>
      </p:sp>
      <p:sp>
        <p:nvSpPr>
          <p:cNvPr id="35" name="Shape 33"/>
          <p:cNvSpPr/>
          <p:nvPr/>
        </p:nvSpPr>
        <p:spPr>
          <a:xfrm>
            <a:off x="5907024" y="3840480"/>
            <a:ext cx="1874520" cy="0"/>
          </a:xfrm>
          <a:prstGeom prst="line">
            <a:avLst/>
          </a:prstGeom>
          <a:noFill/>
          <a:ln w="44450">
            <a:solidFill>
              <a:srgbClr val="2C63E7"/>
            </a:solidFill>
            <a:prstDash val="solid"/>
          </a:ln>
        </p:spPr>
      </p:sp>
      <p:sp>
        <p:nvSpPr>
          <p:cNvPr id="36" name="Text 34"/>
          <p:cNvSpPr/>
          <p:nvPr/>
        </p:nvSpPr>
        <p:spPr>
          <a:xfrm>
            <a:off x="5907024" y="3913632"/>
            <a:ext cx="1874520" cy="347472"/>
          </a:xfrm>
          <a:prstGeom prst="rect">
            <a:avLst/>
          </a:prstGeom>
          <a:noFill/>
          <a:ln/>
        </p:spPr>
        <p:txBody>
          <a:bodyPr wrap="square" lIns="0" tIns="0" rIns="0" bIns="0" rtlCol="0" anchor="ctr">
            <a:normAutofit/>
          </a:bodyPr>
          <a:lstStyle/>
          <a:p>
            <a:pPr algn="ctr" indent="0" marL="0">
              <a:buNone/>
            </a:pPr>
            <a:r>
              <a:rPr lang="en-US" sz="1250" b="1" dirty="0">
                <a:solidFill>
                  <a:srgbClr val="1F2937"/>
                </a:solidFill>
                <a:latin typeface="Arial Unicode MS" pitchFamily="34" charset="0"/>
                <a:ea typeface="Arial Unicode MS" pitchFamily="34" charset="-122"/>
                <a:cs typeface="Arial Unicode MS" pitchFamily="34" charset="-120"/>
              </a:rPr>
              <a:t>tests/** 읽기 전용</a:t>
            </a:r>
            <a:endParaRPr lang="en-US" sz="1250" dirty="0"/>
          </a:p>
        </p:txBody>
      </p:sp>
      <p:sp>
        <p:nvSpPr>
          <p:cNvPr id="37" name="Shape 35"/>
          <p:cNvSpPr/>
          <p:nvPr/>
        </p:nvSpPr>
        <p:spPr>
          <a:xfrm>
            <a:off x="411480" y="4681728"/>
            <a:ext cx="8321040" cy="0"/>
          </a:xfrm>
          <a:prstGeom prst="line">
            <a:avLst/>
          </a:prstGeom>
          <a:noFill/>
          <a:ln w="8890">
            <a:solidFill>
              <a:srgbClr val="D8DEE8"/>
            </a:solidFill>
            <a:prstDash val="solid"/>
          </a:ln>
        </p:spPr>
      </p:sp>
      <p:sp>
        <p:nvSpPr>
          <p:cNvPr id="38" name="Text 36"/>
          <p:cNvSpPr/>
          <p:nvPr/>
        </p:nvSpPr>
        <p:spPr>
          <a:xfrm>
            <a:off x="438912" y="4736592"/>
            <a:ext cx="5074920" cy="219456"/>
          </a:xfrm>
          <a:prstGeom prst="rect">
            <a:avLst/>
          </a:prstGeom>
          <a:noFill/>
          <a:ln/>
        </p:spPr>
        <p:txBody>
          <a:bodyPr wrap="square" lIns="0" tIns="0" rIns="0" bIns="0" rtlCol="0" anchor="ctr">
            <a:normAutofit/>
          </a:bodyPr>
          <a:lstStyle/>
          <a:p>
            <a:pPr algn="l" indent="0" marL="0">
              <a:buNone/>
            </a:pPr>
            <a:r>
              <a:rPr lang="en-US" sz="850" dirty="0">
                <a:solidFill>
                  <a:srgbClr val="657084"/>
                </a:solidFill>
                <a:latin typeface="Arial Unicode MS" pitchFamily="34" charset="0"/>
                <a:ea typeface="Arial Unicode MS" pitchFamily="34" charset="-122"/>
                <a:cs typeface="Arial Unicode MS" pitchFamily="34" charset="-120"/>
              </a:rPr>
              <a:t>ARCHITECTURE §1·§4–5 · RFC-001</a:t>
            </a:r>
            <a:endParaRPr lang="en-US" sz="850" dirty="0"/>
          </a:p>
        </p:txBody>
      </p:sp>
      <p:sp>
        <p:nvSpPr>
          <p:cNvPr id="39" name="Text 37"/>
          <p:cNvSpPr/>
          <p:nvPr/>
        </p:nvSpPr>
        <p:spPr>
          <a:xfrm>
            <a:off x="5715000" y="4736592"/>
            <a:ext cx="2606040" cy="219456"/>
          </a:xfrm>
          <a:prstGeom prst="rect">
            <a:avLst/>
          </a:prstGeom>
          <a:noFill/>
          <a:ln/>
        </p:spPr>
        <p:txBody>
          <a:bodyPr wrap="square" lIns="0" tIns="0" rIns="0" bIns="0" rtlCol="0" anchor="ctr">
            <a:normAutofit/>
          </a:bodyPr>
          <a:lstStyle/>
          <a:p>
            <a:pPr algn="r" indent="0" marL="0">
              <a:buNone/>
            </a:pPr>
            <a:r>
              <a:rPr lang="en-US" sz="850" dirty="0">
                <a:solidFill>
                  <a:srgbClr val="123C88"/>
                </a:solidFill>
                <a:latin typeface="Arial Unicode MS" pitchFamily="34" charset="0"/>
                <a:ea typeface="Arial Unicode MS" pitchFamily="34" charset="-122"/>
                <a:cs typeface="Arial Unicode MS" pitchFamily="34" charset="-120"/>
              </a:rPr>
              <a:t>Agent AI for Work · Solution → PPT</a:t>
            </a:r>
            <a:endParaRPr lang="en-US" sz="850" dirty="0"/>
          </a:p>
        </p:txBody>
      </p:sp>
      <p:sp>
        <p:nvSpPr>
          <p:cNvPr id="40" name="Text 38"/>
          <p:cNvSpPr/>
          <p:nvPr/>
        </p:nvSpPr>
        <p:spPr>
          <a:xfrm>
            <a:off x="8458200" y="4736592"/>
            <a:ext cx="256032" cy="219456"/>
          </a:xfrm>
          <a:prstGeom prst="rect">
            <a:avLst/>
          </a:prstGeom>
          <a:noFill/>
          <a:ln/>
        </p:spPr>
        <p:txBody>
          <a:bodyPr wrap="square" lIns="0" tIns="0" rIns="0" bIns="0" rtlCol="0" anchor="ctr">
            <a:normAutofit/>
          </a:bodyPr>
          <a:lstStyle/>
          <a:p>
            <a:pPr algn="r" indent="0" marL="0">
              <a:buNone/>
            </a:pPr>
            <a:r>
              <a:rPr lang="en-US" sz="900" b="1" dirty="0">
                <a:solidFill>
                  <a:srgbClr val="123C88"/>
                </a:solidFill>
                <a:latin typeface="Arial Unicode MS" pitchFamily="34" charset="0"/>
                <a:ea typeface="Arial Unicode MS" pitchFamily="34" charset="-122"/>
                <a:cs typeface="Arial Unicode M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F37321"/>
          </a:solidFill>
          <a:ln w="7620">
            <a:solidFill>
              <a:srgbClr val="F37321"/>
            </a:solidFill>
            <a:prstDash val="solid"/>
          </a:ln>
        </p:spPr>
      </p:sp>
      <p:sp>
        <p:nvSpPr>
          <p:cNvPr id="3" name="Text 1"/>
          <p:cNvSpPr/>
          <p:nvPr/>
        </p:nvSpPr>
        <p:spPr>
          <a:xfrm>
            <a:off x="438912" y="73152"/>
            <a:ext cx="1234440" cy="384048"/>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rial Unicode MS" pitchFamily="34" charset="0"/>
                <a:ea typeface="Arial Unicode MS" pitchFamily="34" charset="-122"/>
                <a:cs typeface="Arial Unicode MS" pitchFamily="34" charset="-120"/>
              </a:rPr>
              <a:t>06 | 검증과 완료</a:t>
            </a:r>
            <a:endParaRPr lang="en-US" sz="1200" dirty="0"/>
          </a:p>
        </p:txBody>
      </p:sp>
      <p:sp>
        <p:nvSpPr>
          <p:cNvPr id="4" name="Text 2"/>
          <p:cNvSpPr/>
          <p:nvPr/>
        </p:nvSpPr>
        <p:spPr>
          <a:xfrm>
            <a:off x="1755648" y="64008"/>
            <a:ext cx="6931152" cy="402336"/>
          </a:xfrm>
          <a:prstGeom prst="rect">
            <a:avLst/>
          </a:prstGeom>
          <a:noFill/>
          <a:ln/>
        </p:spPr>
        <p:txBody>
          <a:bodyPr wrap="square" lIns="0" tIns="0" rIns="0" bIns="0" rtlCol="0" anchor="ctr">
            <a:normAutofit/>
          </a:bodyPr>
          <a:lstStyle/>
          <a:p>
            <a:pPr algn="l" indent="0" marL="0">
              <a:buNone/>
            </a:pPr>
            <a:r>
              <a:rPr lang="en-US" sz="2000" b="1" dirty="0">
                <a:solidFill>
                  <a:srgbClr val="FFFFFF"/>
                </a:solidFill>
                <a:latin typeface="Arial Unicode MS" pitchFamily="34" charset="0"/>
                <a:ea typeface="Arial Unicode MS" pitchFamily="34" charset="-122"/>
                <a:cs typeface="Arial Unicode MS" pitchFamily="34" charset="-120"/>
              </a:rPr>
              <a:t>23/23과 브라우저 스모크가 완료를 판정했습니다</a:t>
            </a:r>
            <a:endParaRPr lang="en-US" sz="2000" dirty="0"/>
          </a:p>
        </p:txBody>
      </p:sp>
      <p:sp>
        <p:nvSpPr>
          <p:cNvPr id="5" name="Shape 3"/>
          <p:cNvSpPr/>
          <p:nvPr/>
        </p:nvSpPr>
        <p:spPr>
          <a:xfrm>
            <a:off x="594360" y="960120"/>
            <a:ext cx="3063240" cy="3182112"/>
          </a:xfrm>
          <a:prstGeom prst="roundRect">
            <a:avLst>
              <a:gd name="adj" fmla="val 2985"/>
            </a:avLst>
          </a:prstGeom>
          <a:solidFill>
            <a:srgbClr val="1F2937"/>
          </a:solidFill>
          <a:ln w="7620">
            <a:solidFill>
              <a:srgbClr val="1F2937"/>
            </a:solidFill>
            <a:prstDash val="solid"/>
          </a:ln>
        </p:spPr>
      </p:sp>
      <p:sp>
        <p:nvSpPr>
          <p:cNvPr id="6" name="Text 4"/>
          <p:cNvSpPr/>
          <p:nvPr/>
        </p:nvSpPr>
        <p:spPr>
          <a:xfrm>
            <a:off x="777240" y="1353312"/>
            <a:ext cx="2697480" cy="914400"/>
          </a:xfrm>
          <a:prstGeom prst="rect">
            <a:avLst/>
          </a:prstGeom>
          <a:noFill/>
          <a:ln/>
        </p:spPr>
        <p:txBody>
          <a:bodyPr wrap="square" lIns="0" tIns="0" rIns="0" bIns="0" rtlCol="0" anchor="ctr">
            <a:normAutofit/>
          </a:bodyPr>
          <a:lstStyle/>
          <a:p>
            <a:pPr algn="ctr" indent="0" marL="0">
              <a:buNone/>
            </a:pPr>
            <a:r>
              <a:rPr lang="en-US" sz="4600" b="1" dirty="0">
                <a:solidFill>
                  <a:srgbClr val="FFFFFF"/>
                </a:solidFill>
                <a:latin typeface="Arial Unicode MS" pitchFamily="34" charset="0"/>
                <a:ea typeface="Arial Unicode MS" pitchFamily="34" charset="-122"/>
                <a:cs typeface="Arial Unicode MS" pitchFamily="34" charset="-120"/>
              </a:rPr>
              <a:t>23/23</a:t>
            </a:r>
            <a:endParaRPr lang="en-US" sz="4600" dirty="0"/>
          </a:p>
        </p:txBody>
      </p:sp>
      <p:sp>
        <p:nvSpPr>
          <p:cNvPr id="7" name="Text 5"/>
          <p:cNvSpPr/>
          <p:nvPr/>
        </p:nvSpPr>
        <p:spPr>
          <a:xfrm>
            <a:off x="969264" y="2286000"/>
            <a:ext cx="2331720" cy="292608"/>
          </a:xfrm>
          <a:prstGeom prst="rect">
            <a:avLst/>
          </a:prstGeom>
          <a:noFill/>
          <a:ln/>
        </p:spPr>
        <p:txBody>
          <a:bodyPr wrap="square" lIns="0" tIns="0" rIns="0" bIns="0" rtlCol="0" anchor="ctr">
            <a:normAutofit/>
          </a:bodyPr>
          <a:lstStyle/>
          <a:p>
            <a:pPr algn="ctr" indent="0" marL="0">
              <a:buNone/>
            </a:pPr>
            <a:r>
              <a:rPr lang="en-US" sz="1100" b="1" dirty="0">
                <a:solidFill>
                  <a:srgbClr val="F7C38E"/>
                </a:solidFill>
                <a:latin typeface="Arial Unicode MS" pitchFamily="34" charset="0"/>
                <a:ea typeface="Arial Unicode MS" pitchFamily="34" charset="-122"/>
                <a:cs typeface="Arial Unicode MS" pitchFamily="34" charset="-120"/>
              </a:rPr>
              <a:t>AUTOMATED TESTS</a:t>
            </a:r>
            <a:endParaRPr lang="en-US" sz="1100" dirty="0"/>
          </a:p>
        </p:txBody>
      </p:sp>
      <p:sp>
        <p:nvSpPr>
          <p:cNvPr id="8" name="Text 6"/>
          <p:cNvSpPr/>
          <p:nvPr/>
        </p:nvSpPr>
        <p:spPr>
          <a:xfrm>
            <a:off x="1005840" y="2724912"/>
            <a:ext cx="2194560" cy="219456"/>
          </a:xfrm>
          <a:prstGeom prst="rect">
            <a:avLst/>
          </a:prstGeom>
          <a:noFill/>
          <a:ln/>
        </p:spPr>
        <p:txBody>
          <a:bodyPr wrap="square" lIns="0" tIns="0" rIns="0" bIns="0" rtlCol="0" anchor="ctr">
            <a:normAutofit/>
          </a:bodyPr>
          <a:lstStyle/>
          <a:p>
            <a:pPr algn="l" indent="0" marL="0">
              <a:buNone/>
            </a:pPr>
            <a:r>
              <a:rPr lang="en-US" sz="1150" dirty="0">
                <a:solidFill>
                  <a:srgbClr val="FFFFFF"/>
                </a:solidFill>
                <a:latin typeface="Arial Unicode MS" pitchFamily="34" charset="0"/>
                <a:ea typeface="Arial Unicode MS" pitchFamily="34" charset="-122"/>
                <a:cs typeface="Arial Unicode MS" pitchFamily="34" charset="-120"/>
              </a:rPr>
              <a:t>✓  Domain 규칙</a:t>
            </a:r>
            <a:endParaRPr lang="en-US" sz="1150" dirty="0"/>
          </a:p>
        </p:txBody>
      </p:sp>
      <p:sp>
        <p:nvSpPr>
          <p:cNvPr id="9" name="Text 7"/>
          <p:cNvSpPr/>
          <p:nvPr/>
        </p:nvSpPr>
        <p:spPr>
          <a:xfrm>
            <a:off x="1005840" y="3026664"/>
            <a:ext cx="2194560" cy="219456"/>
          </a:xfrm>
          <a:prstGeom prst="rect">
            <a:avLst/>
          </a:prstGeom>
          <a:noFill/>
          <a:ln/>
        </p:spPr>
        <p:txBody>
          <a:bodyPr wrap="square" lIns="0" tIns="0" rIns="0" bIns="0" rtlCol="0" anchor="ctr">
            <a:normAutofit/>
          </a:bodyPr>
          <a:lstStyle/>
          <a:p>
            <a:pPr algn="l" indent="0" marL="0">
              <a:buNone/>
            </a:pPr>
            <a:r>
              <a:rPr lang="en-US" sz="1150" dirty="0">
                <a:solidFill>
                  <a:srgbClr val="FFFFFF"/>
                </a:solidFill>
                <a:latin typeface="Arial Unicode MS" pitchFamily="34" charset="0"/>
                <a:ea typeface="Arial Unicode MS" pitchFamily="34" charset="-122"/>
                <a:cs typeface="Arial Unicode MS" pitchFamily="34" charset="-120"/>
              </a:rPr>
              <a:t>✓  Service 원자성</a:t>
            </a:r>
            <a:endParaRPr lang="en-US" sz="1150" dirty="0"/>
          </a:p>
        </p:txBody>
      </p:sp>
      <p:sp>
        <p:nvSpPr>
          <p:cNvPr id="10" name="Text 8"/>
          <p:cNvSpPr/>
          <p:nvPr/>
        </p:nvSpPr>
        <p:spPr>
          <a:xfrm>
            <a:off x="1005840" y="3328416"/>
            <a:ext cx="2194560" cy="219456"/>
          </a:xfrm>
          <a:prstGeom prst="rect">
            <a:avLst/>
          </a:prstGeom>
          <a:noFill/>
          <a:ln/>
        </p:spPr>
        <p:txBody>
          <a:bodyPr wrap="square" lIns="0" tIns="0" rIns="0" bIns="0" rtlCol="0" anchor="ctr">
            <a:normAutofit/>
          </a:bodyPr>
          <a:lstStyle/>
          <a:p>
            <a:pPr algn="l" indent="0" marL="0">
              <a:buNone/>
            </a:pPr>
            <a:r>
              <a:rPr lang="en-US" sz="1150" dirty="0">
                <a:solidFill>
                  <a:srgbClr val="FFFFFF"/>
                </a:solidFill>
                <a:latin typeface="Arial Unicode MS" pitchFamily="34" charset="0"/>
                <a:ea typeface="Arial Unicode MS" pitchFamily="34" charset="-122"/>
                <a:cs typeface="Arial Unicode MS" pitchFamily="34" charset="-120"/>
              </a:rPr>
              <a:t>✓  API 계약</a:t>
            </a:r>
            <a:endParaRPr lang="en-US" sz="1150" dirty="0"/>
          </a:p>
        </p:txBody>
      </p:sp>
      <p:sp>
        <p:nvSpPr>
          <p:cNvPr id="11" name="Text 9"/>
          <p:cNvSpPr/>
          <p:nvPr/>
        </p:nvSpPr>
        <p:spPr>
          <a:xfrm>
            <a:off x="1005840" y="3630168"/>
            <a:ext cx="2194560" cy="219456"/>
          </a:xfrm>
          <a:prstGeom prst="rect">
            <a:avLst/>
          </a:prstGeom>
          <a:noFill/>
          <a:ln/>
        </p:spPr>
        <p:txBody>
          <a:bodyPr wrap="square" lIns="0" tIns="0" rIns="0" bIns="0" rtlCol="0" anchor="ctr">
            <a:normAutofit/>
          </a:bodyPr>
          <a:lstStyle/>
          <a:p>
            <a:pPr algn="l" indent="0" marL="0">
              <a:buNone/>
            </a:pPr>
            <a:r>
              <a:rPr lang="en-US" sz="1150" dirty="0">
                <a:solidFill>
                  <a:srgbClr val="FFFFFF"/>
                </a:solidFill>
                <a:latin typeface="Arial Unicode MS" pitchFamily="34" charset="0"/>
                <a:ea typeface="Arial Unicode MS" pitchFamily="34" charset="-122"/>
                <a:cs typeface="Arial Unicode MS" pitchFamily="34" charset="-120"/>
              </a:rPr>
              <a:t>✓  Frontend DOM</a:t>
            </a:r>
            <a:endParaRPr lang="en-US" sz="1150" dirty="0"/>
          </a:p>
        </p:txBody>
      </p:sp>
      <p:sp>
        <p:nvSpPr>
          <p:cNvPr id="12" name="Text 10"/>
          <p:cNvSpPr/>
          <p:nvPr/>
        </p:nvSpPr>
        <p:spPr>
          <a:xfrm>
            <a:off x="4224528" y="1024128"/>
            <a:ext cx="3383280" cy="365760"/>
          </a:xfrm>
          <a:prstGeom prst="rect">
            <a:avLst/>
          </a:prstGeom>
          <a:noFill/>
          <a:ln/>
        </p:spPr>
        <p:txBody>
          <a:bodyPr wrap="square" lIns="0" tIns="0" rIns="0" bIns="0" rtlCol="0" anchor="ctr">
            <a:normAutofit/>
          </a:bodyPr>
          <a:lstStyle/>
          <a:p>
            <a:pPr algn="l" indent="0" marL="0">
              <a:buNone/>
            </a:pPr>
            <a:r>
              <a:rPr lang="en-US" sz="1800" b="1" dirty="0">
                <a:solidFill>
                  <a:srgbClr val="123C88"/>
                </a:solidFill>
                <a:latin typeface="Arial Unicode MS" pitchFamily="34" charset="0"/>
                <a:ea typeface="Arial Unicode MS" pitchFamily="34" charset="-122"/>
                <a:cs typeface="Arial Unicode MS" pitchFamily="34" charset="-120"/>
              </a:rPr>
              <a:t>브라우저 스모크</a:t>
            </a:r>
            <a:endParaRPr lang="en-US" sz="1800" dirty="0"/>
          </a:p>
        </p:txBody>
      </p:sp>
      <p:sp>
        <p:nvSpPr>
          <p:cNvPr id="13" name="Shape 11"/>
          <p:cNvSpPr/>
          <p:nvPr/>
        </p:nvSpPr>
        <p:spPr>
          <a:xfrm>
            <a:off x="4224528" y="1435608"/>
            <a:ext cx="4069080" cy="0"/>
          </a:xfrm>
          <a:prstGeom prst="line">
            <a:avLst/>
          </a:prstGeom>
          <a:noFill/>
          <a:ln w="31750">
            <a:solidFill>
              <a:srgbClr val="2C63E7"/>
            </a:solidFill>
            <a:prstDash val="solid"/>
          </a:ln>
        </p:spPr>
      </p:sp>
      <p:sp>
        <p:nvSpPr>
          <p:cNvPr id="14" name="Text 12"/>
          <p:cNvSpPr/>
          <p:nvPr/>
        </p:nvSpPr>
        <p:spPr>
          <a:xfrm>
            <a:off x="4279392" y="1737360"/>
            <a:ext cx="384048" cy="274320"/>
          </a:xfrm>
          <a:prstGeom prst="rect">
            <a:avLst/>
          </a:prstGeom>
          <a:noFill/>
          <a:ln/>
        </p:spPr>
        <p:txBody>
          <a:bodyPr wrap="square" lIns="0" tIns="0" rIns="0" bIns="0" rtlCol="0" anchor="ctr">
            <a:normAutofit/>
          </a:bodyPr>
          <a:lstStyle/>
          <a:p>
            <a:pPr algn="l" indent="0" marL="0">
              <a:buNone/>
            </a:pPr>
            <a:r>
              <a:rPr lang="en-US" sz="1100" b="1" dirty="0">
                <a:solidFill>
                  <a:srgbClr val="F37321"/>
                </a:solidFill>
                <a:latin typeface="Arial Unicode MS" pitchFamily="34" charset="0"/>
                <a:ea typeface="Arial Unicode MS" pitchFamily="34" charset="-122"/>
                <a:cs typeface="Arial Unicode MS" pitchFamily="34" charset="-120"/>
              </a:rPr>
              <a:t>01</a:t>
            </a:r>
            <a:endParaRPr lang="en-US" sz="1100" dirty="0"/>
          </a:p>
        </p:txBody>
      </p:sp>
      <p:sp>
        <p:nvSpPr>
          <p:cNvPr id="15" name="Text 13"/>
          <p:cNvSpPr/>
          <p:nvPr/>
        </p:nvSpPr>
        <p:spPr>
          <a:xfrm>
            <a:off x="4800600" y="1709928"/>
            <a:ext cx="3291840" cy="329184"/>
          </a:xfrm>
          <a:prstGeom prst="rect">
            <a:avLst/>
          </a:prstGeom>
          <a:noFill/>
          <a:ln/>
        </p:spPr>
        <p:txBody>
          <a:bodyPr wrap="square" lIns="0" tIns="0" rIns="0" bIns="0" rtlCol="0" anchor="ctr">
            <a:normAutofit/>
          </a:bodyPr>
          <a:lstStyle/>
          <a:p>
            <a:pPr algn="l" indent="0" marL="0">
              <a:buNone/>
            </a:pPr>
            <a:r>
              <a:rPr lang="en-US" sz="1500" b="1" dirty="0">
                <a:solidFill>
                  <a:srgbClr val="1F2937"/>
                </a:solidFill>
                <a:latin typeface="Arial Unicode MS" pitchFamily="34" charset="0"/>
                <a:ea typeface="Arial Unicode MS" pitchFamily="34" charset="-122"/>
                <a:cs typeface="Arial Unicode MS" pitchFamily="34" charset="-120"/>
              </a:rPr>
              <a:t>100 → 88 → 100</a:t>
            </a:r>
            <a:endParaRPr lang="en-US" sz="1500" dirty="0"/>
          </a:p>
        </p:txBody>
      </p:sp>
      <p:sp>
        <p:nvSpPr>
          <p:cNvPr id="16" name="Shape 14"/>
          <p:cNvSpPr/>
          <p:nvPr/>
        </p:nvSpPr>
        <p:spPr>
          <a:xfrm>
            <a:off x="4791456" y="2130552"/>
            <a:ext cx="3310128" cy="0"/>
          </a:xfrm>
          <a:prstGeom prst="line">
            <a:avLst/>
          </a:prstGeom>
          <a:noFill/>
          <a:ln w="10160">
            <a:solidFill>
              <a:srgbClr val="D8DEE8"/>
            </a:solidFill>
            <a:prstDash val="solid"/>
          </a:ln>
        </p:spPr>
      </p:sp>
      <p:sp>
        <p:nvSpPr>
          <p:cNvPr id="17" name="Text 15"/>
          <p:cNvSpPr/>
          <p:nvPr/>
        </p:nvSpPr>
        <p:spPr>
          <a:xfrm>
            <a:off x="4279392" y="2304288"/>
            <a:ext cx="384048" cy="274320"/>
          </a:xfrm>
          <a:prstGeom prst="rect">
            <a:avLst/>
          </a:prstGeom>
          <a:noFill/>
          <a:ln/>
        </p:spPr>
        <p:txBody>
          <a:bodyPr wrap="square" lIns="0" tIns="0" rIns="0" bIns="0" rtlCol="0" anchor="ctr">
            <a:normAutofit/>
          </a:bodyPr>
          <a:lstStyle/>
          <a:p>
            <a:pPr algn="l" indent="0" marL="0">
              <a:buNone/>
            </a:pPr>
            <a:r>
              <a:rPr lang="en-US" sz="1100" b="1" dirty="0">
                <a:solidFill>
                  <a:srgbClr val="F37321"/>
                </a:solidFill>
                <a:latin typeface="Arial Unicode MS" pitchFamily="34" charset="0"/>
                <a:ea typeface="Arial Unicode MS" pitchFamily="34" charset="-122"/>
                <a:cs typeface="Arial Unicode MS" pitchFamily="34" charset="-120"/>
              </a:rPr>
              <a:t>02</a:t>
            </a:r>
            <a:endParaRPr lang="en-US" sz="1100" dirty="0"/>
          </a:p>
        </p:txBody>
      </p:sp>
      <p:sp>
        <p:nvSpPr>
          <p:cNvPr id="18" name="Text 16"/>
          <p:cNvSpPr/>
          <p:nvPr/>
        </p:nvSpPr>
        <p:spPr>
          <a:xfrm>
            <a:off x="4800600" y="2276856"/>
            <a:ext cx="3291840" cy="329184"/>
          </a:xfrm>
          <a:prstGeom prst="rect">
            <a:avLst/>
          </a:prstGeom>
          <a:noFill/>
          <a:ln/>
        </p:spPr>
        <p:txBody>
          <a:bodyPr wrap="square" lIns="0" tIns="0" rIns="0" bIns="0" rtlCol="0" anchor="ctr">
            <a:normAutofit/>
          </a:bodyPr>
          <a:lstStyle/>
          <a:p>
            <a:pPr algn="l" indent="0" marL="0">
              <a:buNone/>
            </a:pPr>
            <a:r>
              <a:rPr lang="en-US" sz="1500" dirty="0">
                <a:solidFill>
                  <a:srgbClr val="1F2937"/>
                </a:solidFill>
                <a:latin typeface="Arial Unicode MS" pitchFamily="34" charset="0"/>
                <a:ea typeface="Arial Unicode MS" pitchFamily="34" charset="-122"/>
                <a:cs typeface="Arial Unicode MS" pitchFamily="34" charset="-120"/>
              </a:rPr>
              <a:t>480px 단일 열</a:t>
            </a:r>
            <a:endParaRPr lang="en-US" sz="1500" dirty="0"/>
          </a:p>
        </p:txBody>
      </p:sp>
      <p:sp>
        <p:nvSpPr>
          <p:cNvPr id="19" name="Shape 17"/>
          <p:cNvSpPr/>
          <p:nvPr/>
        </p:nvSpPr>
        <p:spPr>
          <a:xfrm>
            <a:off x="4791456" y="2697480"/>
            <a:ext cx="3310128" cy="0"/>
          </a:xfrm>
          <a:prstGeom prst="line">
            <a:avLst/>
          </a:prstGeom>
          <a:noFill/>
          <a:ln w="10160">
            <a:solidFill>
              <a:srgbClr val="D8DEE8"/>
            </a:solidFill>
            <a:prstDash val="solid"/>
          </a:ln>
        </p:spPr>
      </p:sp>
      <p:sp>
        <p:nvSpPr>
          <p:cNvPr id="20" name="Text 18"/>
          <p:cNvSpPr/>
          <p:nvPr/>
        </p:nvSpPr>
        <p:spPr>
          <a:xfrm>
            <a:off x="4279392" y="2871216"/>
            <a:ext cx="384048" cy="274320"/>
          </a:xfrm>
          <a:prstGeom prst="rect">
            <a:avLst/>
          </a:prstGeom>
          <a:noFill/>
          <a:ln/>
        </p:spPr>
        <p:txBody>
          <a:bodyPr wrap="square" lIns="0" tIns="0" rIns="0" bIns="0" rtlCol="0" anchor="ctr">
            <a:normAutofit/>
          </a:bodyPr>
          <a:lstStyle/>
          <a:p>
            <a:pPr algn="l" indent="0" marL="0">
              <a:buNone/>
            </a:pPr>
            <a:r>
              <a:rPr lang="en-US" sz="1100" b="1" dirty="0">
                <a:solidFill>
                  <a:srgbClr val="F37321"/>
                </a:solidFill>
                <a:latin typeface="Arial Unicode MS" pitchFamily="34" charset="0"/>
                <a:ea typeface="Arial Unicode MS" pitchFamily="34" charset="-122"/>
                <a:cs typeface="Arial Unicode MS" pitchFamily="34" charset="-120"/>
              </a:rPr>
              <a:t>03</a:t>
            </a:r>
            <a:endParaRPr lang="en-US" sz="1100" dirty="0"/>
          </a:p>
        </p:txBody>
      </p:sp>
      <p:sp>
        <p:nvSpPr>
          <p:cNvPr id="21" name="Text 19"/>
          <p:cNvSpPr/>
          <p:nvPr/>
        </p:nvSpPr>
        <p:spPr>
          <a:xfrm>
            <a:off x="4800600" y="2843784"/>
            <a:ext cx="3291840" cy="329184"/>
          </a:xfrm>
          <a:prstGeom prst="rect">
            <a:avLst/>
          </a:prstGeom>
          <a:noFill/>
          <a:ln/>
        </p:spPr>
        <p:txBody>
          <a:bodyPr wrap="square" lIns="0" tIns="0" rIns="0" bIns="0" rtlCol="0" anchor="ctr">
            <a:normAutofit/>
          </a:bodyPr>
          <a:lstStyle/>
          <a:p>
            <a:pPr algn="l" indent="0" marL="0">
              <a:buNone/>
            </a:pPr>
            <a:r>
              <a:rPr lang="en-US" sz="1500" dirty="0">
                <a:solidFill>
                  <a:srgbClr val="1F2937"/>
                </a:solidFill>
                <a:latin typeface="Arial Unicode MS" pitchFamily="34" charset="0"/>
                <a:ea typeface="Arial Unicode MS" pitchFamily="34" charset="-122"/>
                <a:cs typeface="Arial Unicode MS" pitchFamily="34" charset="-120"/>
              </a:rPr>
              <a:t>콘솔 오류 0건</a:t>
            </a:r>
            <a:endParaRPr lang="en-US" sz="1500" dirty="0"/>
          </a:p>
        </p:txBody>
      </p:sp>
      <p:sp>
        <p:nvSpPr>
          <p:cNvPr id="22" name="Shape 20"/>
          <p:cNvSpPr/>
          <p:nvPr/>
        </p:nvSpPr>
        <p:spPr>
          <a:xfrm>
            <a:off x="4791456" y="3264408"/>
            <a:ext cx="3310128" cy="0"/>
          </a:xfrm>
          <a:prstGeom prst="line">
            <a:avLst/>
          </a:prstGeom>
          <a:noFill/>
          <a:ln w="10160">
            <a:solidFill>
              <a:srgbClr val="D8DEE8"/>
            </a:solidFill>
            <a:prstDash val="solid"/>
          </a:ln>
        </p:spPr>
      </p:sp>
      <p:sp>
        <p:nvSpPr>
          <p:cNvPr id="23" name="Text 21"/>
          <p:cNvSpPr/>
          <p:nvPr/>
        </p:nvSpPr>
        <p:spPr>
          <a:xfrm>
            <a:off x="4279392" y="3438144"/>
            <a:ext cx="384048" cy="274320"/>
          </a:xfrm>
          <a:prstGeom prst="rect">
            <a:avLst/>
          </a:prstGeom>
          <a:noFill/>
          <a:ln/>
        </p:spPr>
        <p:txBody>
          <a:bodyPr wrap="square" lIns="0" tIns="0" rIns="0" bIns="0" rtlCol="0" anchor="ctr">
            <a:normAutofit/>
          </a:bodyPr>
          <a:lstStyle/>
          <a:p>
            <a:pPr algn="l" indent="0" marL="0">
              <a:buNone/>
            </a:pPr>
            <a:r>
              <a:rPr lang="en-US" sz="1100" b="1" dirty="0">
                <a:solidFill>
                  <a:srgbClr val="F37321"/>
                </a:solidFill>
                <a:latin typeface="Arial Unicode MS" pitchFamily="34" charset="0"/>
                <a:ea typeface="Arial Unicode MS" pitchFamily="34" charset="-122"/>
                <a:cs typeface="Arial Unicode MS" pitchFamily="34" charset="-120"/>
              </a:rPr>
              <a:t>04</a:t>
            </a:r>
            <a:endParaRPr lang="en-US" sz="1100" dirty="0"/>
          </a:p>
        </p:txBody>
      </p:sp>
      <p:sp>
        <p:nvSpPr>
          <p:cNvPr id="24" name="Text 22"/>
          <p:cNvSpPr/>
          <p:nvPr/>
        </p:nvSpPr>
        <p:spPr>
          <a:xfrm>
            <a:off x="4800600" y="3410712"/>
            <a:ext cx="3291840" cy="329184"/>
          </a:xfrm>
          <a:prstGeom prst="rect">
            <a:avLst/>
          </a:prstGeom>
          <a:noFill/>
          <a:ln/>
        </p:spPr>
        <p:txBody>
          <a:bodyPr wrap="square" lIns="0" tIns="0" rIns="0" bIns="0" rtlCol="0" anchor="ctr">
            <a:normAutofit/>
          </a:bodyPr>
          <a:lstStyle/>
          <a:p>
            <a:pPr algn="l" indent="0" marL="0">
              <a:buNone/>
            </a:pPr>
            <a:r>
              <a:rPr lang="en-US" sz="1500" dirty="0">
                <a:solidFill>
                  <a:srgbClr val="1F2937"/>
                </a:solidFill>
                <a:latin typeface="Arial Unicode MS" pitchFamily="34" charset="0"/>
                <a:ea typeface="Arial Unicode MS" pitchFamily="34" charset="-122"/>
                <a:cs typeface="Arial Unicode MS" pitchFamily="34" charset="-120"/>
              </a:rPr>
              <a:t>초기화 복원</a:t>
            </a:r>
            <a:endParaRPr lang="en-US" sz="1500" dirty="0"/>
          </a:p>
        </p:txBody>
      </p:sp>
      <p:sp>
        <p:nvSpPr>
          <p:cNvPr id="25" name="Shape 23"/>
          <p:cNvSpPr/>
          <p:nvPr/>
        </p:nvSpPr>
        <p:spPr>
          <a:xfrm>
            <a:off x="4187952" y="3977640"/>
            <a:ext cx="4041648" cy="438912"/>
          </a:xfrm>
          <a:prstGeom prst="roundRect">
            <a:avLst>
              <a:gd name="adj" fmla="val 16667"/>
            </a:avLst>
          </a:prstGeom>
          <a:solidFill>
            <a:srgbClr val="FFF2E6"/>
          </a:solidFill>
          <a:ln w="15240">
            <a:solidFill>
              <a:srgbClr val="F37321"/>
            </a:solidFill>
            <a:prstDash val="solid"/>
          </a:ln>
        </p:spPr>
      </p:sp>
      <p:sp>
        <p:nvSpPr>
          <p:cNvPr id="26" name="Text 24"/>
          <p:cNvSpPr/>
          <p:nvPr/>
        </p:nvSpPr>
        <p:spPr>
          <a:xfrm>
            <a:off x="4370832" y="3977640"/>
            <a:ext cx="3675888" cy="438912"/>
          </a:xfrm>
          <a:prstGeom prst="rect">
            <a:avLst/>
          </a:prstGeom>
          <a:noFill/>
          <a:ln/>
        </p:spPr>
        <p:txBody>
          <a:bodyPr wrap="square" lIns="0" tIns="0" rIns="0" bIns="0" rtlCol="0" anchor="ctr">
            <a:normAutofit/>
          </a:bodyPr>
          <a:lstStyle/>
          <a:p>
            <a:pPr algn="ctr" indent="0" marL="0">
              <a:buNone/>
            </a:pPr>
            <a:r>
              <a:rPr lang="en-US" sz="1180" b="1" dirty="0">
                <a:solidFill>
                  <a:srgbClr val="D95514"/>
                </a:solidFill>
                <a:latin typeface="Arial Unicode MS" pitchFamily="34" charset="0"/>
                <a:ea typeface="Arial Unicode MS" pitchFamily="34" charset="-122"/>
                <a:cs typeface="Arial Unicode MS" pitchFamily="34" charset="-120"/>
              </a:rPr>
              <a:t>23/23은 제품 효과가 아니라 자동 테스트 통과 결과입니다.</a:t>
            </a:r>
            <a:endParaRPr lang="en-US" sz="1180" dirty="0"/>
          </a:p>
        </p:txBody>
      </p:sp>
      <p:sp>
        <p:nvSpPr>
          <p:cNvPr id="27" name="Shape 25"/>
          <p:cNvSpPr/>
          <p:nvPr/>
        </p:nvSpPr>
        <p:spPr>
          <a:xfrm>
            <a:off x="411480" y="4681728"/>
            <a:ext cx="8321040" cy="0"/>
          </a:xfrm>
          <a:prstGeom prst="line">
            <a:avLst/>
          </a:prstGeom>
          <a:noFill/>
          <a:ln w="8890">
            <a:solidFill>
              <a:srgbClr val="D8DEE8"/>
            </a:solidFill>
            <a:prstDash val="solid"/>
          </a:ln>
        </p:spPr>
      </p:sp>
      <p:sp>
        <p:nvSpPr>
          <p:cNvPr id="28" name="Text 26"/>
          <p:cNvSpPr/>
          <p:nvPr/>
        </p:nvSpPr>
        <p:spPr>
          <a:xfrm>
            <a:off x="438912" y="4736592"/>
            <a:ext cx="5074920" cy="219456"/>
          </a:xfrm>
          <a:prstGeom prst="rect">
            <a:avLst/>
          </a:prstGeom>
          <a:noFill/>
          <a:ln/>
        </p:spPr>
        <p:txBody>
          <a:bodyPr wrap="square" lIns="0" tIns="0" rIns="0" bIns="0" rtlCol="0" anchor="ctr">
            <a:normAutofit/>
          </a:bodyPr>
          <a:lstStyle/>
          <a:p>
            <a:pPr algn="l" indent="0" marL="0">
              <a:buNone/>
            </a:pPr>
            <a:r>
              <a:rPr lang="en-US" sz="850" dirty="0">
                <a:solidFill>
                  <a:srgbClr val="657084"/>
                </a:solidFill>
                <a:latin typeface="Arial Unicode MS" pitchFamily="34" charset="0"/>
                <a:ea typeface="Arial Unicode MS" pitchFamily="34" charset="-122"/>
                <a:cs typeface="Arial Unicode MS" pitchFamily="34" charset="-120"/>
              </a:rPr>
              <a:t>SPEC §7 · CHANGELOG LOOP-04 · tests/test_*.py</a:t>
            </a:r>
            <a:endParaRPr lang="en-US" sz="850" dirty="0"/>
          </a:p>
        </p:txBody>
      </p:sp>
      <p:sp>
        <p:nvSpPr>
          <p:cNvPr id="29" name="Text 27"/>
          <p:cNvSpPr/>
          <p:nvPr/>
        </p:nvSpPr>
        <p:spPr>
          <a:xfrm>
            <a:off x="5715000" y="4736592"/>
            <a:ext cx="2606040" cy="219456"/>
          </a:xfrm>
          <a:prstGeom prst="rect">
            <a:avLst/>
          </a:prstGeom>
          <a:noFill/>
          <a:ln/>
        </p:spPr>
        <p:txBody>
          <a:bodyPr wrap="square" lIns="0" tIns="0" rIns="0" bIns="0" rtlCol="0" anchor="ctr">
            <a:normAutofit/>
          </a:bodyPr>
          <a:lstStyle/>
          <a:p>
            <a:pPr algn="r" indent="0" marL="0">
              <a:buNone/>
            </a:pPr>
            <a:r>
              <a:rPr lang="en-US" sz="850" dirty="0">
                <a:solidFill>
                  <a:srgbClr val="123C88"/>
                </a:solidFill>
                <a:latin typeface="Arial Unicode MS" pitchFamily="34" charset="0"/>
                <a:ea typeface="Arial Unicode MS" pitchFamily="34" charset="-122"/>
                <a:cs typeface="Arial Unicode MS" pitchFamily="34" charset="-120"/>
              </a:rPr>
              <a:t>Agent AI for Work · Solution → PPT</a:t>
            </a:r>
            <a:endParaRPr lang="en-US" sz="850" dirty="0"/>
          </a:p>
        </p:txBody>
      </p:sp>
      <p:sp>
        <p:nvSpPr>
          <p:cNvPr id="30" name="Text 28"/>
          <p:cNvSpPr/>
          <p:nvPr/>
        </p:nvSpPr>
        <p:spPr>
          <a:xfrm>
            <a:off x="8458200" y="4736592"/>
            <a:ext cx="256032" cy="219456"/>
          </a:xfrm>
          <a:prstGeom prst="rect">
            <a:avLst/>
          </a:prstGeom>
          <a:noFill/>
          <a:ln/>
        </p:spPr>
        <p:txBody>
          <a:bodyPr wrap="square" lIns="0" tIns="0" rIns="0" bIns="0" rtlCol="0" anchor="ctr">
            <a:normAutofit/>
          </a:bodyPr>
          <a:lstStyle/>
          <a:p>
            <a:pPr algn="r" indent="0" marL="0">
              <a:buNone/>
            </a:pPr>
            <a:r>
              <a:rPr lang="en-US" sz="900" b="1" dirty="0">
                <a:solidFill>
                  <a:srgbClr val="123C88"/>
                </a:solidFill>
                <a:latin typeface="Arial Unicode MS" pitchFamily="34" charset="0"/>
                <a:ea typeface="Arial Unicode MS" pitchFamily="34" charset="-122"/>
                <a:cs typeface="Arial Unicode M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F37321"/>
          </a:solidFill>
          <a:ln w="7620">
            <a:solidFill>
              <a:srgbClr val="F37321"/>
            </a:solidFill>
            <a:prstDash val="solid"/>
          </a:ln>
        </p:spPr>
      </p:sp>
      <p:sp>
        <p:nvSpPr>
          <p:cNvPr id="3" name="Text 1"/>
          <p:cNvSpPr/>
          <p:nvPr/>
        </p:nvSpPr>
        <p:spPr>
          <a:xfrm>
            <a:off x="438912" y="73152"/>
            <a:ext cx="1234440" cy="384048"/>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rial Unicode MS" pitchFamily="34" charset="0"/>
                <a:ea typeface="Arial Unicode MS" pitchFamily="34" charset="-122"/>
                <a:cs typeface="Arial Unicode MS" pitchFamily="34" charset="-120"/>
              </a:rPr>
              <a:t>07 | 다음 변경</a:t>
            </a:r>
            <a:endParaRPr lang="en-US" sz="1200" dirty="0"/>
          </a:p>
        </p:txBody>
      </p:sp>
      <p:sp>
        <p:nvSpPr>
          <p:cNvPr id="4" name="Text 2"/>
          <p:cNvSpPr/>
          <p:nvPr/>
        </p:nvSpPr>
        <p:spPr>
          <a:xfrm>
            <a:off x="1755648" y="64008"/>
            <a:ext cx="6931152" cy="402336"/>
          </a:xfrm>
          <a:prstGeom prst="rect">
            <a:avLst/>
          </a:prstGeom>
          <a:noFill/>
          <a:ln/>
        </p:spPr>
        <p:txBody>
          <a:bodyPr wrap="square" lIns="0" tIns="0" rIns="0" bIns="0" rtlCol="0" anchor="ctr">
            <a:normAutofit/>
          </a:bodyPr>
          <a:lstStyle/>
          <a:p>
            <a:pPr algn="l" indent="0" marL="0">
              <a:buNone/>
            </a:pPr>
            <a:r>
              <a:rPr lang="en-US" sz="2000" b="1" dirty="0">
                <a:solidFill>
                  <a:srgbClr val="FFFFFF"/>
                </a:solidFill>
                <a:latin typeface="Arial Unicode MS" pitchFamily="34" charset="0"/>
                <a:ea typeface="Arial Unicode MS" pitchFamily="34" charset="-122"/>
                <a:cs typeface="Arial Unicode MS" pitchFamily="34" charset="-120"/>
              </a:rPr>
              <a:t>다음 변경은 PPT가 아니라 SPEC과 tests에서 시작합니다</a:t>
            </a:r>
            <a:endParaRPr lang="en-US" sz="2000" dirty="0"/>
          </a:p>
        </p:txBody>
      </p:sp>
      <p:sp>
        <p:nvSpPr>
          <p:cNvPr id="5" name="Text 3"/>
          <p:cNvSpPr/>
          <p:nvPr/>
        </p:nvSpPr>
        <p:spPr>
          <a:xfrm>
            <a:off x="621792" y="868680"/>
            <a:ext cx="4754880" cy="420624"/>
          </a:xfrm>
          <a:prstGeom prst="rect">
            <a:avLst/>
          </a:prstGeom>
          <a:noFill/>
          <a:ln/>
        </p:spPr>
        <p:txBody>
          <a:bodyPr wrap="square" lIns="0" tIns="0" rIns="0" bIns="0" rtlCol="0" anchor="ctr">
            <a:normAutofit/>
          </a:bodyPr>
          <a:lstStyle/>
          <a:p>
            <a:pPr algn="l" indent="0" marL="0">
              <a:buNone/>
            </a:pPr>
            <a:r>
              <a:rPr lang="en-US" sz="2100" b="1" dirty="0">
                <a:solidFill>
                  <a:srgbClr val="1F2937"/>
                </a:solidFill>
                <a:latin typeface="Arial Unicode MS" pitchFamily="34" charset="0"/>
                <a:ea typeface="Arial Unicode MS" pitchFamily="34" charset="-122"/>
                <a:cs typeface="Arial Unicode MS" pitchFamily="34" charset="-120"/>
              </a:rPr>
              <a:t>발표자료는 계약의 복제본입니다.</a:t>
            </a:r>
            <a:endParaRPr lang="en-US" sz="2100" dirty="0"/>
          </a:p>
        </p:txBody>
      </p:sp>
      <p:sp>
        <p:nvSpPr>
          <p:cNvPr id="6" name="Text 4"/>
          <p:cNvSpPr/>
          <p:nvPr/>
        </p:nvSpPr>
        <p:spPr>
          <a:xfrm>
            <a:off x="640080" y="1298448"/>
            <a:ext cx="5029200" cy="274320"/>
          </a:xfrm>
          <a:prstGeom prst="rect">
            <a:avLst/>
          </a:prstGeom>
          <a:noFill/>
          <a:ln/>
        </p:spPr>
        <p:txBody>
          <a:bodyPr wrap="square" lIns="0" tIns="0" rIns="0" bIns="0" rtlCol="0" anchor="ctr">
            <a:normAutofit/>
          </a:bodyPr>
          <a:lstStyle/>
          <a:p>
            <a:pPr algn="l" indent="0" marL="0">
              <a:buNone/>
            </a:pPr>
            <a:r>
              <a:rPr lang="en-US" sz="1250" dirty="0">
                <a:solidFill>
                  <a:srgbClr val="657084"/>
                </a:solidFill>
                <a:latin typeface="Arial Unicode MS" pitchFamily="34" charset="0"/>
                <a:ea typeface="Arial Unicode MS" pitchFamily="34" charset="-122"/>
                <a:cs typeface="Arial Unicode MS" pitchFamily="34" charset="-120"/>
              </a:rPr>
              <a:t>Source of truth가 바뀐 뒤 View를 다시 만듭니다.</a:t>
            </a:r>
            <a:endParaRPr lang="en-US" sz="1250" dirty="0"/>
          </a:p>
        </p:txBody>
      </p:sp>
      <p:sp>
        <p:nvSpPr>
          <p:cNvPr id="7" name="Shape 5"/>
          <p:cNvSpPr/>
          <p:nvPr/>
        </p:nvSpPr>
        <p:spPr>
          <a:xfrm>
            <a:off x="530352" y="1901952"/>
            <a:ext cx="1389888" cy="841248"/>
          </a:xfrm>
          <a:prstGeom prst="roundRect">
            <a:avLst>
              <a:gd name="adj" fmla="val 13043"/>
            </a:avLst>
          </a:prstGeom>
          <a:solidFill>
            <a:srgbClr val="EFF4FF"/>
          </a:solidFill>
          <a:ln w="15240">
            <a:solidFill>
              <a:srgbClr val="2C63E7"/>
            </a:solidFill>
            <a:prstDash val="solid"/>
          </a:ln>
        </p:spPr>
      </p:sp>
      <p:sp>
        <p:nvSpPr>
          <p:cNvPr id="8" name="Text 6"/>
          <p:cNvSpPr/>
          <p:nvPr/>
        </p:nvSpPr>
        <p:spPr>
          <a:xfrm>
            <a:off x="530352" y="1901952"/>
            <a:ext cx="1389888" cy="841248"/>
          </a:xfrm>
          <a:prstGeom prst="rect">
            <a:avLst/>
          </a:prstGeom>
          <a:noFill/>
          <a:ln/>
        </p:spPr>
        <p:txBody>
          <a:bodyPr wrap="square" lIns="0" tIns="0" rIns="0" bIns="0" rtlCol="0" anchor="ctr">
            <a:normAutofit/>
          </a:bodyPr>
          <a:lstStyle/>
          <a:p>
            <a:pPr algn="ctr" indent="0" marL="0">
              <a:buNone/>
            </a:pPr>
            <a:r>
              <a:rPr lang="en-US" sz="1700" b="1" dirty="0">
                <a:solidFill>
                  <a:srgbClr val="123C88"/>
                </a:solidFill>
                <a:latin typeface="Aptos Mono" pitchFamily="34" charset="0"/>
                <a:ea typeface="Aptos Mono" pitchFamily="34" charset="-122"/>
                <a:cs typeface="Aptos Mono" pitchFamily="34" charset="-120"/>
              </a:rPr>
              <a:t>SPEC</a:t>
            </a:r>
            <a:endParaRPr lang="en-US" sz="1700" dirty="0"/>
          </a:p>
        </p:txBody>
      </p:sp>
      <p:sp>
        <p:nvSpPr>
          <p:cNvPr id="9" name="Shape 7"/>
          <p:cNvSpPr/>
          <p:nvPr/>
        </p:nvSpPr>
        <p:spPr>
          <a:xfrm>
            <a:off x="2029968" y="2322576"/>
            <a:ext cx="658368" cy="0"/>
          </a:xfrm>
          <a:prstGeom prst="line">
            <a:avLst/>
          </a:prstGeom>
          <a:noFill/>
          <a:ln w="33020">
            <a:solidFill>
              <a:srgbClr val="F37321"/>
            </a:solidFill>
            <a:prstDash val="solid"/>
            <a:tailEnd type="triangle"/>
          </a:ln>
        </p:spPr>
      </p:sp>
      <p:sp>
        <p:nvSpPr>
          <p:cNvPr id="10" name="Shape 8"/>
          <p:cNvSpPr/>
          <p:nvPr/>
        </p:nvSpPr>
        <p:spPr>
          <a:xfrm>
            <a:off x="2423160" y="1901952"/>
            <a:ext cx="1389888" cy="841248"/>
          </a:xfrm>
          <a:prstGeom prst="roundRect">
            <a:avLst>
              <a:gd name="adj" fmla="val 13043"/>
            </a:avLst>
          </a:prstGeom>
          <a:solidFill>
            <a:srgbClr val="EFF4FF"/>
          </a:solidFill>
          <a:ln w="15240">
            <a:solidFill>
              <a:srgbClr val="2C63E7"/>
            </a:solidFill>
            <a:prstDash val="solid"/>
          </a:ln>
        </p:spPr>
      </p:sp>
      <p:sp>
        <p:nvSpPr>
          <p:cNvPr id="11" name="Text 9"/>
          <p:cNvSpPr/>
          <p:nvPr/>
        </p:nvSpPr>
        <p:spPr>
          <a:xfrm>
            <a:off x="2423160" y="1901952"/>
            <a:ext cx="1389888" cy="841248"/>
          </a:xfrm>
          <a:prstGeom prst="rect">
            <a:avLst/>
          </a:prstGeom>
          <a:noFill/>
          <a:ln/>
        </p:spPr>
        <p:txBody>
          <a:bodyPr wrap="square" lIns="0" tIns="0" rIns="0" bIns="0" rtlCol="0" anchor="ctr">
            <a:normAutofit/>
          </a:bodyPr>
          <a:lstStyle/>
          <a:p>
            <a:pPr algn="ctr" indent="0" marL="0">
              <a:buNone/>
            </a:pPr>
            <a:r>
              <a:rPr lang="en-US" sz="1700" b="1" dirty="0">
                <a:solidFill>
                  <a:srgbClr val="123C88"/>
                </a:solidFill>
                <a:latin typeface="Aptos Mono" pitchFamily="34" charset="0"/>
                <a:ea typeface="Aptos Mono" pitchFamily="34" charset="-122"/>
                <a:cs typeface="Aptos Mono" pitchFamily="34" charset="-120"/>
              </a:rPr>
              <a:t>ARCH</a:t>
            </a:r>
            <a:endParaRPr lang="en-US" sz="1700" dirty="0"/>
          </a:p>
        </p:txBody>
      </p:sp>
      <p:sp>
        <p:nvSpPr>
          <p:cNvPr id="12" name="Shape 10"/>
          <p:cNvSpPr/>
          <p:nvPr/>
        </p:nvSpPr>
        <p:spPr>
          <a:xfrm>
            <a:off x="3922776" y="2322576"/>
            <a:ext cx="658368" cy="0"/>
          </a:xfrm>
          <a:prstGeom prst="line">
            <a:avLst/>
          </a:prstGeom>
          <a:noFill/>
          <a:ln w="33020">
            <a:solidFill>
              <a:srgbClr val="F37321"/>
            </a:solidFill>
            <a:prstDash val="solid"/>
            <a:tailEnd type="triangle"/>
          </a:ln>
        </p:spPr>
      </p:sp>
      <p:sp>
        <p:nvSpPr>
          <p:cNvPr id="13" name="Shape 11"/>
          <p:cNvSpPr/>
          <p:nvPr/>
        </p:nvSpPr>
        <p:spPr>
          <a:xfrm>
            <a:off x="4315968" y="1901952"/>
            <a:ext cx="1389888" cy="841248"/>
          </a:xfrm>
          <a:prstGeom prst="roundRect">
            <a:avLst>
              <a:gd name="adj" fmla="val 13043"/>
            </a:avLst>
          </a:prstGeom>
          <a:solidFill>
            <a:srgbClr val="EFF4FF"/>
          </a:solidFill>
          <a:ln w="15240">
            <a:solidFill>
              <a:srgbClr val="2C63E7"/>
            </a:solidFill>
            <a:prstDash val="solid"/>
          </a:ln>
        </p:spPr>
      </p:sp>
      <p:sp>
        <p:nvSpPr>
          <p:cNvPr id="14" name="Text 12"/>
          <p:cNvSpPr/>
          <p:nvPr/>
        </p:nvSpPr>
        <p:spPr>
          <a:xfrm>
            <a:off x="4315968" y="1901952"/>
            <a:ext cx="1389888" cy="841248"/>
          </a:xfrm>
          <a:prstGeom prst="rect">
            <a:avLst/>
          </a:prstGeom>
          <a:noFill/>
          <a:ln/>
        </p:spPr>
        <p:txBody>
          <a:bodyPr wrap="square" lIns="0" tIns="0" rIns="0" bIns="0" rtlCol="0" anchor="ctr">
            <a:normAutofit/>
          </a:bodyPr>
          <a:lstStyle/>
          <a:p>
            <a:pPr algn="ctr" indent="0" marL="0">
              <a:buNone/>
            </a:pPr>
            <a:r>
              <a:rPr lang="en-US" sz="1700" b="1" dirty="0">
                <a:solidFill>
                  <a:srgbClr val="123C88"/>
                </a:solidFill>
                <a:latin typeface="Aptos Mono" pitchFamily="34" charset="0"/>
                <a:ea typeface="Aptos Mono" pitchFamily="34" charset="-122"/>
                <a:cs typeface="Aptos Mono" pitchFamily="34" charset="-120"/>
              </a:rPr>
              <a:t>TESTS</a:t>
            </a:r>
            <a:endParaRPr lang="en-US" sz="1700" dirty="0"/>
          </a:p>
        </p:txBody>
      </p:sp>
      <p:sp>
        <p:nvSpPr>
          <p:cNvPr id="15" name="Shape 13"/>
          <p:cNvSpPr/>
          <p:nvPr/>
        </p:nvSpPr>
        <p:spPr>
          <a:xfrm>
            <a:off x="5815584" y="2322576"/>
            <a:ext cx="658368" cy="0"/>
          </a:xfrm>
          <a:prstGeom prst="line">
            <a:avLst/>
          </a:prstGeom>
          <a:noFill/>
          <a:ln w="33020">
            <a:solidFill>
              <a:srgbClr val="F37321"/>
            </a:solidFill>
            <a:prstDash val="solid"/>
            <a:tailEnd type="triangle"/>
          </a:ln>
        </p:spPr>
      </p:sp>
      <p:sp>
        <p:nvSpPr>
          <p:cNvPr id="16" name="Shape 14"/>
          <p:cNvSpPr/>
          <p:nvPr/>
        </p:nvSpPr>
        <p:spPr>
          <a:xfrm>
            <a:off x="6510528" y="1901952"/>
            <a:ext cx="1874520" cy="841248"/>
          </a:xfrm>
          <a:prstGeom prst="roundRect">
            <a:avLst>
              <a:gd name="adj" fmla="val 13043"/>
            </a:avLst>
          </a:prstGeom>
          <a:solidFill>
            <a:srgbClr val="F37321"/>
          </a:solidFill>
          <a:ln w="7620">
            <a:solidFill>
              <a:srgbClr val="F37321"/>
            </a:solidFill>
            <a:prstDash val="solid"/>
          </a:ln>
        </p:spPr>
      </p:sp>
      <p:sp>
        <p:nvSpPr>
          <p:cNvPr id="17" name="Text 15"/>
          <p:cNvSpPr/>
          <p:nvPr/>
        </p:nvSpPr>
        <p:spPr>
          <a:xfrm>
            <a:off x="6510528" y="1901952"/>
            <a:ext cx="1874520" cy="841248"/>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latin typeface="Aptos Mono" pitchFamily="34" charset="0"/>
                <a:ea typeface="Aptos Mono" pitchFamily="34" charset="-122"/>
                <a:cs typeface="Aptos Mono" pitchFamily="34" charset="-120"/>
              </a:rPr>
              <a:t>PPT</a:t>
            </a:r>
            <a:endParaRPr lang="en-US" sz="2200" dirty="0"/>
          </a:p>
        </p:txBody>
      </p:sp>
      <p:sp>
        <p:nvSpPr>
          <p:cNvPr id="18" name="Text 16"/>
          <p:cNvSpPr/>
          <p:nvPr/>
        </p:nvSpPr>
        <p:spPr>
          <a:xfrm>
            <a:off x="640080" y="3310128"/>
            <a:ext cx="1143000" cy="256032"/>
          </a:xfrm>
          <a:prstGeom prst="rect">
            <a:avLst/>
          </a:prstGeom>
          <a:noFill/>
          <a:ln/>
        </p:spPr>
        <p:txBody>
          <a:bodyPr wrap="square" lIns="0" tIns="0" rIns="0" bIns="0" rtlCol="0" anchor="ctr">
            <a:normAutofit/>
          </a:bodyPr>
          <a:lstStyle/>
          <a:p>
            <a:pPr algn="l" indent="0" marL="0">
              <a:buNone/>
            </a:pPr>
            <a:r>
              <a:rPr lang="en-US" sz="1100" b="1" dirty="0">
                <a:solidFill>
                  <a:srgbClr val="657084"/>
                </a:solidFill>
                <a:latin typeface="Arial Unicode MS" pitchFamily="34" charset="0"/>
                <a:ea typeface="Arial Unicode MS" pitchFamily="34" charset="-122"/>
                <a:cs typeface="Arial Unicode MS" pitchFamily="34" charset="-120"/>
              </a:rPr>
              <a:t>현재 범위 밖</a:t>
            </a:r>
            <a:endParaRPr lang="en-US" sz="1100" dirty="0"/>
          </a:p>
        </p:txBody>
      </p:sp>
      <p:sp>
        <p:nvSpPr>
          <p:cNvPr id="19" name="Shape 17"/>
          <p:cNvSpPr/>
          <p:nvPr/>
        </p:nvSpPr>
        <p:spPr>
          <a:xfrm>
            <a:off x="1664208" y="3447288"/>
            <a:ext cx="6537960" cy="0"/>
          </a:xfrm>
          <a:prstGeom prst="line">
            <a:avLst/>
          </a:prstGeom>
          <a:noFill/>
          <a:ln w="10160">
            <a:solidFill>
              <a:srgbClr val="D8DEE8"/>
            </a:solidFill>
            <a:prstDash val="solid"/>
          </a:ln>
        </p:spPr>
      </p:sp>
      <p:sp>
        <p:nvSpPr>
          <p:cNvPr id="20" name="Shape 18"/>
          <p:cNvSpPr/>
          <p:nvPr/>
        </p:nvSpPr>
        <p:spPr>
          <a:xfrm>
            <a:off x="685800" y="3703320"/>
            <a:ext cx="1664208" cy="420624"/>
          </a:xfrm>
          <a:prstGeom prst="roundRect">
            <a:avLst>
              <a:gd name="adj" fmla="val 39130"/>
            </a:avLst>
          </a:prstGeom>
          <a:solidFill>
            <a:srgbClr val="F7F8FA"/>
          </a:solidFill>
          <a:ln w="7620">
            <a:solidFill>
              <a:srgbClr val="F7F8FA"/>
            </a:solidFill>
            <a:prstDash val="solid"/>
          </a:ln>
        </p:spPr>
      </p:sp>
      <p:sp>
        <p:nvSpPr>
          <p:cNvPr id="21" name="Text 19"/>
          <p:cNvSpPr/>
          <p:nvPr/>
        </p:nvSpPr>
        <p:spPr>
          <a:xfrm>
            <a:off x="740664" y="3703320"/>
            <a:ext cx="1554480" cy="420624"/>
          </a:xfrm>
          <a:prstGeom prst="rect">
            <a:avLst/>
          </a:prstGeom>
          <a:noFill/>
          <a:ln/>
        </p:spPr>
        <p:txBody>
          <a:bodyPr wrap="square" lIns="0" tIns="0" rIns="0" bIns="0" rtlCol="0" anchor="ctr">
            <a:normAutofit/>
          </a:bodyPr>
          <a:lstStyle/>
          <a:p>
            <a:pPr algn="ctr" indent="0" marL="0">
              <a:buNone/>
            </a:pPr>
            <a:r>
              <a:rPr lang="en-US" sz="1150" b="1" dirty="0">
                <a:solidFill>
                  <a:srgbClr val="657084"/>
                </a:solidFill>
                <a:latin typeface="Arial Unicode MS" pitchFamily="34" charset="0"/>
                <a:ea typeface="Arial Unicode MS" pitchFamily="34" charset="-122"/>
                <a:cs typeface="Arial Unicode MS" pitchFamily="34" charset="-120"/>
              </a:rPr>
              <a:t>실제 SAP</a:t>
            </a:r>
            <a:endParaRPr lang="en-US" sz="1150" dirty="0"/>
          </a:p>
        </p:txBody>
      </p:sp>
      <p:sp>
        <p:nvSpPr>
          <p:cNvPr id="22" name="Shape 20"/>
          <p:cNvSpPr/>
          <p:nvPr/>
        </p:nvSpPr>
        <p:spPr>
          <a:xfrm>
            <a:off x="2697480" y="3703320"/>
            <a:ext cx="1664208" cy="420624"/>
          </a:xfrm>
          <a:prstGeom prst="roundRect">
            <a:avLst>
              <a:gd name="adj" fmla="val 39130"/>
            </a:avLst>
          </a:prstGeom>
          <a:solidFill>
            <a:srgbClr val="F7F8FA"/>
          </a:solidFill>
          <a:ln w="7620">
            <a:solidFill>
              <a:srgbClr val="F7F8FA"/>
            </a:solidFill>
            <a:prstDash val="solid"/>
          </a:ln>
        </p:spPr>
      </p:sp>
      <p:sp>
        <p:nvSpPr>
          <p:cNvPr id="23" name="Text 21"/>
          <p:cNvSpPr/>
          <p:nvPr/>
        </p:nvSpPr>
        <p:spPr>
          <a:xfrm>
            <a:off x="2752344" y="3703320"/>
            <a:ext cx="1554480" cy="420624"/>
          </a:xfrm>
          <a:prstGeom prst="rect">
            <a:avLst/>
          </a:prstGeom>
          <a:noFill/>
          <a:ln/>
        </p:spPr>
        <p:txBody>
          <a:bodyPr wrap="square" lIns="0" tIns="0" rIns="0" bIns="0" rtlCol="0" anchor="ctr">
            <a:normAutofit/>
          </a:bodyPr>
          <a:lstStyle/>
          <a:p>
            <a:pPr algn="ctr" indent="0" marL="0">
              <a:buNone/>
            </a:pPr>
            <a:r>
              <a:rPr lang="en-US" sz="1150" b="1" dirty="0">
                <a:solidFill>
                  <a:srgbClr val="657084"/>
                </a:solidFill>
                <a:latin typeface="Arial Unicode MS" pitchFamily="34" charset="0"/>
                <a:ea typeface="Arial Unicode MS" pitchFamily="34" charset="-122"/>
                <a:cs typeface="Arial Unicode MS" pitchFamily="34" charset="-120"/>
              </a:rPr>
              <a:t>로그인·권한</a:t>
            </a:r>
            <a:endParaRPr lang="en-US" sz="1150" dirty="0"/>
          </a:p>
        </p:txBody>
      </p:sp>
      <p:sp>
        <p:nvSpPr>
          <p:cNvPr id="24" name="Shape 22"/>
          <p:cNvSpPr/>
          <p:nvPr/>
        </p:nvSpPr>
        <p:spPr>
          <a:xfrm>
            <a:off x="4709160" y="3703320"/>
            <a:ext cx="1664208" cy="420624"/>
          </a:xfrm>
          <a:prstGeom prst="roundRect">
            <a:avLst>
              <a:gd name="adj" fmla="val 39130"/>
            </a:avLst>
          </a:prstGeom>
          <a:solidFill>
            <a:srgbClr val="F7F8FA"/>
          </a:solidFill>
          <a:ln w="7620">
            <a:solidFill>
              <a:srgbClr val="F7F8FA"/>
            </a:solidFill>
            <a:prstDash val="solid"/>
          </a:ln>
        </p:spPr>
      </p:sp>
      <p:sp>
        <p:nvSpPr>
          <p:cNvPr id="25" name="Text 23"/>
          <p:cNvSpPr/>
          <p:nvPr/>
        </p:nvSpPr>
        <p:spPr>
          <a:xfrm>
            <a:off x="4764024" y="3703320"/>
            <a:ext cx="1554480" cy="420624"/>
          </a:xfrm>
          <a:prstGeom prst="rect">
            <a:avLst/>
          </a:prstGeom>
          <a:noFill/>
          <a:ln/>
        </p:spPr>
        <p:txBody>
          <a:bodyPr wrap="square" lIns="0" tIns="0" rIns="0" bIns="0" rtlCol="0" anchor="ctr">
            <a:normAutofit/>
          </a:bodyPr>
          <a:lstStyle/>
          <a:p>
            <a:pPr algn="ctr" indent="0" marL="0">
              <a:buNone/>
            </a:pPr>
            <a:r>
              <a:rPr lang="en-US" sz="1150" b="1" dirty="0">
                <a:solidFill>
                  <a:srgbClr val="657084"/>
                </a:solidFill>
                <a:latin typeface="Arial Unicode MS" pitchFamily="34" charset="0"/>
                <a:ea typeface="Arial Unicode MS" pitchFamily="34" charset="-122"/>
                <a:cs typeface="Arial Unicode MS" pitchFamily="34" charset="-120"/>
              </a:rPr>
              <a:t>부분 취소</a:t>
            </a:r>
            <a:endParaRPr lang="en-US" sz="1150" dirty="0"/>
          </a:p>
        </p:txBody>
      </p:sp>
      <p:sp>
        <p:nvSpPr>
          <p:cNvPr id="26" name="Shape 24"/>
          <p:cNvSpPr/>
          <p:nvPr/>
        </p:nvSpPr>
        <p:spPr>
          <a:xfrm>
            <a:off x="6720840" y="3703320"/>
            <a:ext cx="1664208" cy="420624"/>
          </a:xfrm>
          <a:prstGeom prst="roundRect">
            <a:avLst>
              <a:gd name="adj" fmla="val 39130"/>
            </a:avLst>
          </a:prstGeom>
          <a:solidFill>
            <a:srgbClr val="F7F8FA"/>
          </a:solidFill>
          <a:ln w="7620">
            <a:solidFill>
              <a:srgbClr val="F7F8FA"/>
            </a:solidFill>
            <a:prstDash val="solid"/>
          </a:ln>
        </p:spPr>
      </p:sp>
      <p:sp>
        <p:nvSpPr>
          <p:cNvPr id="27" name="Text 25"/>
          <p:cNvSpPr/>
          <p:nvPr/>
        </p:nvSpPr>
        <p:spPr>
          <a:xfrm>
            <a:off x="6775704" y="3703320"/>
            <a:ext cx="1554480" cy="420624"/>
          </a:xfrm>
          <a:prstGeom prst="rect">
            <a:avLst/>
          </a:prstGeom>
          <a:noFill/>
          <a:ln/>
        </p:spPr>
        <p:txBody>
          <a:bodyPr wrap="square" lIns="0" tIns="0" rIns="0" bIns="0" rtlCol="0" anchor="ctr">
            <a:normAutofit/>
          </a:bodyPr>
          <a:lstStyle/>
          <a:p>
            <a:pPr algn="ctr" indent="0" marL="0">
              <a:buNone/>
            </a:pPr>
            <a:r>
              <a:rPr lang="en-US" sz="1150" b="1" dirty="0">
                <a:solidFill>
                  <a:srgbClr val="657084"/>
                </a:solidFill>
                <a:latin typeface="Arial Unicode MS" pitchFamily="34" charset="0"/>
                <a:ea typeface="Arial Unicode MS" pitchFamily="34" charset="-122"/>
                <a:cs typeface="Arial Unicode MS" pitchFamily="34" charset="-120"/>
              </a:rPr>
              <a:t>운영 DB</a:t>
            </a:r>
            <a:endParaRPr lang="en-US" sz="1150" dirty="0"/>
          </a:p>
        </p:txBody>
      </p:sp>
      <p:sp>
        <p:nvSpPr>
          <p:cNvPr id="28" name="Text 26"/>
          <p:cNvSpPr/>
          <p:nvPr/>
        </p:nvSpPr>
        <p:spPr>
          <a:xfrm>
            <a:off x="914400" y="4224528"/>
            <a:ext cx="7315200" cy="256032"/>
          </a:xfrm>
          <a:prstGeom prst="rect">
            <a:avLst/>
          </a:prstGeom>
          <a:noFill/>
          <a:ln/>
        </p:spPr>
        <p:txBody>
          <a:bodyPr wrap="square" lIns="0" tIns="0" rIns="0" bIns="0" rtlCol="0" anchor="ctr">
            <a:normAutofit/>
          </a:bodyPr>
          <a:lstStyle/>
          <a:p>
            <a:pPr algn="ctr" indent="0" marL="0">
              <a:buNone/>
            </a:pPr>
            <a:r>
              <a:rPr lang="en-US" sz="1150" b="1" dirty="0">
                <a:solidFill>
                  <a:srgbClr val="123C88"/>
                </a:solidFill>
                <a:latin typeface="Arial Unicode MS" pitchFamily="34" charset="0"/>
                <a:ea typeface="Arial Unicode MS" pitchFamily="34" charset="-122"/>
                <a:cs typeface="Arial Unicode MS" pitchFamily="34" charset="-120"/>
              </a:rPr>
              <a:t>변경 순서  사람 승인 → SPEC 개정 → tests 조정 → PPT 재생성</a:t>
            </a:r>
            <a:endParaRPr lang="en-US" sz="1150" dirty="0"/>
          </a:p>
        </p:txBody>
      </p:sp>
      <p:sp>
        <p:nvSpPr>
          <p:cNvPr id="29" name="Shape 27"/>
          <p:cNvSpPr/>
          <p:nvPr/>
        </p:nvSpPr>
        <p:spPr>
          <a:xfrm>
            <a:off x="411480" y="4681728"/>
            <a:ext cx="8321040" cy="0"/>
          </a:xfrm>
          <a:prstGeom prst="line">
            <a:avLst/>
          </a:prstGeom>
          <a:noFill/>
          <a:ln w="8890">
            <a:solidFill>
              <a:srgbClr val="D8DEE8"/>
            </a:solidFill>
            <a:prstDash val="solid"/>
          </a:ln>
        </p:spPr>
      </p:sp>
      <p:sp>
        <p:nvSpPr>
          <p:cNvPr id="30" name="Text 28"/>
          <p:cNvSpPr/>
          <p:nvPr/>
        </p:nvSpPr>
        <p:spPr>
          <a:xfrm>
            <a:off x="438912" y="4736592"/>
            <a:ext cx="5074920" cy="219456"/>
          </a:xfrm>
          <a:prstGeom prst="rect">
            <a:avLst/>
          </a:prstGeom>
          <a:noFill/>
          <a:ln/>
        </p:spPr>
        <p:txBody>
          <a:bodyPr wrap="square" lIns="0" tIns="0" rIns="0" bIns="0" rtlCol="0" anchor="ctr">
            <a:normAutofit/>
          </a:bodyPr>
          <a:lstStyle/>
          <a:p>
            <a:pPr algn="l" indent="0" marL="0">
              <a:buNone/>
            </a:pPr>
            <a:r>
              <a:rPr lang="en-US" sz="850" dirty="0">
                <a:solidFill>
                  <a:srgbClr val="657084"/>
                </a:solidFill>
                <a:latin typeface="Arial Unicode MS" pitchFamily="34" charset="0"/>
                <a:ea typeface="Arial Unicode MS" pitchFamily="34" charset="-122"/>
                <a:cs typeface="Arial Unicode MS" pitchFamily="34" charset="-120"/>
              </a:rPr>
              <a:t>SPEC §1·§9 · RFC-001</a:t>
            </a:r>
            <a:endParaRPr lang="en-US" sz="850" dirty="0"/>
          </a:p>
        </p:txBody>
      </p:sp>
      <p:sp>
        <p:nvSpPr>
          <p:cNvPr id="31" name="Text 29"/>
          <p:cNvSpPr/>
          <p:nvPr/>
        </p:nvSpPr>
        <p:spPr>
          <a:xfrm>
            <a:off x="5715000" y="4736592"/>
            <a:ext cx="2606040" cy="219456"/>
          </a:xfrm>
          <a:prstGeom prst="rect">
            <a:avLst/>
          </a:prstGeom>
          <a:noFill/>
          <a:ln/>
        </p:spPr>
        <p:txBody>
          <a:bodyPr wrap="square" lIns="0" tIns="0" rIns="0" bIns="0" rtlCol="0" anchor="ctr">
            <a:normAutofit/>
          </a:bodyPr>
          <a:lstStyle/>
          <a:p>
            <a:pPr algn="r" indent="0" marL="0">
              <a:buNone/>
            </a:pPr>
            <a:r>
              <a:rPr lang="en-US" sz="850" dirty="0">
                <a:solidFill>
                  <a:srgbClr val="123C88"/>
                </a:solidFill>
                <a:latin typeface="Arial Unicode MS" pitchFamily="34" charset="0"/>
                <a:ea typeface="Arial Unicode MS" pitchFamily="34" charset="-122"/>
                <a:cs typeface="Arial Unicode MS" pitchFamily="34" charset="-120"/>
              </a:rPr>
              <a:t>Agent AI for Work · Solution → PPT</a:t>
            </a:r>
            <a:endParaRPr lang="en-US" sz="850" dirty="0"/>
          </a:p>
        </p:txBody>
      </p:sp>
      <p:sp>
        <p:nvSpPr>
          <p:cNvPr id="32" name="Text 30"/>
          <p:cNvSpPr/>
          <p:nvPr/>
        </p:nvSpPr>
        <p:spPr>
          <a:xfrm>
            <a:off x="8458200" y="4736592"/>
            <a:ext cx="256032" cy="219456"/>
          </a:xfrm>
          <a:prstGeom prst="rect">
            <a:avLst/>
          </a:prstGeom>
          <a:noFill/>
          <a:ln/>
        </p:spPr>
        <p:txBody>
          <a:bodyPr wrap="square" lIns="0" tIns="0" rIns="0" bIns="0" rtlCol="0" anchor="ctr">
            <a:normAutofit/>
          </a:bodyPr>
          <a:lstStyle/>
          <a:p>
            <a:pPr algn="r" indent="0" marL="0">
              <a:buNone/>
            </a:pPr>
            <a:r>
              <a:rPr lang="en-US" sz="900" b="1" dirty="0">
                <a:solidFill>
                  <a:srgbClr val="123C88"/>
                </a:solidFill>
                <a:latin typeface="Arial Unicode MS" pitchFamily="34" charset="0"/>
                <a:ea typeface="Arial Unicode MS" pitchFamily="34" charset="-122"/>
                <a:cs typeface="Arial Unicode MS"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Unicode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Unicode M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Hanwha Agent AI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IPS WBS 출고·취소 MVP</dc:title>
  <dc:subject>IPS WBS 출고·취소 MVP solution brief</dc:subject>
  <dc:creator>Agent AI for Work</dc:creator>
  <cp:lastModifiedBy>Agent AI for Work</cp:lastModifiedBy>
  <cp:revision>1</cp:revision>
  <dcterms:created xsi:type="dcterms:W3CDTF">2026-08-25T16:06:01Z</dcterms:created>
  <dcterms:modified xsi:type="dcterms:W3CDTF">2026-08-25T16:06:01Z</dcterms:modified>
</cp:coreProperties>
</file>
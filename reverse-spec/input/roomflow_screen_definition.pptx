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교육용으로 새로 만든 가상 제품이다. 실제 회사·업무·문서의 내용은 사용하지 않았다. 화면 구조, 필드, 버튼 동작, 상태, 예외가 SPEC 복원의 입력이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MVP는 예약 조회, 등록, 상세, 승인함 네 화면이다. 반복 예약과 출입 QR 연동은 후속 범위다.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'7일간'과 '빠르게'는 다른 원본과 대조한다. 빠르게는 측정 기준이 없어 비기능 요구사항으로 확정하면 안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화면에는 목적 필수 표시가 있다. Excel의 필수 여부와 반드시 대조한다. 임시저장 후에는 DRAFT, 예약 요청 후에는 REQUESTED로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취소 제한 2시간은 제안이며 Excel의 값과 충돌할 수 있다. 알림 채널도 확정하지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권한 관련 규칙은 Excel 권한 표와 대조한다. 대리 승인은 검토 중이므로 확정 기능으로 쓰지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오류가 발생해도 사용자가 입력한 폼 값을 유지한다. 구체 오류 코드는 Excel 메시지 정의에서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페이지는 정답이 아니라 검토 포인트다. 충돌과 모호함은 OPEN_QUESTIONS.md로 이동한다.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142B4A"/>
          </a:solidFill>
          <a:ln w="6350">
            <a:solidFill>
              <a:srgbClr val="14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97680" y="0"/>
            <a:ext cx="128016" cy="6858000"/>
          </a:xfrm>
          <a:prstGeom prst="rect">
            <a:avLst/>
          </a:prstGeom>
          <a:solidFill>
            <a:srgbClr val="F47A31"/>
          </a:solidFill>
          <a:ln w="6350">
            <a:solidFill>
              <a:srgbClr val="F47A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943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FD1E8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UI DESIGN SPECIFICATION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20574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RoomFlow 화면설계서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85216" y="3246120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6E2F2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회의실 예약·승인 UI 정의 · Draft v0.8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5216" y="60350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FC2DB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교육용 가상 제품 · 실제 업무 내용 미사용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983480" y="658368"/>
            <a:ext cx="6565392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83480" y="658368"/>
            <a:ext cx="6565392" cy="438912"/>
          </a:xfrm>
          <a:prstGeom prst="roundRect">
            <a:avLst>
              <a:gd name="adj" fmla="val 25000"/>
            </a:avLst>
          </a:prstGeom>
          <a:solidFill>
            <a:srgbClr val="1D3C64"/>
          </a:solidFill>
          <a:ln w="6350">
            <a:solidFill>
              <a:srgbClr val="1D3C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0368" y="768096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RoomFlow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32120" y="13898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회의실 예약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32120" y="181051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필요한 공간을 찾고, 요청하고, 승인받는 하나의 흐름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32120" y="2395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C8453C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예약일 *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5532120" y="2615184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26700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2026-09-03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114032" y="23957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C8453C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시작 *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7114032" y="2615184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26700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14:00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8275320" y="239572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C8453C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종료 *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8275320" y="2615184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26700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15:00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9436608" y="23957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C8453C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인원 *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9436608" y="2615184"/>
            <a:ext cx="7315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28048" y="26700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6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10378440" y="2615184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2F6FED"/>
          </a:solidFill>
          <a:ln w="6350">
            <a:solidFill>
              <a:srgbClr val="2F6F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78440" y="267004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빈 회의실 찾기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5532120" y="3246120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EAF1FF"/>
          </a:solidFill>
          <a:ln w="10160">
            <a:solidFill>
              <a:srgbClr val="BFD1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3337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A-1201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0" y="33375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12명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635240" y="3337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화상회의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326880" y="333756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845B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가능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532120" y="3959352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40507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B-0804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0" y="40507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8명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635240" y="40507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화이트보드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326880" y="405079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845B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가능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532120" y="4672584"/>
            <a:ext cx="54406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47640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C-0502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0" y="47640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6명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635240" y="47640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모니터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326880" y="47640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47A31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승인 필요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42B4A"/>
          </a:solidFill>
          <a:ln w="6350">
            <a:solidFill>
              <a:srgbClr val="14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548640"/>
          </a:xfrm>
          <a:prstGeom prst="rect">
            <a:avLst/>
          </a:prstGeom>
          <a:solidFill>
            <a:srgbClr val="F47A31"/>
          </a:solidFill>
          <a:ln w="6350">
            <a:solidFill>
              <a:srgbClr val="F47A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731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ROOMFLOW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600200" y="6400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화면 구성과 사용자 흐름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0" y="1005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CE7F7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UI DESIGN SPEC · v0.8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6547104"/>
            <a:ext cx="11548872" cy="0"/>
          </a:xfrm>
          <a:prstGeom prst="line">
            <a:avLst/>
          </a:prstGeom>
          <a:noFill/>
          <a:ln w="7620">
            <a:solidFill>
              <a:srgbClr val="D6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8368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Office → SPEC 실습용 가상 화면설계서 · Draft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583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804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화면 목록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1133856"/>
            <a:ext cx="1417320" cy="402336"/>
          </a:xfrm>
          <a:prstGeom prst="rect">
            <a:avLst/>
          </a:prstGeom>
          <a:solidFill>
            <a:srgbClr val="1D3C64"/>
          </a:solidFill>
          <a:ln w="6350">
            <a:solidFill>
              <a:srgbClr val="1D3C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97864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화면 ID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56232" y="1133856"/>
            <a:ext cx="1645920" cy="402336"/>
          </a:xfrm>
          <a:prstGeom prst="rect">
            <a:avLst/>
          </a:prstGeom>
          <a:solidFill>
            <a:srgbClr val="1D3C64"/>
          </a:solidFill>
          <a:ln w="6350">
            <a:solidFill>
              <a:srgbClr val="1D3C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9384" y="119786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화면명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02152" y="1133856"/>
            <a:ext cx="1280160" cy="402336"/>
          </a:xfrm>
          <a:prstGeom prst="rect">
            <a:avLst/>
          </a:prstGeom>
          <a:solidFill>
            <a:srgbClr val="1D3C64"/>
          </a:solidFill>
          <a:ln w="6350">
            <a:solidFill>
              <a:srgbClr val="1D3C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5304" y="119786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사용자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82312" y="1133856"/>
            <a:ext cx="2240280" cy="402336"/>
          </a:xfrm>
          <a:prstGeom prst="rect">
            <a:avLst/>
          </a:prstGeom>
          <a:solidFill>
            <a:srgbClr val="1D3C64"/>
          </a:solidFill>
          <a:ln w="6350">
            <a:solidFill>
              <a:srgbClr val="1D3C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5464" y="1197864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Route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8912" y="1536192"/>
            <a:ext cx="14173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16459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F6FED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RFM-100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1856232" y="1536192"/>
            <a:ext cx="1645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47672" y="16459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조회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3502152" y="1536192"/>
            <a:ext cx="12801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3592" y="16459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임직원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782312" y="1536192"/>
            <a:ext cx="22402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164592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/reservations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438912" y="2066544"/>
            <a:ext cx="1417320" cy="530352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21762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F6FED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RFM-110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1856232" y="2066544"/>
            <a:ext cx="1645920" cy="530352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47672" y="21762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등록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3502152" y="2066544"/>
            <a:ext cx="1280160" cy="530352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93592" y="2176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임직원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4782312" y="2066544"/>
            <a:ext cx="2240280" cy="530352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217627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/reservations/new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438912" y="2596896"/>
            <a:ext cx="14173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27066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F6FED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RFM-120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1856232" y="2596896"/>
            <a:ext cx="164592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47672" y="27066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 예약 상세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3502152" y="2596896"/>
            <a:ext cx="128016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93592" y="27066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신청자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4782312" y="2596896"/>
            <a:ext cx="2240280" cy="53035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270662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/reservations/:id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438912" y="3127248"/>
            <a:ext cx="1417320" cy="530352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323697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F6FED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RFA-200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1856232" y="3127248"/>
            <a:ext cx="1645920" cy="530352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47672" y="32369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승인함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3502152" y="3127248"/>
            <a:ext cx="1280160" cy="530352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93592" y="32369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승인자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4782312" y="3127248"/>
            <a:ext cx="2240280" cy="530352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73752" y="3236976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/approvals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7452360" y="960120"/>
            <a:ext cx="4251960" cy="3337560"/>
          </a:xfrm>
          <a:prstGeom prst="roundRect">
            <a:avLst>
              <a:gd name="adj" fmla="val 2192"/>
            </a:avLst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54112" y="12252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사용자 흐름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754112" y="1755648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54112" y="17647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138160" y="177393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조건 조회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882128" y="2020824"/>
            <a:ext cx="0" cy="182880"/>
          </a:xfrm>
          <a:prstGeom prst="line">
            <a:avLst/>
          </a:prstGeom>
          <a:noFill/>
          <a:ln w="12700">
            <a:solidFill>
              <a:srgbClr val="A8B3C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754112" y="2212848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54112" y="22219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138160" y="223113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입력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882128" y="2478024"/>
            <a:ext cx="0" cy="182880"/>
          </a:xfrm>
          <a:prstGeom prst="line">
            <a:avLst/>
          </a:prstGeom>
          <a:noFill/>
          <a:ln w="12700">
            <a:solidFill>
              <a:srgbClr val="A8B3C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54112" y="2670048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54112" y="26791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3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138160" y="268833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승인 요청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882128" y="2935224"/>
            <a:ext cx="0" cy="182880"/>
          </a:xfrm>
          <a:prstGeom prst="line">
            <a:avLst/>
          </a:prstGeom>
          <a:noFill/>
          <a:ln w="12700">
            <a:solidFill>
              <a:srgbClr val="A8B3C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754112" y="3127248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54112" y="31363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4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138160" y="314553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승인·반려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882128" y="3392424"/>
            <a:ext cx="0" cy="182880"/>
          </a:xfrm>
          <a:prstGeom prst="line">
            <a:avLst/>
          </a:prstGeom>
          <a:noFill/>
          <a:ln w="12700">
            <a:solidFill>
              <a:srgbClr val="A8B3C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754112" y="3584448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54112" y="35935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5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138160" y="360273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이력 확인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38912" y="4251960"/>
            <a:ext cx="11265408" cy="1527048"/>
          </a:xfrm>
          <a:prstGeom prst="roundRect">
            <a:avLst>
              <a:gd name="adj" fmla="val 4790"/>
            </a:avLst>
          </a:prstGeom>
          <a:solidFill>
            <a:srgbClr val="EAF1FF"/>
          </a:solidFill>
          <a:ln w="10160">
            <a:solidFill>
              <a:srgbClr val="BED1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1520" y="450799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ED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MVP 경계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828800" y="44988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845B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포함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2331720" y="448056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조회 · 단건 예약 · 승인/반려 · 취소 · 처리 이력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766560" y="44988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453C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제외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269480" y="44805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반복 예약 · 출입 QR · 외부 캘린더 연동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731520" y="507492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화면 ID는 PPT와 Excel을 연결하는 가장 안정적인 키다.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42B4A"/>
          </a:solidFill>
          <a:ln w="6350">
            <a:solidFill>
              <a:srgbClr val="14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548640"/>
          </a:xfrm>
          <a:prstGeom prst="rect">
            <a:avLst/>
          </a:prstGeom>
          <a:solidFill>
            <a:srgbClr val="F47A31"/>
          </a:solidFill>
          <a:ln w="6350">
            <a:solidFill>
              <a:srgbClr val="F47A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731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ROOMFLOW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600200" y="6400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조회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0" y="1005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CE7F7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UI DESIGN SPEC · v0.8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6547104"/>
            <a:ext cx="11548872" cy="0"/>
          </a:xfrm>
          <a:prstGeom prst="line">
            <a:avLst/>
          </a:prstGeom>
          <a:noFill/>
          <a:ln w="7620">
            <a:solidFill>
              <a:srgbClr val="D6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8368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Office → SPEC 실습용 가상 화면설계서 · Draft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583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03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" y="658368"/>
            <a:ext cx="960120" cy="347472"/>
          </a:xfrm>
          <a:prstGeom prst="rect">
            <a:avLst/>
          </a:prstGeom>
          <a:solidFill>
            <a:srgbClr val="D9DEE6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685800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화면 ID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07592" y="658368"/>
            <a:ext cx="18745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0744" y="68580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RFM-100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182112" y="658368"/>
            <a:ext cx="777240" cy="347472"/>
          </a:xfrm>
          <a:prstGeom prst="rect">
            <a:avLst/>
          </a:prstGeom>
          <a:solidFill>
            <a:srgbClr val="D9DEE6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685800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사용자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59352" y="658368"/>
            <a:ext cx="132588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32504" y="68580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임직원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285232" y="658368"/>
            <a:ext cx="685800" cy="347472"/>
          </a:xfrm>
          <a:prstGeom prst="rect">
            <a:avLst/>
          </a:prstGeom>
          <a:solidFill>
            <a:srgbClr val="D9DEE6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68580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상태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71032" y="658368"/>
            <a:ext cx="11887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44184" y="68580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Draft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159752" y="658368"/>
            <a:ext cx="685800" cy="347472"/>
          </a:xfrm>
          <a:prstGeom prst="rect">
            <a:avLst/>
          </a:prstGeom>
          <a:solidFill>
            <a:srgbClr val="D9DEE6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2904" y="68580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구분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45552" y="658368"/>
            <a:ext cx="9601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685800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Main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9162288" y="658368"/>
            <a:ext cx="2670048" cy="347472"/>
          </a:xfrm>
          <a:prstGeom prst="rect">
            <a:avLst/>
          </a:prstGeom>
          <a:solidFill>
            <a:srgbClr val="EAF1FF"/>
          </a:solidFill>
          <a:ln w="10160">
            <a:solidFill>
              <a:srgbClr val="BFD1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6858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F6FED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화면과 설명의 번호를 함께 대조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347472" y="1115568"/>
            <a:ext cx="8247888" cy="5230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FC7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1115568"/>
            <a:ext cx="8247888" cy="384048"/>
          </a:xfrm>
          <a:prstGeom prst="rect">
            <a:avLst/>
          </a:prstGeom>
          <a:solidFill>
            <a:srgbClr val="1D3C64"/>
          </a:solidFill>
          <a:ln w="6350">
            <a:solidFill>
              <a:srgbClr val="1D3C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1188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RoomFlow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64792" y="11887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9E4F4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조회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816352" y="1188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9E4F4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 예약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776472" y="1188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9E4F4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승인함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616952" y="11887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김사용자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347472" y="1499616"/>
            <a:ext cx="1234440" cy="4846320"/>
          </a:xfrm>
          <a:prstGeom prst="rect">
            <a:avLst/>
          </a:prstGeom>
          <a:solidFill>
            <a:srgbClr val="F5F7FA"/>
          </a:solidFill>
          <a:ln w="10160">
            <a:solidFill>
              <a:srgbClr val="E3E7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792224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EAF1FF"/>
          </a:solidFill>
          <a:ln w="6350">
            <a:solidFill>
              <a:srgbClr val="EAF1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" y="18379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6FED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조회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557784" y="22219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등록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557784" y="26060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 예약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557784" y="29900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승인함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1856232" y="16824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조회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856232" y="2103120"/>
            <a:ext cx="6464808" cy="749808"/>
          </a:xfrm>
          <a:prstGeom prst="roundRect">
            <a:avLst>
              <a:gd name="adj" fmla="val 7317"/>
            </a:avLst>
          </a:prstGeom>
          <a:solidFill>
            <a:srgbClr val="F5F7FA"/>
          </a:solidFill>
          <a:ln w="10160">
            <a:solidFill>
              <a:srgbClr val="E0E5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20824" y="221284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기간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2020824" y="2432304"/>
            <a:ext cx="19659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12264" y="24871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2026-09-01  ~  2026-09-07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4187952" y="221284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건물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4187952" y="2432304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79392" y="24871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전체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5330952" y="221284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상태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5330952" y="2432304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22392" y="24871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전체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6565392" y="2432304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2F6FED"/>
          </a:solidFill>
          <a:ln w="6350">
            <a:solidFill>
              <a:srgbClr val="2F6F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65392" y="24871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조회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7296912" y="2432304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BFC7D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96912" y="24871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초기화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1874520" y="2057400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74520" y="206654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53912" y="2057400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53912" y="206654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2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901952" y="3063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4건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095744" y="2962656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2F6FED"/>
          </a:solidFill>
          <a:ln w="6350">
            <a:solidFill>
              <a:srgbClr val="2F6F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95744" y="30175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+ 예약 등록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7845552" y="2852928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45552" y="286207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3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856232" y="3337560"/>
            <a:ext cx="777240" cy="329184"/>
          </a:xfrm>
          <a:prstGeom prst="rect">
            <a:avLst/>
          </a:prstGeom>
          <a:solidFill>
            <a:srgbClr val="1D3C64"/>
          </a:solidFill>
          <a:ln w="6350">
            <a:solidFill>
              <a:srgbClr val="1D3C6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856232" y="34015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상태</a:t>
            </a:r>
            <a:endParaRPr lang="en-US" sz="730" dirty="0"/>
          </a:p>
        </p:txBody>
      </p:sp>
      <p:sp>
        <p:nvSpPr>
          <p:cNvPr id="67" name="Shape 65"/>
          <p:cNvSpPr/>
          <p:nvPr/>
        </p:nvSpPr>
        <p:spPr>
          <a:xfrm>
            <a:off x="2633472" y="3337560"/>
            <a:ext cx="1188720" cy="329184"/>
          </a:xfrm>
          <a:prstGeom prst="rect">
            <a:avLst/>
          </a:prstGeom>
          <a:solidFill>
            <a:srgbClr val="1D3C64"/>
          </a:solidFill>
          <a:ln w="6350">
            <a:solidFill>
              <a:srgbClr val="1D3C6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33472" y="34015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예약일</a:t>
            </a:r>
            <a:endParaRPr lang="en-US" sz="730" dirty="0"/>
          </a:p>
        </p:txBody>
      </p:sp>
      <p:sp>
        <p:nvSpPr>
          <p:cNvPr id="69" name="Shape 67"/>
          <p:cNvSpPr/>
          <p:nvPr/>
        </p:nvSpPr>
        <p:spPr>
          <a:xfrm>
            <a:off x="3822192" y="3337560"/>
            <a:ext cx="1234440" cy="329184"/>
          </a:xfrm>
          <a:prstGeom prst="rect">
            <a:avLst/>
          </a:prstGeom>
          <a:solidFill>
            <a:srgbClr val="1D3C64"/>
          </a:solidFill>
          <a:ln w="6350">
            <a:solidFill>
              <a:srgbClr val="1D3C6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22192" y="340156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시간</a:t>
            </a:r>
            <a:endParaRPr lang="en-US" sz="730" dirty="0"/>
          </a:p>
        </p:txBody>
      </p:sp>
      <p:sp>
        <p:nvSpPr>
          <p:cNvPr id="71" name="Shape 69"/>
          <p:cNvSpPr/>
          <p:nvPr/>
        </p:nvSpPr>
        <p:spPr>
          <a:xfrm>
            <a:off x="5056632" y="3337560"/>
            <a:ext cx="1051560" cy="329184"/>
          </a:xfrm>
          <a:prstGeom prst="rect">
            <a:avLst/>
          </a:prstGeom>
          <a:solidFill>
            <a:srgbClr val="1D3C64"/>
          </a:solidFill>
          <a:ln w="6350">
            <a:solidFill>
              <a:srgbClr val="1D3C6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56632" y="340156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회의실</a:t>
            </a:r>
            <a:endParaRPr lang="en-US" sz="730" dirty="0"/>
          </a:p>
        </p:txBody>
      </p:sp>
      <p:sp>
        <p:nvSpPr>
          <p:cNvPr id="73" name="Shape 71"/>
          <p:cNvSpPr/>
          <p:nvPr/>
        </p:nvSpPr>
        <p:spPr>
          <a:xfrm>
            <a:off x="6108192" y="3337560"/>
            <a:ext cx="1234440" cy="329184"/>
          </a:xfrm>
          <a:prstGeom prst="rect">
            <a:avLst/>
          </a:prstGeom>
          <a:solidFill>
            <a:srgbClr val="1D3C64"/>
          </a:solidFill>
          <a:ln w="6350">
            <a:solidFill>
              <a:srgbClr val="1D3C6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08192" y="340156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제목</a:t>
            </a:r>
            <a:endParaRPr lang="en-US" sz="730" dirty="0"/>
          </a:p>
        </p:txBody>
      </p:sp>
      <p:sp>
        <p:nvSpPr>
          <p:cNvPr id="75" name="Shape 73"/>
          <p:cNvSpPr/>
          <p:nvPr/>
        </p:nvSpPr>
        <p:spPr>
          <a:xfrm>
            <a:off x="7342632" y="3337560"/>
            <a:ext cx="713232" cy="329184"/>
          </a:xfrm>
          <a:prstGeom prst="rect">
            <a:avLst/>
          </a:prstGeom>
          <a:solidFill>
            <a:srgbClr val="1D3C64"/>
          </a:solidFill>
          <a:ln w="6350">
            <a:solidFill>
              <a:srgbClr val="1D3C6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42632" y="34015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인원</a:t>
            </a:r>
            <a:endParaRPr lang="en-US" sz="730" dirty="0"/>
          </a:p>
        </p:txBody>
      </p:sp>
      <p:sp>
        <p:nvSpPr>
          <p:cNvPr id="77" name="Shape 75"/>
          <p:cNvSpPr/>
          <p:nvPr/>
        </p:nvSpPr>
        <p:spPr>
          <a:xfrm>
            <a:off x="1856232" y="3666744"/>
            <a:ext cx="7772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901952" y="37398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845B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APPROVED</a:t>
            </a:r>
            <a:endParaRPr lang="en-US" sz="710" dirty="0"/>
          </a:p>
        </p:txBody>
      </p:sp>
      <p:sp>
        <p:nvSpPr>
          <p:cNvPr id="79" name="Shape 77"/>
          <p:cNvSpPr/>
          <p:nvPr/>
        </p:nvSpPr>
        <p:spPr>
          <a:xfrm>
            <a:off x="2633472" y="3666744"/>
            <a:ext cx="118872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679192" y="37398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09-03</a:t>
            </a:r>
            <a:endParaRPr lang="en-US" sz="710" dirty="0"/>
          </a:p>
        </p:txBody>
      </p:sp>
      <p:sp>
        <p:nvSpPr>
          <p:cNvPr id="81" name="Shape 79"/>
          <p:cNvSpPr/>
          <p:nvPr/>
        </p:nvSpPr>
        <p:spPr>
          <a:xfrm>
            <a:off x="3822192" y="3666744"/>
            <a:ext cx="12344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867912" y="373989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14:00-15:00</a:t>
            </a:r>
            <a:endParaRPr lang="en-US" sz="710" dirty="0"/>
          </a:p>
        </p:txBody>
      </p:sp>
      <p:sp>
        <p:nvSpPr>
          <p:cNvPr id="83" name="Shape 81"/>
          <p:cNvSpPr/>
          <p:nvPr/>
        </p:nvSpPr>
        <p:spPr>
          <a:xfrm>
            <a:off x="5056632" y="3666744"/>
            <a:ext cx="105156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102352" y="37398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A-1201</a:t>
            </a:r>
            <a:endParaRPr lang="en-US" sz="710" dirty="0"/>
          </a:p>
        </p:txBody>
      </p:sp>
      <p:sp>
        <p:nvSpPr>
          <p:cNvPr id="85" name="Shape 83"/>
          <p:cNvSpPr/>
          <p:nvPr/>
        </p:nvSpPr>
        <p:spPr>
          <a:xfrm>
            <a:off x="6108192" y="3666744"/>
            <a:ext cx="12344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153912" y="373989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주간 운영회의</a:t>
            </a:r>
            <a:endParaRPr lang="en-US" sz="710" dirty="0"/>
          </a:p>
        </p:txBody>
      </p:sp>
      <p:sp>
        <p:nvSpPr>
          <p:cNvPr id="87" name="Shape 85"/>
          <p:cNvSpPr/>
          <p:nvPr/>
        </p:nvSpPr>
        <p:spPr>
          <a:xfrm>
            <a:off x="7342632" y="3666744"/>
            <a:ext cx="713232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388352" y="373989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6</a:t>
            </a:r>
            <a:endParaRPr lang="en-US" sz="710" dirty="0"/>
          </a:p>
        </p:txBody>
      </p:sp>
      <p:sp>
        <p:nvSpPr>
          <p:cNvPr id="89" name="Shape 87"/>
          <p:cNvSpPr/>
          <p:nvPr/>
        </p:nvSpPr>
        <p:spPr>
          <a:xfrm>
            <a:off x="1856232" y="4050792"/>
            <a:ext cx="777240" cy="384048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901952" y="41239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47A31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REQUESTED</a:t>
            </a:r>
            <a:endParaRPr lang="en-US" sz="710" dirty="0"/>
          </a:p>
        </p:txBody>
      </p:sp>
      <p:sp>
        <p:nvSpPr>
          <p:cNvPr id="91" name="Shape 89"/>
          <p:cNvSpPr/>
          <p:nvPr/>
        </p:nvSpPr>
        <p:spPr>
          <a:xfrm>
            <a:off x="2633472" y="4050792"/>
            <a:ext cx="1188720" cy="384048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679192" y="41239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09-03</a:t>
            </a:r>
            <a:endParaRPr lang="en-US" sz="710" dirty="0"/>
          </a:p>
        </p:txBody>
      </p:sp>
      <p:sp>
        <p:nvSpPr>
          <p:cNvPr id="93" name="Shape 91"/>
          <p:cNvSpPr/>
          <p:nvPr/>
        </p:nvSpPr>
        <p:spPr>
          <a:xfrm>
            <a:off x="3822192" y="4050792"/>
            <a:ext cx="1234440" cy="384048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867912" y="41239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16:00-17:00</a:t>
            </a:r>
            <a:endParaRPr lang="en-US" sz="710" dirty="0"/>
          </a:p>
        </p:txBody>
      </p:sp>
      <p:sp>
        <p:nvSpPr>
          <p:cNvPr id="95" name="Shape 93"/>
          <p:cNvSpPr/>
          <p:nvPr/>
        </p:nvSpPr>
        <p:spPr>
          <a:xfrm>
            <a:off x="5056632" y="4050792"/>
            <a:ext cx="1051560" cy="384048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102352" y="41239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B-0804</a:t>
            </a:r>
            <a:endParaRPr lang="en-US" sz="710" dirty="0"/>
          </a:p>
        </p:txBody>
      </p:sp>
      <p:sp>
        <p:nvSpPr>
          <p:cNvPr id="97" name="Shape 95"/>
          <p:cNvSpPr/>
          <p:nvPr/>
        </p:nvSpPr>
        <p:spPr>
          <a:xfrm>
            <a:off x="6108192" y="4050792"/>
            <a:ext cx="1234440" cy="384048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153912" y="41239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 예약</a:t>
            </a:r>
            <a:endParaRPr lang="en-US" sz="710" dirty="0"/>
          </a:p>
        </p:txBody>
      </p:sp>
      <p:sp>
        <p:nvSpPr>
          <p:cNvPr id="99" name="Shape 97"/>
          <p:cNvSpPr/>
          <p:nvPr/>
        </p:nvSpPr>
        <p:spPr>
          <a:xfrm>
            <a:off x="7342632" y="4050792"/>
            <a:ext cx="713232" cy="384048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388352" y="412394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5</a:t>
            </a:r>
            <a:endParaRPr lang="en-US" sz="710" dirty="0"/>
          </a:p>
        </p:txBody>
      </p:sp>
      <p:sp>
        <p:nvSpPr>
          <p:cNvPr id="101" name="Shape 99"/>
          <p:cNvSpPr/>
          <p:nvPr/>
        </p:nvSpPr>
        <p:spPr>
          <a:xfrm>
            <a:off x="1856232" y="4434840"/>
            <a:ext cx="7772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901952" y="450799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17845B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APPROVED</a:t>
            </a:r>
            <a:endParaRPr lang="en-US" sz="710" dirty="0"/>
          </a:p>
        </p:txBody>
      </p:sp>
      <p:sp>
        <p:nvSpPr>
          <p:cNvPr id="103" name="Shape 101"/>
          <p:cNvSpPr/>
          <p:nvPr/>
        </p:nvSpPr>
        <p:spPr>
          <a:xfrm>
            <a:off x="2633472" y="4434840"/>
            <a:ext cx="118872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679192" y="4507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09-04</a:t>
            </a:r>
            <a:endParaRPr lang="en-US" sz="710" dirty="0"/>
          </a:p>
        </p:txBody>
      </p:sp>
      <p:sp>
        <p:nvSpPr>
          <p:cNvPr id="105" name="Shape 103"/>
          <p:cNvSpPr/>
          <p:nvPr/>
        </p:nvSpPr>
        <p:spPr>
          <a:xfrm>
            <a:off x="3822192" y="4434840"/>
            <a:ext cx="12344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867912" y="45079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10:00-11:00</a:t>
            </a:r>
            <a:endParaRPr lang="en-US" sz="710" dirty="0"/>
          </a:p>
        </p:txBody>
      </p:sp>
      <p:sp>
        <p:nvSpPr>
          <p:cNvPr id="107" name="Shape 105"/>
          <p:cNvSpPr/>
          <p:nvPr/>
        </p:nvSpPr>
        <p:spPr>
          <a:xfrm>
            <a:off x="5056632" y="4434840"/>
            <a:ext cx="105156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102352" y="45079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C-0502</a:t>
            </a:r>
            <a:endParaRPr lang="en-US" sz="710" dirty="0"/>
          </a:p>
        </p:txBody>
      </p:sp>
      <p:sp>
        <p:nvSpPr>
          <p:cNvPr id="109" name="Shape 107"/>
          <p:cNvSpPr/>
          <p:nvPr/>
        </p:nvSpPr>
        <p:spPr>
          <a:xfrm>
            <a:off x="6108192" y="4434840"/>
            <a:ext cx="123444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153912" y="45079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비공개 예약</a:t>
            </a:r>
            <a:endParaRPr lang="en-US" sz="710" dirty="0"/>
          </a:p>
        </p:txBody>
      </p:sp>
      <p:sp>
        <p:nvSpPr>
          <p:cNvPr id="111" name="Shape 109"/>
          <p:cNvSpPr/>
          <p:nvPr/>
        </p:nvSpPr>
        <p:spPr>
          <a:xfrm>
            <a:off x="7342632" y="4434840"/>
            <a:ext cx="713232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388352" y="450799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4</a:t>
            </a:r>
            <a:endParaRPr lang="en-US" sz="710" dirty="0"/>
          </a:p>
        </p:txBody>
      </p:sp>
      <p:sp>
        <p:nvSpPr>
          <p:cNvPr id="113" name="Shape 111"/>
          <p:cNvSpPr/>
          <p:nvPr/>
        </p:nvSpPr>
        <p:spPr>
          <a:xfrm>
            <a:off x="1856232" y="4818888"/>
            <a:ext cx="777240" cy="384048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901952" y="48920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CANCELED</a:t>
            </a:r>
            <a:endParaRPr lang="en-US" sz="710" dirty="0"/>
          </a:p>
        </p:txBody>
      </p:sp>
      <p:sp>
        <p:nvSpPr>
          <p:cNvPr id="115" name="Shape 113"/>
          <p:cNvSpPr/>
          <p:nvPr/>
        </p:nvSpPr>
        <p:spPr>
          <a:xfrm>
            <a:off x="2633472" y="4818888"/>
            <a:ext cx="1188720" cy="384048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679192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09-05</a:t>
            </a:r>
            <a:endParaRPr lang="en-US" sz="710" dirty="0"/>
          </a:p>
        </p:txBody>
      </p:sp>
      <p:sp>
        <p:nvSpPr>
          <p:cNvPr id="117" name="Shape 115"/>
          <p:cNvSpPr/>
          <p:nvPr/>
        </p:nvSpPr>
        <p:spPr>
          <a:xfrm>
            <a:off x="3822192" y="4818888"/>
            <a:ext cx="1234440" cy="384048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867912" y="48920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13:00-14:30</a:t>
            </a:r>
            <a:endParaRPr lang="en-US" sz="710" dirty="0"/>
          </a:p>
        </p:txBody>
      </p:sp>
      <p:sp>
        <p:nvSpPr>
          <p:cNvPr id="119" name="Shape 117"/>
          <p:cNvSpPr/>
          <p:nvPr/>
        </p:nvSpPr>
        <p:spPr>
          <a:xfrm>
            <a:off x="5056632" y="4818888"/>
            <a:ext cx="1051560" cy="384048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102352" y="489204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A-1201</a:t>
            </a:r>
            <a:endParaRPr lang="en-US" sz="710" dirty="0"/>
          </a:p>
        </p:txBody>
      </p:sp>
      <p:sp>
        <p:nvSpPr>
          <p:cNvPr id="121" name="Shape 119"/>
          <p:cNvSpPr/>
          <p:nvPr/>
        </p:nvSpPr>
        <p:spPr>
          <a:xfrm>
            <a:off x="6108192" y="4818888"/>
            <a:ext cx="1234440" cy="384048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153912" y="48920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 예약</a:t>
            </a:r>
            <a:endParaRPr lang="en-US" sz="710" dirty="0"/>
          </a:p>
        </p:txBody>
      </p:sp>
      <p:sp>
        <p:nvSpPr>
          <p:cNvPr id="123" name="Shape 121"/>
          <p:cNvSpPr/>
          <p:nvPr/>
        </p:nvSpPr>
        <p:spPr>
          <a:xfrm>
            <a:off x="7342632" y="4818888"/>
            <a:ext cx="713232" cy="384048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388352" y="489204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8</a:t>
            </a:r>
            <a:endParaRPr lang="en-US" sz="710" dirty="0"/>
          </a:p>
        </p:txBody>
      </p:sp>
      <p:sp>
        <p:nvSpPr>
          <p:cNvPr id="125" name="Shape 123"/>
          <p:cNvSpPr/>
          <p:nvPr/>
        </p:nvSpPr>
        <p:spPr>
          <a:xfrm>
            <a:off x="5650992" y="3685032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650992" y="369417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4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3273552" y="5468112"/>
            <a:ext cx="3383280" cy="384048"/>
          </a:xfrm>
          <a:prstGeom prst="roundRect">
            <a:avLst>
              <a:gd name="adj" fmla="val 11905"/>
            </a:avLst>
          </a:prstGeom>
          <a:solidFill>
            <a:srgbClr val="E6F6F5"/>
          </a:solidFill>
          <a:ln w="10160">
            <a:solidFill>
              <a:srgbClr val="A8DAD9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410712" y="55412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8B8D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결과를 빠르게 표시하고 타인 예약 제목은 숨깁니다.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6565392" y="5513832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6565392" y="552297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5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8796528" y="1115568"/>
            <a:ext cx="3035808" cy="5230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796528" y="1115568"/>
            <a:ext cx="3035808" cy="420624"/>
          </a:xfrm>
          <a:prstGeom prst="rect">
            <a:avLst/>
          </a:prstGeom>
          <a:solidFill>
            <a:srgbClr val="D9DEE6"/>
          </a:solidFill>
          <a:ln w="10160">
            <a:solidFill>
              <a:srgbClr val="C3CAD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942832" y="1188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FUNCTION / VALIDATION</a:t>
            </a:r>
            <a:endParaRPr lang="en-US" sz="980" dirty="0"/>
          </a:p>
        </p:txBody>
      </p:sp>
      <p:sp>
        <p:nvSpPr>
          <p:cNvPr id="134" name="Shape 132"/>
          <p:cNvSpPr/>
          <p:nvPr/>
        </p:nvSpPr>
        <p:spPr>
          <a:xfrm>
            <a:off x="8942832" y="170078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942832" y="170992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9308592" y="168249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최초 진입 시 오늘부터 7일간을 조회한다.</a:t>
            </a:r>
            <a:endParaRPr lang="en-US" sz="940" dirty="0"/>
          </a:p>
        </p:txBody>
      </p:sp>
      <p:sp>
        <p:nvSpPr>
          <p:cNvPr id="137" name="Shape 135"/>
          <p:cNvSpPr/>
          <p:nvPr/>
        </p:nvSpPr>
        <p:spPr>
          <a:xfrm>
            <a:off x="8942832" y="2404872"/>
            <a:ext cx="2743200" cy="0"/>
          </a:xfrm>
          <a:prstGeom prst="line">
            <a:avLst/>
          </a:prstGeom>
          <a:noFill/>
          <a:ln w="7620">
            <a:solidFill>
              <a:srgbClr val="E5E9E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942832" y="256946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942832" y="257860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2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9308592" y="255117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기간·건물·상태를 조합해 조회할 수 있다.</a:t>
            </a:r>
            <a:endParaRPr lang="en-US" sz="940" dirty="0"/>
          </a:p>
        </p:txBody>
      </p:sp>
      <p:sp>
        <p:nvSpPr>
          <p:cNvPr id="141" name="Shape 139"/>
          <p:cNvSpPr/>
          <p:nvPr/>
        </p:nvSpPr>
        <p:spPr>
          <a:xfrm>
            <a:off x="8942832" y="3273552"/>
            <a:ext cx="2743200" cy="0"/>
          </a:xfrm>
          <a:prstGeom prst="line">
            <a:avLst/>
          </a:prstGeom>
          <a:noFill/>
          <a:ln w="7620">
            <a:solidFill>
              <a:srgbClr val="E5E9E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942832" y="343814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942832" y="344728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3</a:t>
            </a:r>
            <a:endParaRPr lang="en-US" sz="900" dirty="0"/>
          </a:p>
        </p:txBody>
      </p:sp>
      <p:sp>
        <p:nvSpPr>
          <p:cNvPr id="144" name="Text 142"/>
          <p:cNvSpPr/>
          <p:nvPr/>
        </p:nvSpPr>
        <p:spPr>
          <a:xfrm>
            <a:off x="9308592" y="341985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목록 행을 선택하면 내 예약 상세로 이동한다.</a:t>
            </a:r>
            <a:endParaRPr lang="en-US" sz="940" dirty="0"/>
          </a:p>
        </p:txBody>
      </p:sp>
      <p:sp>
        <p:nvSpPr>
          <p:cNvPr id="145" name="Shape 143"/>
          <p:cNvSpPr/>
          <p:nvPr/>
        </p:nvSpPr>
        <p:spPr>
          <a:xfrm>
            <a:off x="8942832" y="4142232"/>
            <a:ext cx="2743200" cy="0"/>
          </a:xfrm>
          <a:prstGeom prst="line">
            <a:avLst/>
          </a:prstGeom>
          <a:noFill/>
          <a:ln w="7620">
            <a:solidFill>
              <a:srgbClr val="E5E9E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942832" y="430682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8942832" y="43159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4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9308592" y="428853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본인 예약은 모두 보이고 타인 예약은 제목을 숨긴다.</a:t>
            </a:r>
            <a:endParaRPr lang="en-US" sz="940" dirty="0"/>
          </a:p>
        </p:txBody>
      </p:sp>
      <p:sp>
        <p:nvSpPr>
          <p:cNvPr id="149" name="Shape 147"/>
          <p:cNvSpPr/>
          <p:nvPr/>
        </p:nvSpPr>
        <p:spPr>
          <a:xfrm>
            <a:off x="8942832" y="5010912"/>
            <a:ext cx="2743200" cy="0"/>
          </a:xfrm>
          <a:prstGeom prst="line">
            <a:avLst/>
          </a:prstGeom>
          <a:noFill/>
          <a:ln w="7620">
            <a:solidFill>
              <a:srgbClr val="E5E9E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942832" y="517550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8942832" y="518464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5</a:t>
            </a:r>
            <a:endParaRPr lang="en-US" sz="900" dirty="0"/>
          </a:p>
        </p:txBody>
      </p:sp>
      <p:sp>
        <p:nvSpPr>
          <p:cNvPr id="152" name="Text 150"/>
          <p:cNvSpPr/>
          <p:nvPr/>
        </p:nvSpPr>
        <p:spPr>
          <a:xfrm>
            <a:off x="9308592" y="515721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조회 결과는 사용자가 기다리지 않게 빠르게 표시한다.</a:t>
            </a:r>
            <a:endParaRPr lang="en-US" sz="9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42B4A"/>
          </a:solidFill>
          <a:ln w="6350">
            <a:solidFill>
              <a:srgbClr val="14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548640"/>
          </a:xfrm>
          <a:prstGeom prst="rect">
            <a:avLst/>
          </a:prstGeom>
          <a:solidFill>
            <a:srgbClr val="F47A31"/>
          </a:solidFill>
          <a:ln w="6350">
            <a:solidFill>
              <a:srgbClr val="F47A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731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ROOMFLOW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600200" y="6400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등록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0" y="1005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CE7F7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UI DESIGN SPEC · v0.8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6547104"/>
            <a:ext cx="11548872" cy="0"/>
          </a:xfrm>
          <a:prstGeom prst="line">
            <a:avLst/>
          </a:prstGeom>
          <a:noFill/>
          <a:ln w="7620">
            <a:solidFill>
              <a:srgbClr val="D6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8368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Office → SPEC 실습용 가상 화면설계서 · Draft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583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04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" y="658368"/>
            <a:ext cx="960120" cy="347472"/>
          </a:xfrm>
          <a:prstGeom prst="rect">
            <a:avLst/>
          </a:prstGeom>
          <a:solidFill>
            <a:srgbClr val="D9DEE6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685800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화면 ID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07592" y="658368"/>
            <a:ext cx="18745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0744" y="68580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RFM-110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182112" y="658368"/>
            <a:ext cx="777240" cy="347472"/>
          </a:xfrm>
          <a:prstGeom prst="rect">
            <a:avLst/>
          </a:prstGeom>
          <a:solidFill>
            <a:srgbClr val="D9DEE6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685800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사용자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59352" y="658368"/>
            <a:ext cx="132588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32504" y="68580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임직원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285232" y="658368"/>
            <a:ext cx="685800" cy="347472"/>
          </a:xfrm>
          <a:prstGeom prst="rect">
            <a:avLst/>
          </a:prstGeom>
          <a:solidFill>
            <a:srgbClr val="D9DEE6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68580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상태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71032" y="658368"/>
            <a:ext cx="11887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44184" y="68580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Draft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159752" y="658368"/>
            <a:ext cx="685800" cy="347472"/>
          </a:xfrm>
          <a:prstGeom prst="rect">
            <a:avLst/>
          </a:prstGeom>
          <a:solidFill>
            <a:srgbClr val="D9DEE6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2904" y="68580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구분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45552" y="658368"/>
            <a:ext cx="9601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685800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Main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9162288" y="658368"/>
            <a:ext cx="2670048" cy="347472"/>
          </a:xfrm>
          <a:prstGeom prst="rect">
            <a:avLst/>
          </a:prstGeom>
          <a:solidFill>
            <a:srgbClr val="EAF1FF"/>
          </a:solidFill>
          <a:ln w="10160">
            <a:solidFill>
              <a:srgbClr val="BFD1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6858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F6FED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화면과 설명의 번호를 함께 대조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347472" y="1115568"/>
            <a:ext cx="8247888" cy="5230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FC7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1115568"/>
            <a:ext cx="8247888" cy="384048"/>
          </a:xfrm>
          <a:prstGeom prst="rect">
            <a:avLst/>
          </a:prstGeom>
          <a:solidFill>
            <a:srgbClr val="1D3C64"/>
          </a:solidFill>
          <a:ln w="6350">
            <a:solidFill>
              <a:srgbClr val="1D3C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1188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RoomFlow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64792" y="11887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9E4F4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조회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816352" y="1188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9E4F4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 예약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776472" y="1188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9E4F4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승인함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616952" y="11887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김사용자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347472" y="1499616"/>
            <a:ext cx="1234440" cy="4846320"/>
          </a:xfrm>
          <a:prstGeom prst="rect">
            <a:avLst/>
          </a:prstGeom>
          <a:solidFill>
            <a:srgbClr val="F5F7FA"/>
          </a:solidFill>
          <a:ln w="10160">
            <a:solidFill>
              <a:srgbClr val="E3E7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" y="18379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조회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438912" y="2176272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EAF1FF"/>
          </a:solidFill>
          <a:ln w="6350">
            <a:solidFill>
              <a:srgbClr val="EAF1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" y="22219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6FED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등록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557784" y="26060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 예약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557784" y="29900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승인함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1856232" y="16824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등록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856232" y="210312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C8453C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회의실 *</a:t>
            </a:r>
            <a:endParaRPr lang="en-US" sz="760" dirty="0"/>
          </a:p>
        </p:txBody>
      </p:sp>
      <p:sp>
        <p:nvSpPr>
          <p:cNvPr id="43" name="Shape 41"/>
          <p:cNvSpPr/>
          <p:nvPr/>
        </p:nvSpPr>
        <p:spPr>
          <a:xfrm>
            <a:off x="1856232" y="2322576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47672" y="23774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A-1201 · 12명 · 화상회의</a:t>
            </a:r>
            <a:endParaRPr lang="en-US" sz="780" dirty="0"/>
          </a:p>
        </p:txBody>
      </p:sp>
      <p:sp>
        <p:nvSpPr>
          <p:cNvPr id="45" name="Text 43"/>
          <p:cNvSpPr/>
          <p:nvPr/>
        </p:nvSpPr>
        <p:spPr>
          <a:xfrm>
            <a:off x="4919472" y="21031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C8453C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예약일 *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4919472" y="2322576"/>
            <a:ext cx="13258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10912" y="237744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2026-09-03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7525512" y="2048256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25512" y="20574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856232" y="28803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C8453C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시작 *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1856232" y="3099816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47672" y="3154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14:00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3273552" y="28803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C8453C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종료 *</a:t>
            </a:r>
            <a:endParaRPr lang="en-US" sz="760" dirty="0"/>
          </a:p>
        </p:txBody>
      </p:sp>
      <p:sp>
        <p:nvSpPr>
          <p:cNvPr id="54" name="Shape 52"/>
          <p:cNvSpPr/>
          <p:nvPr/>
        </p:nvSpPr>
        <p:spPr>
          <a:xfrm>
            <a:off x="3273552" y="3099816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64992" y="31546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15:00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4690872" y="288036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C8453C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참석 인원 *</a:t>
            </a:r>
            <a:endParaRPr lang="en-US" sz="760" dirty="0"/>
          </a:p>
        </p:txBody>
      </p:sp>
      <p:sp>
        <p:nvSpPr>
          <p:cNvPr id="57" name="Shape 55"/>
          <p:cNvSpPr/>
          <p:nvPr/>
        </p:nvSpPr>
        <p:spPr>
          <a:xfrm>
            <a:off x="4690872" y="3099816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82312" y="315468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6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5833872" y="2834640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33872" y="28437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2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856232" y="36576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C8453C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제목 *</a:t>
            </a:r>
            <a:endParaRPr lang="en-US" sz="760" dirty="0"/>
          </a:p>
        </p:txBody>
      </p:sp>
      <p:sp>
        <p:nvSpPr>
          <p:cNvPr id="62" name="Shape 60"/>
          <p:cNvSpPr/>
          <p:nvPr/>
        </p:nvSpPr>
        <p:spPr>
          <a:xfrm>
            <a:off x="1856232" y="3877056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947672" y="3931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주간 운영회의</a:t>
            </a:r>
            <a:endParaRPr lang="en-US" sz="780" dirty="0"/>
          </a:p>
        </p:txBody>
      </p:sp>
      <p:sp>
        <p:nvSpPr>
          <p:cNvPr id="64" name="Text 62"/>
          <p:cNvSpPr/>
          <p:nvPr/>
        </p:nvSpPr>
        <p:spPr>
          <a:xfrm>
            <a:off x="4919472" y="36576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C8453C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목적 *</a:t>
            </a:r>
            <a:endParaRPr lang="en-US" sz="760" dirty="0"/>
          </a:p>
        </p:txBody>
      </p:sp>
      <p:sp>
        <p:nvSpPr>
          <p:cNvPr id="65" name="Shape 63"/>
          <p:cNvSpPr/>
          <p:nvPr/>
        </p:nvSpPr>
        <p:spPr>
          <a:xfrm>
            <a:off x="4919472" y="3877056"/>
            <a:ext cx="21488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10912" y="39319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운영 이슈 공유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7114032" y="3611880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14032" y="362102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3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856232" y="45262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필요 장비</a:t>
            </a:r>
            <a:endParaRPr lang="en-US" sz="760" dirty="0"/>
          </a:p>
        </p:txBody>
      </p:sp>
      <p:sp>
        <p:nvSpPr>
          <p:cNvPr id="70" name="Shape 68"/>
          <p:cNvSpPr/>
          <p:nvPr/>
        </p:nvSpPr>
        <p:spPr>
          <a:xfrm>
            <a:off x="1856232" y="479145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F6FED"/>
          </a:solidFill>
          <a:ln w="6350">
            <a:solidFill>
              <a:srgbClr val="2F6F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56232" y="47731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✓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2084832" y="476402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화상회의</a:t>
            </a:r>
            <a:endParaRPr lang="en-US" sz="740" dirty="0"/>
          </a:p>
        </p:txBody>
      </p:sp>
      <p:sp>
        <p:nvSpPr>
          <p:cNvPr id="73" name="Shape 71"/>
          <p:cNvSpPr/>
          <p:nvPr/>
        </p:nvSpPr>
        <p:spPr>
          <a:xfrm>
            <a:off x="3273552" y="479145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2F6FED"/>
          </a:solidFill>
          <a:ln w="6350">
            <a:solidFill>
              <a:srgbClr val="2F6F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73552" y="47731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✓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3502152" y="476402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화이트보드</a:t>
            </a:r>
            <a:endParaRPr lang="en-US" sz="740" dirty="0"/>
          </a:p>
        </p:txBody>
      </p:sp>
      <p:sp>
        <p:nvSpPr>
          <p:cNvPr id="76" name="Shape 74"/>
          <p:cNvSpPr/>
          <p:nvPr/>
        </p:nvSpPr>
        <p:spPr>
          <a:xfrm>
            <a:off x="4690872" y="479145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BFC7D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919472" y="476402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추가 모니터</a:t>
            </a:r>
            <a:endParaRPr lang="en-US" sz="740" dirty="0"/>
          </a:p>
        </p:txBody>
      </p:sp>
      <p:sp>
        <p:nvSpPr>
          <p:cNvPr id="78" name="Shape 76"/>
          <p:cNvSpPr/>
          <p:nvPr/>
        </p:nvSpPr>
        <p:spPr>
          <a:xfrm>
            <a:off x="6995160" y="4736592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995160" y="474573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4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856232" y="5230368"/>
            <a:ext cx="5212080" cy="438912"/>
          </a:xfrm>
          <a:prstGeom prst="roundRect">
            <a:avLst>
              <a:gd name="adj" fmla="val 10417"/>
            </a:avLst>
          </a:prstGeom>
          <a:solidFill>
            <a:srgbClr val="FBECEB"/>
          </a:solidFill>
          <a:ln w="10160">
            <a:solidFill>
              <a:srgbClr val="E6BAB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039112" y="5321808"/>
            <a:ext cx="4846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C8453C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같은 회의실과 시간이 겹치면 입력값을 유지한 채 저장을 중단합니다.</a:t>
            </a:r>
            <a:endParaRPr lang="en-US" sz="820" dirty="0"/>
          </a:p>
        </p:txBody>
      </p:sp>
      <p:sp>
        <p:nvSpPr>
          <p:cNvPr id="82" name="Shape 80"/>
          <p:cNvSpPr/>
          <p:nvPr/>
        </p:nvSpPr>
        <p:spPr>
          <a:xfrm>
            <a:off x="7095744" y="5285232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095744" y="529437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5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696712" y="5897880"/>
            <a:ext cx="6400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BFC7D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696712" y="5952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취소</a:t>
            </a:r>
            <a:endParaRPr lang="en-US" sz="780" dirty="0"/>
          </a:p>
        </p:txBody>
      </p:sp>
      <p:sp>
        <p:nvSpPr>
          <p:cNvPr id="86" name="Shape 84"/>
          <p:cNvSpPr/>
          <p:nvPr/>
        </p:nvSpPr>
        <p:spPr>
          <a:xfrm>
            <a:off x="6409944" y="5897880"/>
            <a:ext cx="749808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BFC7D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09944" y="595274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임시저장</a:t>
            </a:r>
            <a:endParaRPr lang="en-US" sz="780" dirty="0"/>
          </a:p>
        </p:txBody>
      </p:sp>
      <p:sp>
        <p:nvSpPr>
          <p:cNvPr id="88" name="Shape 86"/>
          <p:cNvSpPr/>
          <p:nvPr/>
        </p:nvSpPr>
        <p:spPr>
          <a:xfrm>
            <a:off x="7251192" y="5897880"/>
            <a:ext cx="749808" cy="329184"/>
          </a:xfrm>
          <a:prstGeom prst="roundRect">
            <a:avLst>
              <a:gd name="adj" fmla="val 16667"/>
            </a:avLst>
          </a:prstGeom>
          <a:solidFill>
            <a:srgbClr val="2F6FED"/>
          </a:solidFill>
          <a:ln w="6350">
            <a:solidFill>
              <a:srgbClr val="2F6FE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251192" y="595274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요청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8796528" y="1115568"/>
            <a:ext cx="3035808" cy="5230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796528" y="1115568"/>
            <a:ext cx="3035808" cy="420624"/>
          </a:xfrm>
          <a:prstGeom prst="rect">
            <a:avLst/>
          </a:prstGeom>
          <a:solidFill>
            <a:srgbClr val="D9DEE6"/>
          </a:solidFill>
          <a:ln w="10160">
            <a:solidFill>
              <a:srgbClr val="C3CAD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942832" y="1188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FUNCTION / VALIDATION</a:t>
            </a:r>
            <a:endParaRPr lang="en-US" sz="980" dirty="0"/>
          </a:p>
        </p:txBody>
      </p:sp>
      <p:sp>
        <p:nvSpPr>
          <p:cNvPr id="93" name="Shape 91"/>
          <p:cNvSpPr/>
          <p:nvPr/>
        </p:nvSpPr>
        <p:spPr>
          <a:xfrm>
            <a:off x="8942832" y="170078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942832" y="170992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9308592" y="168249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회의실·예약일·시작·종료·인원·목적을 입력한다.</a:t>
            </a:r>
            <a:endParaRPr lang="en-US" sz="940" dirty="0"/>
          </a:p>
        </p:txBody>
      </p:sp>
      <p:sp>
        <p:nvSpPr>
          <p:cNvPr id="96" name="Shape 94"/>
          <p:cNvSpPr/>
          <p:nvPr/>
        </p:nvSpPr>
        <p:spPr>
          <a:xfrm>
            <a:off x="8942832" y="2404872"/>
            <a:ext cx="2743200" cy="0"/>
          </a:xfrm>
          <a:prstGeom prst="line">
            <a:avLst/>
          </a:prstGeom>
          <a:noFill/>
          <a:ln w="7620">
            <a:solidFill>
              <a:srgbClr val="E5E9E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942832" y="256946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942832" y="257860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2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9308592" y="255117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종료 시각은 시작 시각보다 늦어야 한다.</a:t>
            </a:r>
            <a:endParaRPr lang="en-US" sz="940" dirty="0"/>
          </a:p>
        </p:txBody>
      </p:sp>
      <p:sp>
        <p:nvSpPr>
          <p:cNvPr id="100" name="Shape 98"/>
          <p:cNvSpPr/>
          <p:nvPr/>
        </p:nvSpPr>
        <p:spPr>
          <a:xfrm>
            <a:off x="8942832" y="3273552"/>
            <a:ext cx="2743200" cy="0"/>
          </a:xfrm>
          <a:prstGeom prst="line">
            <a:avLst/>
          </a:prstGeom>
          <a:noFill/>
          <a:ln w="7620">
            <a:solidFill>
              <a:srgbClr val="E5E9E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942832" y="343814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942832" y="344728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3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9308592" y="341985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시간은 30분 단위로 선택한다.</a:t>
            </a:r>
            <a:endParaRPr lang="en-US" sz="940" dirty="0"/>
          </a:p>
        </p:txBody>
      </p:sp>
      <p:sp>
        <p:nvSpPr>
          <p:cNvPr id="104" name="Shape 102"/>
          <p:cNvSpPr/>
          <p:nvPr/>
        </p:nvSpPr>
        <p:spPr>
          <a:xfrm>
            <a:off x="8942832" y="4142232"/>
            <a:ext cx="2743200" cy="0"/>
          </a:xfrm>
          <a:prstGeom prst="line">
            <a:avLst/>
          </a:prstGeom>
          <a:noFill/>
          <a:ln w="7620">
            <a:solidFill>
              <a:srgbClr val="E5E9E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942832" y="430682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942832" y="43159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4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9308592" y="428853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참석 인원은 1명 이상, 회의실 정원 이하여야 한다.</a:t>
            </a:r>
            <a:endParaRPr lang="en-US" sz="940" dirty="0"/>
          </a:p>
        </p:txBody>
      </p:sp>
      <p:sp>
        <p:nvSpPr>
          <p:cNvPr id="108" name="Shape 106"/>
          <p:cNvSpPr/>
          <p:nvPr/>
        </p:nvSpPr>
        <p:spPr>
          <a:xfrm>
            <a:off x="8942832" y="5010912"/>
            <a:ext cx="2743200" cy="0"/>
          </a:xfrm>
          <a:prstGeom prst="line">
            <a:avLst/>
          </a:prstGeom>
          <a:noFill/>
          <a:ln w="7620">
            <a:solidFill>
              <a:srgbClr val="E5E9E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942832" y="517550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942832" y="518464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5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9308592" y="515721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겹치는 예약이 있으면 저장하지 않고 안내한다.</a:t>
            </a:r>
            <a:endParaRPr lang="en-US" sz="9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42B4A"/>
          </a:solidFill>
          <a:ln w="6350">
            <a:solidFill>
              <a:srgbClr val="14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548640"/>
          </a:xfrm>
          <a:prstGeom prst="rect">
            <a:avLst/>
          </a:prstGeom>
          <a:solidFill>
            <a:srgbClr val="F47A31"/>
          </a:solidFill>
          <a:ln w="6350">
            <a:solidFill>
              <a:srgbClr val="F47A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731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ROOMFLOW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600200" y="6400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 예약 상세와 취소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0" y="1005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CE7F7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UI DESIGN SPEC · v0.8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6547104"/>
            <a:ext cx="11548872" cy="0"/>
          </a:xfrm>
          <a:prstGeom prst="line">
            <a:avLst/>
          </a:prstGeom>
          <a:noFill/>
          <a:ln w="7620">
            <a:solidFill>
              <a:srgbClr val="D6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8368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Office → SPEC 실습용 가상 화면설계서 · Draft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583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05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" y="658368"/>
            <a:ext cx="960120" cy="347472"/>
          </a:xfrm>
          <a:prstGeom prst="rect">
            <a:avLst/>
          </a:prstGeom>
          <a:solidFill>
            <a:srgbClr val="D9DEE6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685800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화면 ID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07592" y="658368"/>
            <a:ext cx="18745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0744" y="68580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RFM-120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182112" y="658368"/>
            <a:ext cx="777240" cy="347472"/>
          </a:xfrm>
          <a:prstGeom prst="rect">
            <a:avLst/>
          </a:prstGeom>
          <a:solidFill>
            <a:srgbClr val="D9DEE6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685800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사용자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59352" y="658368"/>
            <a:ext cx="132588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32504" y="68580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신청자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285232" y="658368"/>
            <a:ext cx="685800" cy="347472"/>
          </a:xfrm>
          <a:prstGeom prst="rect">
            <a:avLst/>
          </a:prstGeom>
          <a:solidFill>
            <a:srgbClr val="D9DEE6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68580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상태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71032" y="658368"/>
            <a:ext cx="11887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44184" y="68580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Draft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159752" y="658368"/>
            <a:ext cx="685800" cy="347472"/>
          </a:xfrm>
          <a:prstGeom prst="rect">
            <a:avLst/>
          </a:prstGeom>
          <a:solidFill>
            <a:srgbClr val="D9DEE6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2904" y="68580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구분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45552" y="658368"/>
            <a:ext cx="9601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685800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Main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9162288" y="658368"/>
            <a:ext cx="2670048" cy="347472"/>
          </a:xfrm>
          <a:prstGeom prst="rect">
            <a:avLst/>
          </a:prstGeom>
          <a:solidFill>
            <a:srgbClr val="EAF1FF"/>
          </a:solidFill>
          <a:ln w="10160">
            <a:solidFill>
              <a:srgbClr val="BFD1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6858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F6FED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화면과 설명의 번호를 함께 대조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347472" y="1115568"/>
            <a:ext cx="8247888" cy="5230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FC7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1115568"/>
            <a:ext cx="8247888" cy="384048"/>
          </a:xfrm>
          <a:prstGeom prst="rect">
            <a:avLst/>
          </a:prstGeom>
          <a:solidFill>
            <a:srgbClr val="1D3C64"/>
          </a:solidFill>
          <a:ln w="6350">
            <a:solidFill>
              <a:srgbClr val="1D3C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1188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RoomFlow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64792" y="11887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9E4F4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조회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816352" y="1188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9E4F4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 예약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776472" y="1188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9E4F4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승인함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616952" y="11887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김사용자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347472" y="1499616"/>
            <a:ext cx="1234440" cy="4846320"/>
          </a:xfrm>
          <a:prstGeom prst="rect">
            <a:avLst/>
          </a:prstGeom>
          <a:solidFill>
            <a:srgbClr val="F5F7FA"/>
          </a:solidFill>
          <a:ln w="10160">
            <a:solidFill>
              <a:srgbClr val="E3E7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" y="18379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조회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557784" y="22219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등록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438912" y="2560320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EAF1FF"/>
          </a:solidFill>
          <a:ln w="6350">
            <a:solidFill>
              <a:srgbClr val="EAF1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" y="26060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6FED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 예약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557784" y="29900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승인함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1856232" y="16824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 예약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856232" y="2103120"/>
            <a:ext cx="6126480" cy="658368"/>
          </a:xfrm>
          <a:prstGeom prst="roundRect">
            <a:avLst>
              <a:gd name="adj" fmla="val 8333"/>
            </a:avLst>
          </a:prstGeom>
          <a:solidFill>
            <a:srgbClr val="EAF1FF"/>
          </a:solidFill>
          <a:ln w="10160">
            <a:solidFill>
              <a:srgbClr val="BED1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39112" y="221284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845B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APPROVED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182112" y="2185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주간 운영회의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91072" y="22128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RF-20260903-014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680960" y="215798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0" y="216712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856232" y="3017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회의실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697480" y="30175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A-1201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4919472" y="30175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예약일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760720" y="30175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2026-09-03</a:t>
            </a:r>
            <a:endParaRPr lang="en-US" sz="820" dirty="0"/>
          </a:p>
        </p:txBody>
      </p:sp>
      <p:sp>
        <p:nvSpPr>
          <p:cNvPr id="52" name="Text 50"/>
          <p:cNvSpPr/>
          <p:nvPr/>
        </p:nvSpPr>
        <p:spPr>
          <a:xfrm>
            <a:off x="1856232" y="35295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시간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697480" y="35295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14:00-15:00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4919472" y="35295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참석 인원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760720" y="35295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6명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1856232" y="40416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신청자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697480" y="40416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김사용자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4919472" y="40416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처리자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760720" y="40416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이승인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1856232" y="4709160"/>
            <a:ext cx="6126480" cy="868680"/>
          </a:xfrm>
          <a:prstGeom prst="roundRect">
            <a:avLst>
              <a:gd name="adj" fmla="val 5263"/>
            </a:avLst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020824" y="48097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처리 이력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953512" y="4791456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53512" y="48006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300984" y="480974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REQUESTED · 09-01 09:12 · 김사용자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953512" y="5111496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53512" y="512064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3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300984" y="512978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APPROVED · 09-01 10:03 · 이승인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6931152" y="5925312"/>
            <a:ext cx="1005840" cy="329184"/>
          </a:xfrm>
          <a:prstGeom prst="roundRect">
            <a:avLst>
              <a:gd name="adj" fmla="val 16667"/>
            </a:avLst>
          </a:prstGeom>
          <a:solidFill>
            <a:srgbClr val="FBECEB"/>
          </a:solidFill>
          <a:ln w="10160">
            <a:solidFill>
              <a:srgbClr val="E5AAA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31152" y="59801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8453C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취소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7799832" y="5870448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99832" y="587959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4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730752" y="3227832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AAB4C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005072" y="34564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예약을 취소하시겠습니까?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096512" y="38404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주간 운영회의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2026-09-03 · 14:00-15:00</a:t>
            </a:r>
            <a:endParaRPr lang="en-US" sz="820" dirty="0"/>
          </a:p>
        </p:txBody>
      </p:sp>
      <p:sp>
        <p:nvSpPr>
          <p:cNvPr id="75" name="Shape 73"/>
          <p:cNvSpPr/>
          <p:nvPr/>
        </p:nvSpPr>
        <p:spPr>
          <a:xfrm>
            <a:off x="4736592" y="4507992"/>
            <a:ext cx="6858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BFC7D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36592" y="456285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아니오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5513832" y="4507992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FBECEB"/>
          </a:solidFill>
          <a:ln w="10160">
            <a:solidFill>
              <a:srgbClr val="E5AAA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513832" y="45628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8453C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예, 취소</a:t>
            </a:r>
            <a:endParaRPr lang="en-US" sz="780" dirty="0"/>
          </a:p>
        </p:txBody>
      </p:sp>
      <p:sp>
        <p:nvSpPr>
          <p:cNvPr id="79" name="Shape 77"/>
          <p:cNvSpPr/>
          <p:nvPr/>
        </p:nvSpPr>
        <p:spPr>
          <a:xfrm>
            <a:off x="6729984" y="3172968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29984" y="3182112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5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8796528" y="1115568"/>
            <a:ext cx="3035808" cy="5230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96528" y="1115568"/>
            <a:ext cx="3035808" cy="420624"/>
          </a:xfrm>
          <a:prstGeom prst="rect">
            <a:avLst/>
          </a:prstGeom>
          <a:solidFill>
            <a:srgbClr val="D9DEE6"/>
          </a:solidFill>
          <a:ln w="10160">
            <a:solidFill>
              <a:srgbClr val="C3CAD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942832" y="1188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FUNCTION / VALIDATION</a:t>
            </a:r>
            <a:endParaRPr lang="en-US" sz="980" dirty="0"/>
          </a:p>
        </p:txBody>
      </p:sp>
      <p:sp>
        <p:nvSpPr>
          <p:cNvPr id="84" name="Shape 82"/>
          <p:cNvSpPr/>
          <p:nvPr/>
        </p:nvSpPr>
        <p:spPr>
          <a:xfrm>
            <a:off x="8942832" y="170078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942832" y="170992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9308592" y="168249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신청자는 본인이 만든 예약의 상태와 처리 이력을 본다.</a:t>
            </a:r>
            <a:endParaRPr lang="en-US" sz="940" dirty="0"/>
          </a:p>
        </p:txBody>
      </p:sp>
      <p:sp>
        <p:nvSpPr>
          <p:cNvPr id="87" name="Shape 85"/>
          <p:cNvSpPr/>
          <p:nvPr/>
        </p:nvSpPr>
        <p:spPr>
          <a:xfrm>
            <a:off x="8942832" y="2404872"/>
            <a:ext cx="2743200" cy="0"/>
          </a:xfrm>
          <a:prstGeom prst="line">
            <a:avLst/>
          </a:prstGeom>
          <a:noFill/>
          <a:ln w="7620">
            <a:solidFill>
              <a:srgbClr val="E5E9E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942832" y="256946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942832" y="257860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2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9308592" y="255117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APPROVED 예약은 시작 2시간 전까지 취소할 수 있다(제안).</a:t>
            </a:r>
            <a:endParaRPr lang="en-US" sz="940" dirty="0"/>
          </a:p>
        </p:txBody>
      </p:sp>
      <p:sp>
        <p:nvSpPr>
          <p:cNvPr id="91" name="Shape 89"/>
          <p:cNvSpPr/>
          <p:nvPr/>
        </p:nvSpPr>
        <p:spPr>
          <a:xfrm>
            <a:off x="8942832" y="3273552"/>
            <a:ext cx="2743200" cy="0"/>
          </a:xfrm>
          <a:prstGeom prst="line">
            <a:avLst/>
          </a:prstGeom>
          <a:noFill/>
          <a:ln w="7620">
            <a:solidFill>
              <a:srgbClr val="E5E9E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942832" y="343814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942832" y="344728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3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9308592" y="341985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취소 전 확인 창에서 예약명과 일시를 다시 보여준다.</a:t>
            </a:r>
            <a:endParaRPr lang="en-US" sz="940" dirty="0"/>
          </a:p>
        </p:txBody>
      </p:sp>
      <p:sp>
        <p:nvSpPr>
          <p:cNvPr id="95" name="Shape 93"/>
          <p:cNvSpPr/>
          <p:nvPr/>
        </p:nvSpPr>
        <p:spPr>
          <a:xfrm>
            <a:off x="8942832" y="4142232"/>
            <a:ext cx="2743200" cy="0"/>
          </a:xfrm>
          <a:prstGeom prst="line">
            <a:avLst/>
          </a:prstGeom>
          <a:noFill/>
          <a:ln w="7620">
            <a:solidFill>
              <a:srgbClr val="E5E9E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942832" y="430682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942832" y="43159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4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9308592" y="428853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취소가 완료되면 상태를 CANCELED로 변경한다.</a:t>
            </a:r>
            <a:endParaRPr lang="en-US" sz="940" dirty="0"/>
          </a:p>
        </p:txBody>
      </p:sp>
      <p:sp>
        <p:nvSpPr>
          <p:cNvPr id="99" name="Shape 97"/>
          <p:cNvSpPr/>
          <p:nvPr/>
        </p:nvSpPr>
        <p:spPr>
          <a:xfrm>
            <a:off x="8942832" y="5010912"/>
            <a:ext cx="2743200" cy="0"/>
          </a:xfrm>
          <a:prstGeom prst="line">
            <a:avLst/>
          </a:prstGeom>
          <a:noFill/>
          <a:ln w="7620">
            <a:solidFill>
              <a:srgbClr val="E5E9E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942832" y="517550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942832" y="518464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5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9308592" y="515721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취소 알림 채널은 이메일 또는 앱 알림 중 미정이다.</a:t>
            </a:r>
            <a:endParaRPr lang="en-US" sz="9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42B4A"/>
          </a:solidFill>
          <a:ln w="6350">
            <a:solidFill>
              <a:srgbClr val="14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548640"/>
          </a:xfrm>
          <a:prstGeom prst="rect">
            <a:avLst/>
          </a:prstGeom>
          <a:solidFill>
            <a:srgbClr val="F47A31"/>
          </a:solidFill>
          <a:ln w="6350">
            <a:solidFill>
              <a:srgbClr val="F47A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731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ROOMFLOW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600200" y="6400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승인함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0" y="1005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CE7F7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UI DESIGN SPEC · v0.8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6547104"/>
            <a:ext cx="11548872" cy="0"/>
          </a:xfrm>
          <a:prstGeom prst="line">
            <a:avLst/>
          </a:prstGeom>
          <a:noFill/>
          <a:ln w="7620">
            <a:solidFill>
              <a:srgbClr val="D6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8368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Office → SPEC 실습용 가상 화면설계서 · Draft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583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06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" y="658368"/>
            <a:ext cx="960120" cy="347472"/>
          </a:xfrm>
          <a:prstGeom prst="rect">
            <a:avLst/>
          </a:prstGeom>
          <a:solidFill>
            <a:srgbClr val="D9DEE6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685800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화면 ID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07592" y="658368"/>
            <a:ext cx="18745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0744" y="685800"/>
            <a:ext cx="1728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RFA-200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182112" y="658368"/>
            <a:ext cx="777240" cy="347472"/>
          </a:xfrm>
          <a:prstGeom prst="rect">
            <a:avLst/>
          </a:prstGeom>
          <a:solidFill>
            <a:srgbClr val="D9DEE6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685800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사용자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59352" y="658368"/>
            <a:ext cx="132588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32504" y="685800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승인자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5285232" y="658368"/>
            <a:ext cx="685800" cy="347472"/>
          </a:xfrm>
          <a:prstGeom prst="rect">
            <a:avLst/>
          </a:prstGeom>
          <a:solidFill>
            <a:srgbClr val="D9DEE6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68580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상태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71032" y="658368"/>
            <a:ext cx="11887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44184" y="685800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Draft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159752" y="658368"/>
            <a:ext cx="685800" cy="347472"/>
          </a:xfrm>
          <a:prstGeom prst="rect">
            <a:avLst/>
          </a:prstGeom>
          <a:solidFill>
            <a:srgbClr val="D9DEE6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2904" y="685800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구분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845552" y="658368"/>
            <a:ext cx="96012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685800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Main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9162288" y="658368"/>
            <a:ext cx="2670048" cy="347472"/>
          </a:xfrm>
          <a:prstGeom prst="rect">
            <a:avLst/>
          </a:prstGeom>
          <a:solidFill>
            <a:srgbClr val="EAF1FF"/>
          </a:solidFill>
          <a:ln w="10160">
            <a:solidFill>
              <a:srgbClr val="BFD1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68580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F6FED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화면과 설명의 번호를 함께 대조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347472" y="1115568"/>
            <a:ext cx="8247888" cy="5230368"/>
          </a:xfrm>
          <a:prstGeom prst="rect">
            <a:avLst/>
          </a:prstGeom>
          <a:solidFill>
            <a:srgbClr val="FFFFFF"/>
          </a:solidFill>
          <a:ln w="10160">
            <a:solidFill>
              <a:srgbClr val="BFC7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1115568"/>
            <a:ext cx="8247888" cy="384048"/>
          </a:xfrm>
          <a:prstGeom prst="rect">
            <a:avLst/>
          </a:prstGeom>
          <a:solidFill>
            <a:srgbClr val="1D3C64"/>
          </a:solidFill>
          <a:ln w="6350">
            <a:solidFill>
              <a:srgbClr val="1D3C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1188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RoomFlow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64792" y="11887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9E4F4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조회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816352" y="1188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9E4F4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 예약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776472" y="1188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9E4F4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승인함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616952" y="118872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김사용자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347472" y="1499616"/>
            <a:ext cx="1234440" cy="4846320"/>
          </a:xfrm>
          <a:prstGeom prst="rect">
            <a:avLst/>
          </a:prstGeom>
          <a:solidFill>
            <a:srgbClr val="F5F7FA"/>
          </a:solidFill>
          <a:ln w="10160">
            <a:solidFill>
              <a:srgbClr val="E3E7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" y="18379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조회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557784" y="222199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등록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557784" y="26060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내 예약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438912" y="2944368"/>
            <a:ext cx="1024128" cy="292608"/>
          </a:xfrm>
          <a:prstGeom prst="roundRect">
            <a:avLst>
              <a:gd name="adj" fmla="val 25000"/>
            </a:avLst>
          </a:prstGeom>
          <a:solidFill>
            <a:srgbClr val="EAF1FF"/>
          </a:solidFill>
          <a:ln w="6350">
            <a:solidFill>
              <a:srgbClr val="EAF1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" y="299008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6FED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승인함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1856232" y="16824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승인함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856232" y="2103120"/>
            <a:ext cx="2468880" cy="388620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39112" y="2249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대기 중 3건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984248" y="2633472"/>
            <a:ext cx="2212848" cy="603504"/>
          </a:xfrm>
          <a:prstGeom prst="roundRect">
            <a:avLst>
              <a:gd name="adj" fmla="val 7576"/>
            </a:avLst>
          </a:prstGeom>
          <a:solidFill>
            <a:srgbClr val="EAF1FF"/>
          </a:solidFill>
          <a:ln w="10160">
            <a:solidFill>
              <a:srgbClr val="BED1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12264" y="270662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47A31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REQUESTED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112264" y="289864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프로젝트 킥오프</a:t>
            </a:r>
            <a:endParaRPr lang="en-US" sz="810" dirty="0"/>
          </a:p>
        </p:txBody>
      </p:sp>
      <p:sp>
        <p:nvSpPr>
          <p:cNvPr id="47" name="Text 45"/>
          <p:cNvSpPr/>
          <p:nvPr/>
        </p:nvSpPr>
        <p:spPr>
          <a:xfrm>
            <a:off x="3291840" y="289864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09-04 10:00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1984248" y="3383280"/>
            <a:ext cx="221284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12264" y="345643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47A31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REQUESTED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2112264" y="36484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디자인 리뷰</a:t>
            </a:r>
            <a:endParaRPr lang="en-US" sz="810" dirty="0"/>
          </a:p>
        </p:txBody>
      </p:sp>
      <p:sp>
        <p:nvSpPr>
          <p:cNvPr id="51" name="Text 49"/>
          <p:cNvSpPr/>
          <p:nvPr/>
        </p:nvSpPr>
        <p:spPr>
          <a:xfrm>
            <a:off x="3291840" y="364845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09-04 14:00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1984248" y="4133088"/>
            <a:ext cx="221284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12264" y="42062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F47A31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REQUESTED</a:t>
            </a:r>
            <a:endParaRPr lang="en-US" sz="680" dirty="0"/>
          </a:p>
        </p:txBody>
      </p:sp>
      <p:sp>
        <p:nvSpPr>
          <p:cNvPr id="54" name="Text 52"/>
          <p:cNvSpPr/>
          <p:nvPr/>
        </p:nvSpPr>
        <p:spPr>
          <a:xfrm>
            <a:off x="2112264" y="439826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운영 점검</a:t>
            </a:r>
            <a:endParaRPr lang="en-US" sz="810" dirty="0"/>
          </a:p>
        </p:txBody>
      </p:sp>
      <p:sp>
        <p:nvSpPr>
          <p:cNvPr id="55" name="Text 53"/>
          <p:cNvSpPr/>
          <p:nvPr/>
        </p:nvSpPr>
        <p:spPr>
          <a:xfrm>
            <a:off x="3291840" y="4398264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09-05 09:00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4123944" y="2542032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23944" y="255117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53712" y="2103120"/>
            <a:ext cx="3429000" cy="38862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82312" y="22677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프로젝트 킥오프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782312" y="26151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A-1201 · 09-04 10:00-11:30 · 12명</a:t>
            </a:r>
            <a:endParaRPr lang="en-US" sz="760" dirty="0"/>
          </a:p>
        </p:txBody>
      </p:sp>
      <p:sp>
        <p:nvSpPr>
          <p:cNvPr id="61" name="Text 59"/>
          <p:cNvSpPr/>
          <p:nvPr/>
        </p:nvSpPr>
        <p:spPr>
          <a:xfrm>
            <a:off x="4782312" y="30449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신청자</a:t>
            </a:r>
            <a:endParaRPr lang="en-US" sz="730" dirty="0"/>
          </a:p>
        </p:txBody>
      </p:sp>
      <p:sp>
        <p:nvSpPr>
          <p:cNvPr id="62" name="Text 60"/>
          <p:cNvSpPr/>
          <p:nvPr/>
        </p:nvSpPr>
        <p:spPr>
          <a:xfrm>
            <a:off x="5513832" y="30449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박신청</a:t>
            </a:r>
            <a:endParaRPr lang="en-US" sz="810" dirty="0"/>
          </a:p>
        </p:txBody>
      </p:sp>
      <p:sp>
        <p:nvSpPr>
          <p:cNvPr id="63" name="Text 61"/>
          <p:cNvSpPr/>
          <p:nvPr/>
        </p:nvSpPr>
        <p:spPr>
          <a:xfrm>
            <a:off x="4782312" y="34015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목적</a:t>
            </a:r>
            <a:endParaRPr lang="en-US" sz="730" dirty="0"/>
          </a:p>
        </p:txBody>
      </p:sp>
      <p:sp>
        <p:nvSpPr>
          <p:cNvPr id="64" name="Text 62"/>
          <p:cNvSpPr/>
          <p:nvPr/>
        </p:nvSpPr>
        <p:spPr>
          <a:xfrm>
            <a:off x="5513832" y="340156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프로젝트 착수 범위 합의</a:t>
            </a:r>
            <a:endParaRPr lang="en-US" sz="810" dirty="0"/>
          </a:p>
        </p:txBody>
      </p:sp>
      <p:sp>
        <p:nvSpPr>
          <p:cNvPr id="65" name="Shape 63"/>
          <p:cNvSpPr/>
          <p:nvPr/>
        </p:nvSpPr>
        <p:spPr>
          <a:xfrm>
            <a:off x="4782312" y="3977640"/>
            <a:ext cx="2834640" cy="621792"/>
          </a:xfrm>
          <a:prstGeom prst="roundRect">
            <a:avLst>
              <a:gd name="adj" fmla="val 5882"/>
            </a:avLst>
          </a:prstGeom>
          <a:solidFill>
            <a:srgbClr val="FFF8D9"/>
          </a:solidFill>
          <a:ln w="10160">
            <a:solidFill>
              <a:srgbClr val="E9D08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92624" y="40965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8B6900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반려 사유를 입력하지 않으면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8B6900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반려 버튼을 실행할 수 없습니다.</a:t>
            </a:r>
            <a:endParaRPr lang="en-US" sz="810" dirty="0"/>
          </a:p>
        </p:txBody>
      </p:sp>
      <p:sp>
        <p:nvSpPr>
          <p:cNvPr id="67" name="Shape 65"/>
          <p:cNvSpPr/>
          <p:nvPr/>
        </p:nvSpPr>
        <p:spPr>
          <a:xfrm>
            <a:off x="7452360" y="3931920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52360" y="394106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2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782312" y="480060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C8453C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반려 사유 *</a:t>
            </a:r>
            <a:endParaRPr lang="en-US" sz="760" dirty="0"/>
          </a:p>
        </p:txBody>
      </p:sp>
      <p:sp>
        <p:nvSpPr>
          <p:cNvPr id="70" name="Shape 68"/>
          <p:cNvSpPr/>
          <p:nvPr/>
        </p:nvSpPr>
        <p:spPr>
          <a:xfrm>
            <a:off x="4782312" y="5020056"/>
            <a:ext cx="28346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73752" y="5074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7452360" y="4754880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52360" y="476402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3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016752" y="5504688"/>
            <a:ext cx="731520" cy="329184"/>
          </a:xfrm>
          <a:prstGeom prst="roundRect">
            <a:avLst>
              <a:gd name="adj" fmla="val 16667"/>
            </a:avLst>
          </a:prstGeom>
          <a:solidFill>
            <a:srgbClr val="FBECEB"/>
          </a:solidFill>
          <a:ln w="10160">
            <a:solidFill>
              <a:srgbClr val="E5AAA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16752" y="55595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C8453C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반려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6867144" y="5504688"/>
            <a:ext cx="749808" cy="329184"/>
          </a:xfrm>
          <a:prstGeom prst="roundRect">
            <a:avLst>
              <a:gd name="adj" fmla="val 16667"/>
            </a:avLst>
          </a:prstGeom>
          <a:solidFill>
            <a:srgbClr val="2F6FED"/>
          </a:solidFill>
          <a:ln w="6350">
            <a:solidFill>
              <a:srgbClr val="2F6F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67144" y="555955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승인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7543800" y="544982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543800" y="54589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4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084832" y="6199632"/>
            <a:ext cx="5669280" cy="384048"/>
          </a:xfrm>
          <a:prstGeom prst="roundRect">
            <a:avLst>
              <a:gd name="adj" fmla="val 9524"/>
            </a:avLst>
          </a:prstGeom>
          <a:solidFill>
            <a:srgbClr val="E6F6F5"/>
          </a:solidFill>
          <a:ln w="10160">
            <a:solidFill>
              <a:srgbClr val="AFDCD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295144" y="6281928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8B8D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처리 완료된 요청은 목록에서 사라지며 동일 요청을 다시 처리할 수 없습니다.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7635240" y="6245352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635240" y="625449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5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8796528" y="1115568"/>
            <a:ext cx="3035808" cy="5230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796528" y="1115568"/>
            <a:ext cx="3035808" cy="420624"/>
          </a:xfrm>
          <a:prstGeom prst="rect">
            <a:avLst/>
          </a:prstGeom>
          <a:solidFill>
            <a:srgbClr val="D9DEE6"/>
          </a:solidFill>
          <a:ln w="10160">
            <a:solidFill>
              <a:srgbClr val="C3CAD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942832" y="1188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FUNCTION / VALIDATION</a:t>
            </a:r>
            <a:endParaRPr lang="en-US" sz="980" dirty="0"/>
          </a:p>
        </p:txBody>
      </p:sp>
      <p:sp>
        <p:nvSpPr>
          <p:cNvPr id="87" name="Shape 85"/>
          <p:cNvSpPr/>
          <p:nvPr/>
        </p:nvSpPr>
        <p:spPr>
          <a:xfrm>
            <a:off x="8942832" y="170078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942832" y="170992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1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9308592" y="168249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REQUESTED 상태의 예약만 승인함에 표시한다.</a:t>
            </a:r>
            <a:endParaRPr lang="en-US" sz="940" dirty="0"/>
          </a:p>
        </p:txBody>
      </p:sp>
      <p:sp>
        <p:nvSpPr>
          <p:cNvPr id="90" name="Shape 88"/>
          <p:cNvSpPr/>
          <p:nvPr/>
        </p:nvSpPr>
        <p:spPr>
          <a:xfrm>
            <a:off x="8942832" y="2404872"/>
            <a:ext cx="2743200" cy="0"/>
          </a:xfrm>
          <a:prstGeom prst="line">
            <a:avLst/>
          </a:prstGeom>
          <a:noFill/>
          <a:ln w="7620">
            <a:solidFill>
              <a:srgbClr val="E5E9E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942832" y="256946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942832" y="257860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2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9308592" y="255117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승인 시 상태를 APPROVED로 변경하고 처리자를 기록한다.</a:t>
            </a:r>
            <a:endParaRPr lang="en-US" sz="940" dirty="0"/>
          </a:p>
        </p:txBody>
      </p:sp>
      <p:sp>
        <p:nvSpPr>
          <p:cNvPr id="94" name="Shape 92"/>
          <p:cNvSpPr/>
          <p:nvPr/>
        </p:nvSpPr>
        <p:spPr>
          <a:xfrm>
            <a:off x="8942832" y="3273552"/>
            <a:ext cx="2743200" cy="0"/>
          </a:xfrm>
          <a:prstGeom prst="line">
            <a:avLst/>
          </a:prstGeom>
          <a:noFill/>
          <a:ln w="7620">
            <a:solidFill>
              <a:srgbClr val="E5E9E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942832" y="343814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942832" y="344728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3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9308592" y="341985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반려 시 반려 사유를 필수로 입력한다.</a:t>
            </a:r>
            <a:endParaRPr lang="en-US" sz="940" dirty="0"/>
          </a:p>
        </p:txBody>
      </p:sp>
      <p:sp>
        <p:nvSpPr>
          <p:cNvPr id="98" name="Shape 96"/>
          <p:cNvSpPr/>
          <p:nvPr/>
        </p:nvSpPr>
        <p:spPr>
          <a:xfrm>
            <a:off x="8942832" y="4142232"/>
            <a:ext cx="2743200" cy="0"/>
          </a:xfrm>
          <a:prstGeom prst="line">
            <a:avLst/>
          </a:prstGeom>
          <a:noFill/>
          <a:ln w="7620">
            <a:solidFill>
              <a:srgbClr val="E5E9E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942832" y="430682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942832" y="43159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4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9308592" y="428853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이미 처리된 요청은 다시 승인하거나 반려할 수 없다.</a:t>
            </a:r>
            <a:endParaRPr lang="en-US" sz="940" dirty="0"/>
          </a:p>
        </p:txBody>
      </p:sp>
      <p:sp>
        <p:nvSpPr>
          <p:cNvPr id="102" name="Shape 100"/>
          <p:cNvSpPr/>
          <p:nvPr/>
        </p:nvSpPr>
        <p:spPr>
          <a:xfrm>
            <a:off x="8942832" y="5010912"/>
            <a:ext cx="2743200" cy="0"/>
          </a:xfrm>
          <a:prstGeom prst="line">
            <a:avLst/>
          </a:prstGeom>
          <a:noFill/>
          <a:ln w="7620">
            <a:solidFill>
              <a:srgbClr val="E5E9E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942832" y="5175504"/>
            <a:ext cx="256032" cy="256032"/>
          </a:xfrm>
          <a:prstGeom prst="ellipse">
            <a:avLst/>
          </a:prstGeom>
          <a:solidFill>
            <a:srgbClr val="F47A3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942832" y="518464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5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9308592" y="5157216"/>
            <a:ext cx="23774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관리자의 대리 승인 가능 여부는 검토 중이다.</a:t>
            </a:r>
            <a:endParaRPr lang="en-US" sz="9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42B4A"/>
          </a:solidFill>
          <a:ln w="6350">
            <a:solidFill>
              <a:srgbClr val="14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548640"/>
          </a:xfrm>
          <a:prstGeom prst="rect">
            <a:avLst/>
          </a:prstGeom>
          <a:solidFill>
            <a:srgbClr val="F47A31"/>
          </a:solidFill>
          <a:ln w="6350">
            <a:solidFill>
              <a:srgbClr val="F47A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731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ROOMFLOW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600200" y="6400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화면 상태와 사용자 메시지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0" y="1005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CE7F7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UI DESIGN SPEC · v0.8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6547104"/>
            <a:ext cx="11548872" cy="0"/>
          </a:xfrm>
          <a:prstGeom prst="line">
            <a:avLst/>
          </a:prstGeom>
          <a:noFill/>
          <a:ln w="7620">
            <a:solidFill>
              <a:srgbClr val="D6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8368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Office → SPEC 실습용 가상 화면설계서 · Draft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583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07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8229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정상 화면만으로는 구현 계약이 완성되지 않는다.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1325880"/>
            <a:ext cx="532180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1325880"/>
            <a:ext cx="1078992" cy="1874520"/>
          </a:xfrm>
          <a:prstGeom prst="roundRect">
            <a:avLst>
              <a:gd name="adj" fmla="val 6780"/>
            </a:avLst>
          </a:prstGeom>
          <a:solidFill>
            <a:srgbClr val="EAF1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18013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FED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•••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92224" y="16459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Loading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92224" y="20756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예약을 불러오는 중입니다.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92224" y="2569464"/>
            <a:ext cx="3364992" cy="32004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0160">
            <a:solidFill>
              <a:srgbClr val="E1E5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47672" y="262432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중복 클릭 방지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6062472" y="1325880"/>
            <a:ext cx="532180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62472" y="1325880"/>
            <a:ext cx="1078992" cy="1874520"/>
          </a:xfrm>
          <a:prstGeom prst="roundRect">
            <a:avLst>
              <a:gd name="adj" fmla="val 6780"/>
            </a:avLst>
          </a:prstGeom>
          <a:solidFill>
            <a:srgbClr val="EAF1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7064" y="18013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6FED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415784" y="16459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Empty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15784" y="20756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조건에 맞는 예약이 없습니다.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15784" y="2569464"/>
            <a:ext cx="3364992" cy="32004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0160">
            <a:solidFill>
              <a:srgbClr val="E1E5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71232" y="262432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조건 초기화 제공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438912" y="3566160"/>
            <a:ext cx="532180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3566160"/>
            <a:ext cx="1078992" cy="1874520"/>
          </a:xfrm>
          <a:prstGeom prst="roundRect">
            <a:avLst>
              <a:gd name="adj" fmla="val 6780"/>
            </a:avLst>
          </a:prstGeom>
          <a:solidFill>
            <a:srgbClr val="FFF8D9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" y="404164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A700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!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792224" y="3886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92224" y="43159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종료 시각을 확인해주세요.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92224" y="4809744"/>
            <a:ext cx="3364992" cy="32004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0160">
            <a:solidFill>
              <a:srgbClr val="E1E5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47672" y="486460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입력 위치 강조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6062472" y="3566160"/>
            <a:ext cx="532180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62472" y="3566160"/>
            <a:ext cx="1078992" cy="1874520"/>
          </a:xfrm>
          <a:prstGeom prst="roundRect">
            <a:avLst>
              <a:gd name="adj" fmla="val 6780"/>
            </a:avLst>
          </a:prstGeom>
          <a:solidFill>
            <a:srgbClr val="FBECEB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404164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453C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×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7415784" y="3886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Error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15784" y="43159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요청을 처리하지 못했습니다.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15784" y="4809744"/>
            <a:ext cx="3364992" cy="32004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 w="10160">
            <a:solidFill>
              <a:srgbClr val="E1E5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1232" y="486460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입력값 유지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438912" y="5897880"/>
            <a:ext cx="11109960" cy="411480"/>
          </a:xfrm>
          <a:prstGeom prst="roundRect">
            <a:avLst>
              <a:gd name="adj" fmla="val 11111"/>
            </a:avLst>
          </a:prstGeom>
          <a:solidFill>
            <a:srgbClr val="142B4A"/>
          </a:solidFill>
          <a:ln w="6350">
            <a:solidFill>
              <a:srgbClr val="142B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597103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오류 시 폼 입력값은 유지한다 · 메시지 코드는 Excel에서 대조한다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42B4A"/>
          </a:solidFill>
          <a:ln w="6350">
            <a:solidFill>
              <a:srgbClr val="14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548640"/>
          </a:xfrm>
          <a:prstGeom prst="rect">
            <a:avLst/>
          </a:prstGeom>
          <a:solidFill>
            <a:srgbClr val="F47A31"/>
          </a:solidFill>
          <a:ln w="6350">
            <a:solidFill>
              <a:srgbClr val="F47A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" y="731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ROOMFLOW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600200" y="6400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검토가 필요한 설계 항목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0" y="1005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CE7F7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UI DESIGN SPEC · v0.8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6547104"/>
            <a:ext cx="11548872" cy="0"/>
          </a:xfrm>
          <a:prstGeom prst="line">
            <a:avLst/>
          </a:prstGeom>
          <a:noFill/>
          <a:ln w="7620">
            <a:solidFill>
              <a:srgbClr val="D6DC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58368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Office → SPEC 실습용 가상 화면설계서 · Draft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201400" y="65836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42B4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08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아래 항목은 구현 요구사항이 아니라 결정이 필요한 증거다.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1261872"/>
            <a:ext cx="1325880" cy="457200"/>
          </a:xfrm>
          <a:prstGeom prst="rect">
            <a:avLst/>
          </a:prstGeom>
          <a:solidFill>
            <a:srgbClr val="1D3C64"/>
          </a:solidFill>
          <a:ln w="6350">
            <a:solidFill>
              <a:srgbClr val="1D3C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6245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분류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64792" y="1261872"/>
            <a:ext cx="2148840" cy="457200"/>
          </a:xfrm>
          <a:prstGeom prst="rect">
            <a:avLst/>
          </a:prstGeom>
          <a:solidFill>
            <a:srgbClr val="1D3C64"/>
          </a:solidFill>
          <a:ln w="6350">
            <a:solidFill>
              <a:srgbClr val="1D3C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64792" y="136245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주제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13632" y="1261872"/>
            <a:ext cx="7452360" cy="457200"/>
          </a:xfrm>
          <a:prstGeom prst="rect">
            <a:avLst/>
          </a:prstGeom>
          <a:solidFill>
            <a:srgbClr val="1D3C64"/>
          </a:solidFill>
          <a:ln w="6350">
            <a:solidFill>
              <a:srgbClr val="1D3C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13632" y="1362456"/>
            <a:ext cx="7452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원본에서 확인할 내용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" y="1719072"/>
            <a:ext cx="1325880" cy="786384"/>
          </a:xfrm>
          <a:prstGeom prst="rect">
            <a:avLst/>
          </a:prstGeom>
          <a:solidFill>
            <a:srgbClr val="FFF0E7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883664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7A31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CONFLICT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764792" y="1719072"/>
            <a:ext cx="214884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92808" y="1883664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기본 조회 기간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13632" y="1719072"/>
            <a:ext cx="745236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1648" y="1883664"/>
            <a:ext cx="7196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PPT 7일 · Excel 값 확인 필요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38912" y="2505456"/>
            <a:ext cx="1325880" cy="786384"/>
          </a:xfrm>
          <a:prstGeom prst="rect">
            <a:avLst/>
          </a:prstGeom>
          <a:solidFill>
            <a:srgbClr val="FFF0E7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670048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7A31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CONFLICT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64792" y="2505456"/>
            <a:ext cx="2148840" cy="786384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92808" y="2670048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취소 가능 시점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913632" y="2505456"/>
            <a:ext cx="7452360" cy="786384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41648" y="2670048"/>
            <a:ext cx="7196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PPT 2시간 전(제안) · Excel 값 확인 필요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" y="3291840"/>
            <a:ext cx="1325880" cy="786384"/>
          </a:xfrm>
          <a:prstGeom prst="rect">
            <a:avLst/>
          </a:prstGeom>
          <a:solidFill>
            <a:srgbClr val="FFF0E7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456432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7A31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CONFLICT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764792" y="3291840"/>
            <a:ext cx="214884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92808" y="3456432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예약 목적 필수 여부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913632" y="3291840"/>
            <a:ext cx="745236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41648" y="3456432"/>
            <a:ext cx="7196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화면 필수 표시 · Excel 필드 정의 확인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8912" y="4078224"/>
            <a:ext cx="1325880" cy="786384"/>
          </a:xfrm>
          <a:prstGeom prst="rect">
            <a:avLst/>
          </a:prstGeom>
          <a:solidFill>
            <a:srgbClr val="FFF8D9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242816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67100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AMBIGUOUS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64792" y="4078224"/>
            <a:ext cx="2148840" cy="786384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92808" y="4242816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조회 성능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13632" y="4078224"/>
            <a:ext cx="7452360" cy="786384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41648" y="4242816"/>
            <a:ext cx="7196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'빠르게'를 측정 가능한 수치로 합의해야 함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8912" y="4864608"/>
            <a:ext cx="1325880" cy="786384"/>
          </a:xfrm>
          <a:prstGeom prst="rect">
            <a:avLst/>
          </a:prstGeom>
          <a:solidFill>
            <a:srgbClr val="F5F7FA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5029200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27086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OUT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764792" y="4864608"/>
            <a:ext cx="214884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92808" y="5029200"/>
            <a:ext cx="1892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반복 예약·출입 QR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3632" y="4864608"/>
            <a:ext cx="7452360" cy="786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6DC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41648" y="5029200"/>
            <a:ext cx="7196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02A3A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MVP 제외, 후속 단계에서 검토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38912" y="5897880"/>
            <a:ext cx="11109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A31"/>
                </a:solidFill>
                <a:latin typeface="에스코어 드림 4 Regular" pitchFamily="34" charset="0"/>
                <a:ea typeface="에스코어 드림 4 Regular" pitchFamily="34" charset="-122"/>
                <a:cs typeface="에스코어 드림 4 Regular" pitchFamily="34" charset="-120"/>
              </a:rPr>
              <a:t>원본 간 충돌을 조용히 해결하지 말고 OPEN 질문으로 남긴다.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에스코어 드림 4 Regula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에스코어 드림 4 Regula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Synthetic Workshop Material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RoomFlow 화면설계서</dc:title>
  <dc:subject>UI screen definition for Office to SPEC practice</dc:subject>
  <dc:creator>Agent AI Workshop</dc:creator>
  <cp:lastModifiedBy>Agent AI Workshop</cp:lastModifiedBy>
  <cp:revision>1</cp:revision>
  <dcterms:created xsi:type="dcterms:W3CDTF">2026-08-26T00:33:12Z</dcterms:created>
  <dcterms:modified xsi:type="dcterms:W3CDTF">2026-08-26T00:33:12Z</dcterms:modified>
</cp:coreProperties>
</file>